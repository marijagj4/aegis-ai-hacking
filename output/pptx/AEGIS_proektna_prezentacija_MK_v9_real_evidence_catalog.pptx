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9275d0e1184b69" /><Relationship Type="http://schemas.openxmlformats.org/officeDocument/2006/relationships/extended-properties" Target="/docProps/app.xml" Id="R51036dbbeebe4d5e" /><Relationship Type="http://schemas.openxmlformats.org/officeDocument/2006/relationships/officeDocument" Target="/ppt/presentation.xml" Id="R739cafe5bd804c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690576b5bd4b1f"/>
  </p:sldMasterIdLst>
  <p:notesMasterIdLst>
    <p:notesMasterId xmlns:r="http://schemas.openxmlformats.org/officeDocument/2006/relationships" r:id="R7dfffe2f4bb14aa2"/>
  </p:notesMasterIdLst>
  <p:sldIdLst>
    <p:sldId xmlns:r="http://schemas.openxmlformats.org/officeDocument/2006/relationships" id="256" r:id="Rb7f6034fd93d41ef"/>
    <p:sldId xmlns:r="http://schemas.openxmlformats.org/officeDocument/2006/relationships" id="257" r:id="R3803cd4158f3463a"/>
    <p:sldId xmlns:r="http://schemas.openxmlformats.org/officeDocument/2006/relationships" id="258" r:id="R69289041543a4871"/>
    <p:sldId xmlns:r="http://schemas.openxmlformats.org/officeDocument/2006/relationships" id="259" r:id="Rccbae9f0ed9a41b5"/>
    <p:sldId xmlns:r="http://schemas.openxmlformats.org/officeDocument/2006/relationships" id="260" r:id="Rcdb6721d815b45f9"/>
    <p:sldId xmlns:r="http://schemas.openxmlformats.org/officeDocument/2006/relationships" id="261" r:id="Rebd0f169bcaa4ee1"/>
    <p:sldId xmlns:r="http://schemas.openxmlformats.org/officeDocument/2006/relationships" id="262" r:id="R21dfbac461134e52"/>
    <p:sldId xmlns:r="http://schemas.openxmlformats.org/officeDocument/2006/relationships" id="263" r:id="Rdbf1c217ab404139"/>
    <p:sldId xmlns:r="http://schemas.openxmlformats.org/officeDocument/2006/relationships" id="264" r:id="R2f1d72532c054fc4"/>
    <p:sldId xmlns:r="http://schemas.openxmlformats.org/officeDocument/2006/relationships" id="265" r:id="R71e7dd8725554dc2"/>
    <p:sldId xmlns:r="http://schemas.openxmlformats.org/officeDocument/2006/relationships" id="266" r:id="R743b333cb2384e05"/>
    <p:sldId xmlns:r="http://schemas.openxmlformats.org/officeDocument/2006/relationships" id="267" r:id="R42e4ffd66ecd44eb"/>
    <p:sldId xmlns:r="http://schemas.openxmlformats.org/officeDocument/2006/relationships" id="268" r:id="Rcb6aee4f55674c86"/>
    <p:sldId xmlns:r="http://schemas.openxmlformats.org/officeDocument/2006/relationships" id="269" r:id="R78dfabdd9f234a38"/>
    <p:sldId xmlns:r="http://schemas.openxmlformats.org/officeDocument/2006/relationships" id="270" r:id="Rcf8eb8fdfbfe4867"/>
    <p:sldId xmlns:r="http://schemas.openxmlformats.org/officeDocument/2006/relationships" id="271" r:id="R1287db4934764ccd"/>
    <p:sldId xmlns:r="http://schemas.openxmlformats.org/officeDocument/2006/relationships" id="272" r:id="R3aab2c19ffbe4f15"/>
    <p:sldId xmlns:r="http://schemas.openxmlformats.org/officeDocument/2006/relationships" id="273" r:id="Rd42f70c10b954d7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71527bb84ce43e3" /><Relationship Type="http://schemas.openxmlformats.org/officeDocument/2006/relationships/slideMaster" Target="/ppt/slideMasters/slideMaster1.xml" Id="Rbe690576b5bd4b1f" /><Relationship Type="http://schemas.openxmlformats.org/officeDocument/2006/relationships/notesMaster" Target="/ppt/notesMasters/notesMaster1.xml" Id="R7dfffe2f4bb14aa2" /><Relationship Type="http://schemas.openxmlformats.org/officeDocument/2006/relationships/presProps" Target="/ppt/presProps.xml" Id="R8f9305f2019f42cf" /><Relationship Type="http://schemas.openxmlformats.org/officeDocument/2006/relationships/tableStyles" Target="/ppt/tableStyles.xml" Id="R842b7becaad34a17" /><Relationship Type="http://schemas.openxmlformats.org/officeDocument/2006/relationships/slide" Target="/ppt/slides/slide1.xml" Id="Rb7f6034fd93d41ef" /><Relationship Type="http://schemas.openxmlformats.org/officeDocument/2006/relationships/slide" Target="/ppt/slides/slide2.xml" Id="R3803cd4158f3463a" /><Relationship Type="http://schemas.openxmlformats.org/officeDocument/2006/relationships/slide" Target="/ppt/slides/slide3.xml" Id="R69289041543a4871" /><Relationship Type="http://schemas.openxmlformats.org/officeDocument/2006/relationships/slide" Target="/ppt/slides/slide4.xml" Id="Rccbae9f0ed9a41b5" /><Relationship Type="http://schemas.openxmlformats.org/officeDocument/2006/relationships/slide" Target="/ppt/slides/slide5.xml" Id="Rcdb6721d815b45f9" /><Relationship Type="http://schemas.openxmlformats.org/officeDocument/2006/relationships/slide" Target="/ppt/slides/slide6.xml" Id="Rebd0f169bcaa4ee1" /><Relationship Type="http://schemas.openxmlformats.org/officeDocument/2006/relationships/slide" Target="/ppt/slides/slide7.xml" Id="R21dfbac461134e52" /><Relationship Type="http://schemas.openxmlformats.org/officeDocument/2006/relationships/slide" Target="/ppt/slides/slide8.xml" Id="Rdbf1c217ab404139" /><Relationship Type="http://schemas.openxmlformats.org/officeDocument/2006/relationships/slide" Target="/ppt/slides/slide9.xml" Id="R2f1d72532c054fc4" /><Relationship Type="http://schemas.openxmlformats.org/officeDocument/2006/relationships/slide" Target="/ppt/slides/slide10.xml" Id="R71e7dd8725554dc2" /><Relationship Type="http://schemas.openxmlformats.org/officeDocument/2006/relationships/slide" Target="/ppt/slides/slide11.xml" Id="R743b333cb2384e05" /><Relationship Type="http://schemas.openxmlformats.org/officeDocument/2006/relationships/slide" Target="/ppt/slides/slide12.xml" Id="R42e4ffd66ecd44eb" /><Relationship Type="http://schemas.openxmlformats.org/officeDocument/2006/relationships/slide" Target="/ppt/slides/slide13.xml" Id="Rcb6aee4f55674c86" /><Relationship Type="http://schemas.openxmlformats.org/officeDocument/2006/relationships/slide" Target="/ppt/slides/slide14.xml" Id="R78dfabdd9f234a38" /><Relationship Type="http://schemas.openxmlformats.org/officeDocument/2006/relationships/slide" Target="/ppt/slides/slide15.xml" Id="Rcf8eb8fdfbfe4867" /><Relationship Type="http://schemas.openxmlformats.org/officeDocument/2006/relationships/slide" Target="/ppt/slides/slide16.xml" Id="R1287db4934764ccd" /><Relationship Type="http://schemas.openxmlformats.org/officeDocument/2006/relationships/slide" Target="/ppt/slides/slide17.xml" Id="R3aab2c19ffbe4f15" /><Relationship Type="http://schemas.openxmlformats.org/officeDocument/2006/relationships/slide" Target="/ppt/slides/slide18.xml" Id="Rd42f70c10b954d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e9351efff1243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78b1fd22624396" /><Relationship Type="http://schemas.openxmlformats.org/officeDocument/2006/relationships/notesMaster" Target="/ppt/notesMasters/notesMaster1.xml" Id="R3bd59f1d67fa4a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fb43edbeb44ced" /><Relationship Type="http://schemas.openxmlformats.org/officeDocument/2006/relationships/notesMaster" Target="/ppt/notesMasters/notesMaster1.xml" Id="R685dae839d87421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edbde6b02a9459d" /><Relationship Type="http://schemas.openxmlformats.org/officeDocument/2006/relationships/notesMaster" Target="/ppt/notesMasters/notesMaster1.xml" Id="Rdcc135d8f7d0475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8127a83af4b43c2" /><Relationship Type="http://schemas.openxmlformats.org/officeDocument/2006/relationships/notesMaster" Target="/ppt/notesMasters/notesMaster1.xml" Id="R1ecc034e07284bf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c68d301aba343b1" /><Relationship Type="http://schemas.openxmlformats.org/officeDocument/2006/relationships/notesMaster" Target="/ppt/notesMasters/notesMaster1.xml" Id="Rf9405414979440e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353d3fe3e9c41de" /><Relationship Type="http://schemas.openxmlformats.org/officeDocument/2006/relationships/notesMaster" Target="/ppt/notesMasters/notesMaster1.xml" Id="Rf790226b41204d0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090b8a9882c459d" /><Relationship Type="http://schemas.openxmlformats.org/officeDocument/2006/relationships/notesMaster" Target="/ppt/notesMasters/notesMaster1.xml" Id="R3c304de435234cc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45fc26944104da2" /><Relationship Type="http://schemas.openxmlformats.org/officeDocument/2006/relationships/notesMaster" Target="/ppt/notesMasters/notesMaster1.xml" Id="R622941d0005c481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09d3ba9124b4406" /><Relationship Type="http://schemas.openxmlformats.org/officeDocument/2006/relationships/notesMaster" Target="/ppt/notesMasters/notesMaster1.xml" Id="R164e5cd7142a4ca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f50ce0767c240a6" /><Relationship Type="http://schemas.openxmlformats.org/officeDocument/2006/relationships/notesMaster" Target="/ppt/notesMasters/notesMaster1.xml" Id="R4145a0891e4f41d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ad17cac60364e0e" /><Relationship Type="http://schemas.openxmlformats.org/officeDocument/2006/relationships/notesMaster" Target="/ppt/notesMasters/notesMaster1.xml" Id="Rf35c3bf2d8b34a0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1feb2be509a42e1" /><Relationship Type="http://schemas.openxmlformats.org/officeDocument/2006/relationships/notesMaster" Target="/ppt/notesMasters/notesMaster1.xml" Id="R99cb5686be21409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8feb662cfca4c59" /><Relationship Type="http://schemas.openxmlformats.org/officeDocument/2006/relationships/notesMaster" Target="/ppt/notesMasters/notesMaster1.xml" Id="R23bb4d28b18243f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0e8eed643064c5b" /><Relationship Type="http://schemas.openxmlformats.org/officeDocument/2006/relationships/notesMaster" Target="/ppt/notesMasters/notesMaster1.xml" Id="R511bd581fcb34b0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2b36752e6f54cfc" /><Relationship Type="http://schemas.openxmlformats.org/officeDocument/2006/relationships/notesMaster" Target="/ppt/notesMasters/notesMaster1.xml" Id="Rb8cd5b86f5bb479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d6436c8c9d64fc5" /><Relationship Type="http://schemas.openxmlformats.org/officeDocument/2006/relationships/notesMaster" Target="/ppt/notesMasters/notesMaster1.xml" Id="Rdecc1ea669c7442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cfeb29b35374b72" /><Relationship Type="http://schemas.openxmlformats.org/officeDocument/2006/relationships/notesMaster" Target="/ppt/notesMasters/notesMaster1.xml" Id="R520dc87922524ba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f88d6d5d785463c" /><Relationship Type="http://schemas.openxmlformats.org/officeDocument/2006/relationships/notesMaster" Target="/ppt/notesMasters/notesMaster1.xml" Id="R228dffbeaa3249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 овој слајд го претставувам AEGIS како локална, контролирана Purple-Team платформа. Главната идеја е да го спојам реалното скенирање со Nmap и проверката на сервисот со локални јазични модели, но моделот никогаш сам не прогласува ранливост.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Воведот треба да ја постави разликата меѓу откривање и докажување. Nmap може да каже дека сервисот слуша на порта, но AEGIS користи специјализиран верификатор: за Redis проверува дали бара автентикација, а за веб сервисот само потврдува дека сервисот одговара.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Овој слајд ја користи аналогијата со куќа. Red Team гледа дали портата е отворена и дали Redis прифаќа PING без клуч. Blue Team применува политика, ја блокира ексфилтрацијата и додава requirepass. Purple Team ја споредува состојбата OPEN со состојбата после закрпата и бара FIXED.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Архитектурата е поделена во слоеви. FastAPI не се поврзува директно со произволен интернет домаќин. Target registry прво открива Docker лаборатории со AEGIS labels, а корисникот мора рачно да одобри една. Дури потоа се повикуваат Nmap и верификаторот.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Ова е првиот вистински чекор во интерфејсот. Discover не скенира мрежа, туку ги бара активните Docker контејнери со AEGIS labels. Тие почнуваат како PENDING. Корисникот мора да избере и да одобри. Без тоа, Policy и Ethical Scope Guard го стопираат assessment-от пред Nmap.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Web и Redis се две различни лаборатории. Web сервисот е за service discovery и намерно нема verified finding. Redis е сценариото со наод: прво OPEN кога PING поминува без лозинка, а потоа FIXED кога PING враќа NOAUTH. Ако target не е approved, резултатот е BLOCKED пред алатките.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Моделот за Nmap triage не одлучува дали постои ранливост. Тој само го класифицира сервисот и дава контекст. Semantic Prompt Guard е посилен локален модел кој ги проверува prompt-ите. Финалната анализа може да користи друг модел, но препораката секогаш доаѓа после детерминистичкиот verifier.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Каталогот е посебен чекор помеѓу Report и Retest. Тој не стартува exploit, туку само овозможува listing и controlled match за верификуван OPEN finding. После тоа операторот внесува закрпа, а Retest ја проверува состојбата повторно.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Пред демонстрацијата се нагласува дека околината е лабораторија, а не production мрежа. Docker Compose ги подига двата сервиси. Target registry не чита произволни адреси, туку бара локални Docker labels и 127.0.0.1 port binding.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Во првото Redis сценарио target registry го открива redis-lab и корисникот го одобрува. Nmap гледа дека портата е отворена, но RedisAccessVerifier прави вистинска проверка: PING враќа +PONG и Redis прифаќа команда без authentication. Тоа е моментот кога системот создава проверен OPEN наод.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После remediation во compose е додаден Redis requirepass. Retest повторно го повикува Nmap и Redis verifier. Port 6380 останува open, но директниот PING без лозинка враќа -NOAUTH. Затоа AEGIS ја означува состојбата како FIXED, а не затоа што портата исчезнала.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Ова сценарио покажува важна граница. Отворената веб порта и HTTP одговорот се service discovery, не доказ за exploitability. AEGIS го задржува NO_FINDING за да избегне претерано тврдење.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 овој слајд покажувам дека multi-model не значи дека моделите се случајно сменети. Секој има улога. Во UI може да се постави модел за Nmap triage и друг за финална анализа. Semantic guard останува посебен и fail-closed. OpenRouter е подготвен како опционален provider, но локалниот режим е основниот демонстрациски режим.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Овде ја покажувам разликата меѓу Policy/Ethical Scope Guard и Semantic Prompt Guard. Првиот контролира каде смее да се работи, вториот контролира што смее да стигне до LLM. Ако target не е одобрен, Nmap воопшто не се повикува. Ако prompt се обидува да ги заобиколи правилата, моделот не добива input.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Ова е намерно ограничен дел. Кодот го поддржува listing и match, но AEGIS не извршува Metasploit exploit. Тоа е коректно за етичка лабораторија. Во моменталната конфигурација native Ruby делот може да биде блокиран од Windows Security, па не треба да тврдиме дека имаме демонстриран exploit.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Извештајот е Markdown и се зачувува во reports директориумот. Audit trail е append-only JSONL на апликациско ниво. Тоа е доволно за лабораториска демонстрација и за да се види кој агент што направил, но не го нарекувам криптографски immutable систем.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Овој слајд е корисен ако професорот праша што точно е завршено. Не тврдам дека има активен exploit. Има локален Nmap, агенти, verifier, multi-model, reports и retest. Metasploit делот е listing/match со execution disabled, а OpenRouter е само опционален provider.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 крајот го поврзувам целиот проект со кратка демонстрација: прво web NO_FINDING, потоа Redis OPEN, рачна закрпа, Redis FIXED retest, а на крај prompt и transfer BLOCK. Така професорот гледа и реален алат, и LLM, и заштитни механизми.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5ded4feff54a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cd007dfd88b43d5" /><Relationship Type="http://schemas.openxmlformats.org/officeDocument/2006/relationships/slideLayout" Target="/ppt/slideLayouts/slideLayout1.xml" Id="R2e12965cb4b243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12965cb4b243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f97ca9b4aa484d" /><Relationship Type="http://schemas.openxmlformats.org/officeDocument/2006/relationships/image" Target="/ppt/media/image.png" Id="Rfca416fb916b4e8d" /><Relationship Type="http://schemas.openxmlformats.org/officeDocument/2006/relationships/notesSlide" Target="/ppt/notesSlides/notesSlide1.xml" Id="Ra4424200bedf4ba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0fb5f62a974591" /><Relationship Type="http://schemas.openxmlformats.org/officeDocument/2006/relationships/notesSlide" Target="/ppt/notesSlides/notesSlide2.xml" Id="Rbdd9780a62ce46b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a4b7b2a20c4cbb" /><Relationship Type="http://schemas.openxmlformats.org/officeDocument/2006/relationships/notesSlide" Target="/ppt/notesSlides/notesSlide3.xml" Id="Rcd32142529164f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35a325b8224b91" /><Relationship Type="http://schemas.openxmlformats.org/officeDocument/2006/relationships/notesSlide" Target="/ppt/notesSlides/notesSlide4.xml" Id="R1e18f8f975664e8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b158b4798f48e1" /><Relationship Type="http://schemas.openxmlformats.org/officeDocument/2006/relationships/image" Target="/ppt/media/image2.png" Id="Re4b6b2c449104f84" /><Relationship Type="http://schemas.openxmlformats.org/officeDocument/2006/relationships/notesSlide" Target="/ppt/notesSlides/notesSlide5.xml" Id="R052508a61668455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bd868654d24733" /><Relationship Type="http://schemas.openxmlformats.org/officeDocument/2006/relationships/image" Target="/ppt/media/image3.png" Id="R1e7c3dc32b624b94" /><Relationship Type="http://schemas.openxmlformats.org/officeDocument/2006/relationships/notesSlide" Target="/ppt/notesSlides/notesSlide6.xml" Id="Rd363a5d91fb64a8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37f156d5c04749" /><Relationship Type="http://schemas.openxmlformats.org/officeDocument/2006/relationships/notesSlide" Target="/ppt/notesSlides/notesSlide7.xml" Id="R37eb365cf05d4e5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000489f9ab4a89" /><Relationship Type="http://schemas.openxmlformats.org/officeDocument/2006/relationships/notesSlide" Target="/ppt/notesSlides/notesSlide8.xml" Id="R3e7c54af7ed0488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442870f9794c84" /><Relationship Type="http://schemas.openxmlformats.org/officeDocument/2006/relationships/notesSlide" Target="/ppt/notesSlides/notesSlide9.xml" Id="Rfa557a24079848f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3edd640b10487b" /><Relationship Type="http://schemas.openxmlformats.org/officeDocument/2006/relationships/image" Target="/ppt/media/image4.png" Id="R9dcd7e63d9724e32" /><Relationship Type="http://schemas.openxmlformats.org/officeDocument/2006/relationships/notesSlide" Target="/ppt/notesSlides/notesSlide10.xml" Id="R70fb9025f95345e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779fea60d04571" /><Relationship Type="http://schemas.openxmlformats.org/officeDocument/2006/relationships/image" Target="/ppt/media/image5.png" Id="Rd7706776efa44546" /><Relationship Type="http://schemas.openxmlformats.org/officeDocument/2006/relationships/notesSlide" Target="/ppt/notesSlides/notesSlide11.xml" Id="R173062f2847046c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20a6bbd4d34b6e" /><Relationship Type="http://schemas.openxmlformats.org/officeDocument/2006/relationships/image" Target="/ppt/media/image6.png" Id="Rd0427ceb9f1041a4" /><Relationship Type="http://schemas.openxmlformats.org/officeDocument/2006/relationships/notesSlide" Target="/ppt/notesSlides/notesSlide12.xml" Id="Raa391737f8c4465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f7759ab72e4e37" /><Relationship Type="http://schemas.openxmlformats.org/officeDocument/2006/relationships/notesSlide" Target="/ppt/notesSlides/notesSlide13.xml" Id="R36d6b03f799e46f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680383a8714a79" /><Relationship Type="http://schemas.openxmlformats.org/officeDocument/2006/relationships/image" Target="/ppt/media/image7.png" Id="Rc8112a47b08740f4" /><Relationship Type="http://schemas.openxmlformats.org/officeDocument/2006/relationships/image" Target="/ppt/media/image8.png" Id="Re8fd978710644e86" /><Relationship Type="http://schemas.openxmlformats.org/officeDocument/2006/relationships/notesSlide" Target="/ppt/notesSlides/notesSlide14.xml" Id="Rc581939ae0584f5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1d9553860f4620" /><Relationship Type="http://schemas.openxmlformats.org/officeDocument/2006/relationships/image" Target="/ppt/media/image9.png" Id="R933024f2833a451a" /><Relationship Type="http://schemas.openxmlformats.org/officeDocument/2006/relationships/notesSlide" Target="/ppt/notesSlides/notesSlide15.xml" Id="R332aa4d459d043b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58ce033dd14370" /><Relationship Type="http://schemas.openxmlformats.org/officeDocument/2006/relationships/image" Target="/ppt/media/image10.png" Id="Re6f94560018b47f5" /><Relationship Type="http://schemas.openxmlformats.org/officeDocument/2006/relationships/notesSlide" Target="/ppt/notesSlides/notesSlide16.xml" Id="Rfc295e8fdbee4a1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98755380ef448a" /><Relationship Type="http://schemas.openxmlformats.org/officeDocument/2006/relationships/notesSlide" Target="/ppt/notesSlides/notesSlide17.xml" Id="R5fcbdff7eb11404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ec01fd1c7b475c" /><Relationship Type="http://schemas.openxmlformats.org/officeDocument/2006/relationships/notesSlide" Target="/ppt/notesSlides/notesSlide18.xml" Id="Refcf4536687f42c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EE55AE-6BDD-4494-B247-E5B5369AC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EAF4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FBF39D-421E-4758-9B44-E05318271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F87"/>
          </a:solidFill>
          <a:ln xmlns:a="http://schemas.openxmlformats.org/drawingml/2006/main" w="9525">
            <a:solidFill>
              <a:srgbClr val="0B7F87"/>
            </a:solidFill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a416fb916b4e8d"/>
          <a:stretch xmlns:a="http://schemas.openxmlformats.org/drawingml/2006/main"/>
        </p:blipFill>
        <p:spPr>
          <a:xfrm xmlns:a="http://schemas.openxmlformats.org/drawingml/2006/main">
            <a:off x="7905750" y="904875"/>
            <a:ext cx="3143250" cy="3143250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B1A6A9-0AE8-494B-A437-4F2B397E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ПРОЕКТНА ПРЕЗЕНТАЦИЈА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5D95CA-6D2A-4B08-9CC1-B9714B105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619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5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AEGIS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4A5CDF-52E6-492F-A586-AC5222208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666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Агентно базирано етичко хакирање со LLM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EAC57A-D7E5-4FE4-8B31-355CA3276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Локална Purple-Team платформа за проценка, верификација и ретестирање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AD45D0-47DC-4E1F-8F98-172CDAE52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00550"/>
            <a:ext cx="4895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C861EC-7B16-4592-83BE-B0A387A6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29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Docker лабораторија  •  Nmap  •  Ollama  •  Policy &amp; Ethical Guards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F9E22E-9ACF-4D1C-80EA-F8153884C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483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Изработила: Марија Ѓорѓиева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0E0246-82CF-416F-96B7-83E7B841F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8483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5829873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E6802E-2AE2-4694-BD58-53EDB907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01  •  ВОВЕД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DBD50B-1DC9-43E1-97E4-161A9305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Зошто AEGIS?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73B45B-A241-4987-AF85-D1C31D6FD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LLM може да помогне во анализа, но без контрола може да донесе погрешна или ризична одлука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467CE0-49FD-48E6-A0B6-300F61D7E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B5707D-FFC4-40A0-A902-06D3B811A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38F02A-A773-4A24-9F80-2023D7FF0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16630F-3C83-43AD-BA73-701C56FFB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3333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8E44F2-1C14-486C-A673-B713E03F1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5715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4762"/>
          </a:solidFill>
          <a:ln xmlns:a="http://schemas.openxmlformats.org/drawingml/2006/main" w="9525">
            <a:solidFill>
              <a:srgbClr val="C7476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32B700-560F-4212-8A5E-99870B33C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Проблем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09017A-8931-4AE0-8C2C-7E2A910E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29908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Обично скенирање покажува дека портата е отворена. Тоа само по себе не докажува ранливост и не кажува дали проблемот е поправен.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774373-FC61-4F97-B86E-1A5ABBB20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85950"/>
            <a:ext cx="3333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D8FAB4-71AA-4DB9-9AB7-F165FA503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85950"/>
            <a:ext cx="5715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7F87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2A1BBE-0E8C-4F08-A5B8-2B7BC546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383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Решение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9FE70C-6DBD-49F4-B7AC-B00AEF13B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400300"/>
            <a:ext cx="29908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AEGIS комбинира Nmap, детерминистички верификатор, повеќе локални LLM улоги и policy проверки во еден повторлив процес.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99F462-F254-48F9-9DD6-C6942787E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85950"/>
            <a:ext cx="3333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F7FEF0-579E-4D9B-83DF-49B130C8E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85950"/>
            <a:ext cx="5715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46F18"/>
          </a:solidFill>
          <a:ln xmlns:a="http://schemas.openxmlformats.org/drawingml/2006/main" w="9525">
            <a:solidFill>
              <a:srgbClr val="A46F1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3F1509-4C85-466C-97BE-7C014BD4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383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Цел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CBDD14-6EAF-4491-8B41-AC3F2DE4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0300"/>
            <a:ext cx="29908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Да добиеме проверлив резултат: OPEN, FIXED или NO_FINDING, придружен со извештај и audit trail.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E34175-5296-4F76-81A9-AC82A7755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529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Клучен принцип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96ED91-654D-445A-BEBD-93BB9C648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57750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LLM објаснува и сумира. Верификаторот одлучува дали наодот навистина постои.</a:t>
            </a:r>
          </a:p>
        </p:txBody>
      </p:sp>
    </p:spTree>
    <p:extLst>
      <p:ext uri="{BB962C8B-B14F-4D97-AF65-F5344CB8AC3E}">
        <p14:creationId xmlns:p14="http://schemas.microsoft.com/office/powerpoint/2010/main" val="13481924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235EC5-14BD-41F3-A9B9-3D2E337DF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02  •  МЕТОДОЛОГИЈА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E21E77-ECB7-45EF-B967-F18ED554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Red, Blue и Purple улогите во AEGIS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EB97E3-12AD-47BA-BC3D-F9719390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Куќата е локалниот компјутер и Docker лабораторијата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BEF554-AD49-4AA3-B54F-2C405C111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801489-757A-4290-8A45-6C054229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05B822-28CB-4E39-8CA9-76C135D0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BD0706-55E9-48B5-8165-0E85E97D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FC99A8-C387-4AB4-BD89-71B342751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764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5324B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15324B"/>
                </a:solidFill>
                <a:latin typeface="Consolas"/>
                <a:ea typeface="Consolas"/>
                <a:cs typeface="Consolas"/>
              </a:rPr>
              <a:t>КУЌАТА = локален компјутер + Docker lab     |     ВРАТИ = порти 6380 / 8082     |     КАТАНЕЦ = authentication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B9FDCF-D297-4CC7-89A0-C11CCF6FE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33337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DECEF"/>
          </a:solidFill>
          <a:ln xmlns:a="http://schemas.openxmlformats.org/drawingml/2006/main" w="9525">
            <a:solidFill>
              <a:srgbClr val="E9BAC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01872F-15B2-4C4F-A36A-93DEA299B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860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C74762"/>
                </a:solidFill>
                <a:latin typeface="Consolas"/>
                <a:ea typeface="Consolas"/>
                <a:cs typeface="Consolas"/>
              </a:defRPr>
            </a:pPr>
            <a:r>
              <a:rPr sz="1650" b="1" i="0">
                <a:solidFill>
                  <a:srgbClr val="C74762"/>
                </a:solidFill>
                <a:latin typeface="Consolas"/>
                <a:ea typeface="Consolas"/>
                <a:cs typeface="Consolas"/>
              </a:rPr>
              <a:t>RED TEAM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A2DC3C-6FFE-44D5-A697-FFAB776E6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765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C74762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C74762"/>
                </a:solidFill>
                <a:latin typeface="Consolas"/>
                <a:ea typeface="Consolas"/>
                <a:cs typeface="Consolas"/>
              </a:rPr>
              <a:t>ПРОБЛЕМ / ПРОВЕРКА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C77402-5320-4FDF-865D-9FAFA9DA9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Проверува дали вратата е отклучена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968A91-B3D0-4F3D-9D12-88135907F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9575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Nmap ги наоѓа портите.</a:t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Redis / HTTP verifier потврдува.</a:t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Metasploit catalog само прегледува.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A69D9C-F48F-4978-9594-F93F17B2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57450"/>
            <a:ext cx="33337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1805D8-8E7B-44B3-BB93-EA844981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6860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E5C9F"/>
                </a:solidFill>
                <a:latin typeface="Consolas"/>
                <a:ea typeface="Consolas"/>
                <a:cs typeface="Consolas"/>
              </a:defRPr>
            </a:pPr>
            <a:r>
              <a:rPr sz="1650" b="1" i="0">
                <a:solidFill>
                  <a:srgbClr val="1E5C9F"/>
                </a:solidFill>
                <a:latin typeface="Consolas"/>
                <a:ea typeface="Consolas"/>
                <a:cs typeface="Consolas"/>
              </a:rPr>
              <a:t>BLUE TEAM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83A844-DECE-4219-88A5-2143CE3DB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07657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E5C9F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1E5C9F"/>
                </a:solidFill>
                <a:latin typeface="Consolas"/>
                <a:ea typeface="Consolas"/>
                <a:cs typeface="Consolas"/>
              </a:rPr>
              <a:t>РЕШЕНИЕ / ЗАШТИТА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E94727-1FD9-4887-AF33-B07429E6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4290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Го ограничува и го поправа проблемот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252718-5442-43C3-AD9E-7316BC79E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09575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Policy + Ethical Scope Guard</a:t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Prompt / Transfer Guard</a:t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Redis закрпа + Retest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89C2E3-9F0E-487E-8B8D-6501903F9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57450"/>
            <a:ext cx="33337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AF8F4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8AD486-C7C8-49CB-889C-7B3038231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6860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6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PURPLE TEAM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E3A84D-1BC6-4692-819D-0019058BC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76575"/>
            <a:ext cx="2714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КРАЈНА ЦЕЛ / ПОВРАТНА ВРСКА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E15467-3F88-4DF6-AA0B-A9A8AC92B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290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5324B"/>
                </a:solidFill>
                <a:latin typeface="Consolas"/>
                <a:ea typeface="Consolas"/>
                <a:cs typeface="Consolas"/>
              </a:defRPr>
            </a:pPr>
            <a:r>
              <a:rPr sz="1800" b="1" i="0">
                <a:solidFill>
                  <a:srgbClr val="15324B"/>
                </a:solidFill>
                <a:latin typeface="Consolas"/>
                <a:ea typeface="Consolas"/>
                <a:cs typeface="Consolas"/>
              </a:rPr>
              <a:t>OPEN → PATCH → FIXED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6C1369-2DF9-4D94-9A3A-80B1EAB2F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09575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Истата проверка се повторува после поправката и остава audit trail.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51F90A-BC4E-46E2-A995-58915D93B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0070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AEGIS = инспектор кој проверува само сопствена куќа, запишува доказ и не ја обива вратата автоматски.</a:t>
            </a:r>
          </a:p>
        </p:txBody>
      </p:sp>
    </p:spTree>
    <p:extLst>
      <p:ext uri="{BB962C8B-B14F-4D97-AF65-F5344CB8AC3E}">
        <p14:creationId xmlns:p14="http://schemas.microsoft.com/office/powerpoint/2010/main" val="9817903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CCD12C0-869F-47AF-A22A-09CD84F64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03  •  АРХИТЕКТУРА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93B57C-C9DB-4A81-8353-6EF26A24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Како е составен системот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08AC8B-E643-49B4-AA09-FCC9A8E34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Кориснички интерфејс, оркестратор, алатки, модели и докази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D99BD5-A9CD-4D0B-B719-798E9B0C0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43ECD1-4A0A-4B9D-805A-5771001FF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B6375C-88F0-4438-A014-2EE0150B4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6AC451-EEA8-43F5-9774-7284BF0F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2476500" cy="39052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8C27CF-4136-4085-A428-C224B49A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КОРИСНИК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127AAD-9EA6-4E75-8CD7-590AB31A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AEGIS dashboard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E65F93-29FD-49FE-BA09-7C1C33902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1714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Target registry</a:t>
            </a:r>
          </a:p>
          <a:p xmlns:a="http://schemas.openxmlformats.org/drawingml/2006/main">
            <a:pPr>
              <a:defRPr sz="142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Mission controls</a:t>
            </a:r>
          </a:p>
          <a:p xmlns:a="http://schemas.openxmlformats.org/drawingml/2006/main">
            <a:pPr>
              <a:defRPr sz="142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Prompt console</a:t>
            </a:r>
          </a:p>
          <a:p xmlns:a="http://schemas.openxmlformats.org/drawingml/2006/main">
            <a:pPr>
              <a:defRPr sz="142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Reports &amp; audit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E7751A-8EFB-43A0-9293-CE3F33A54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1E5C9F"/>
                </a:solidFill>
                <a:latin typeface="Consolas"/>
                <a:ea typeface="Consolas"/>
                <a:cs typeface="Consolas"/>
              </a:defRPr>
            </a:pPr>
            <a:r>
              <a:rPr sz="1125" b="0" i="0">
                <a:solidFill>
                  <a:srgbClr val="1E5C9F"/>
                </a:solidFill>
                <a:latin typeface="Consolas"/>
                <a:ea typeface="Consolas"/>
                <a:cs typeface="Consolas"/>
              </a:rPr>
              <a:t>http://127.0.0.1:8000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190D33-3BF7-4181-BBC3-4523685E0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847850"/>
            <a:ext cx="2476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9525">
            <a:solidFill>
              <a:srgbClr val="1E5C9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3B1600-F61C-4317-B0D6-7F0D459D5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962150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FastAPI оркестратор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717DF8-3407-493A-AC8C-D1391C3BB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257425"/>
            <a:ext cx="2209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Policy gate • scope gate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route /run-assessment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866DDE-0175-42D3-AE5E-1C91654D4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238500"/>
            <a:ext cx="2476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9525">
            <a:solidFill>
              <a:srgbClr val="C74762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314302-C86C-4E91-B8B9-DCCF2625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352800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Tool agents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2111D2-CA5B-4596-965B-DCAF45B8C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648075"/>
            <a:ext cx="2209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Nmap • HTTP verifier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Redis verifier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D0E765-F4C5-4C32-B793-EB64D457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629150"/>
            <a:ext cx="2476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9525">
            <a:solidFill>
              <a:srgbClr val="A46F1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F7B3C1-8F60-4AF3-BFBF-73D804ECA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4743450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Evidence layer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EEB564-FB15-43B9-AF4E-673F999E1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5038725"/>
            <a:ext cx="2209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Reports • audit JSONL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OPEN / FIXED / NO_FINDING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96D569-7BB6-47AD-ACF6-9EED9A6DE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47850"/>
            <a:ext cx="2095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8A94D6-1268-4ED6-A3CD-7199921CE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96215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Docker labs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AB0F22-5454-427F-AA42-DD277A02F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257425"/>
            <a:ext cx="1828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web-lab :8082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redis-lab :6380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8C39E9-F6FB-4D02-8685-7FD2CF39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38500"/>
            <a:ext cx="2095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700F2B-3E2F-4872-B6E6-978E436F9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35280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Ollama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FF70CE-84DC-46A6-8BE2-6562AE48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648075"/>
            <a:ext cx="1828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llama3.2:1b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llama3.2:3b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06517C-B3E5-4F67-9BAC-D5906DA02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29150"/>
            <a:ext cx="2095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9525">
            <a:solidFill>
              <a:srgbClr val="C74762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131265-37EE-4F5E-85AB-DA1FC228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74345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Metasploit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4CC93F-D5E2-4CF4-B9FF-859646135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038725"/>
            <a:ext cx="1828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Каталог само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execution disabled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5773E8-81C9-4749-BD95-1CC9716E1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343150"/>
            <a:ext cx="6381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C9F"/>
          </a:solidFill>
          <a:ln xmlns:a="http://schemas.openxmlformats.org/drawingml/2006/main" w="9525">
            <a:solidFill>
              <a:srgbClr val="1E5C9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D4872E-0B3D-41ED-ABBF-55F65DF31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343150"/>
            <a:ext cx="714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C9F"/>
          </a:solidFill>
          <a:ln xmlns:a="http://schemas.openxmlformats.org/drawingml/2006/main" w="9525">
            <a:solidFill>
              <a:srgbClr val="1E5C9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28DEB1-7B4F-4DAD-8581-03599818E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752850"/>
            <a:ext cx="6381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762"/>
          </a:solidFill>
          <a:ln xmlns:a="http://schemas.openxmlformats.org/drawingml/2006/main" w="9525">
            <a:solidFill>
              <a:srgbClr val="C74762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F504D73-A18C-469E-A879-A498A34D4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752850"/>
            <a:ext cx="714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F87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3D1BF81-2C93-416A-947C-15FC6D04D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43500"/>
            <a:ext cx="6381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6F18"/>
          </a:solidFill>
          <a:ln xmlns:a="http://schemas.openxmlformats.org/drawingml/2006/main" w="9525">
            <a:solidFill>
              <a:srgbClr val="A46F18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7879977-22A7-4039-A0FF-4DD453EA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143500"/>
            <a:ext cx="714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762"/>
          </a:solidFill>
          <a:ln xmlns:a="http://schemas.openxmlformats.org/drawingml/2006/main" w="9525">
            <a:solidFill>
              <a:srgbClr val="C74762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B829DD4-26D0-4576-B67D-0077391C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0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Секој чекор се запишува како evidence: кој агент работел, што видел и зошто донел одлука.</a:t>
            </a:r>
          </a:p>
        </p:txBody>
      </p:sp>
    </p:spTree>
    <p:extLst>
      <p:ext uri="{BB962C8B-B14F-4D97-AF65-F5344CB8AC3E}">
        <p14:creationId xmlns:p14="http://schemas.microsoft.com/office/powerpoint/2010/main" val="9048815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7F864D-4B6B-4F7D-99F0-423AB828A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04  •  ПОДГОТОВКА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F0E6E5-0DB7-4B58-AEB8-3AEBAB1BC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Discover и Approve пред скенирање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FF7A14-B9ED-4A10-A9DC-DC48B2452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Корисникот прво ги открива локалните Docker лаборатории, па рачно одобрува една мета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4DF9A8-5A5F-434C-A924-79AFD2DC3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FDF199-0CDC-4C7D-87EC-64A857A5E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B33AF8-9C6D-48A9-97AD-0B9AB68B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b6b2c449104f84"/>
          <a:stretch xmlns:a="http://schemas.openxmlformats.org/drawingml/2006/main"/>
        </p:blipFill>
        <p:spPr>
          <a:xfrm xmlns:a="http://schemas.openxmlformats.org/drawingml/2006/main">
            <a:off x="767395" y="1828800"/>
            <a:ext cx="4256410" cy="3143250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BE4BD4-F1E8-40FF-B59F-5FA5DE779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28800"/>
            <a:ext cx="5334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78F2C8-2BA5-4529-A451-E7EDEB9F7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002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1  DISCOVER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9E19BE-6FD0-470B-9FA8-EBDF1E14D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241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Docker labels → PENDING local labs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A76CB0-81F9-4166-97CB-DC4CE5C9C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908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Docker labels + 127.0.0.1 binding → PENDING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B2975A-20F2-4084-A528-CA717C3CB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956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2E5F8C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2E5F8C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19AF5E-8872-4529-91C6-95E21370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05150"/>
            <a:ext cx="5334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FE6A5F-F5AA-45F7-84A4-6F329B516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766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E5C9F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1E5C9F"/>
                </a:solidFill>
                <a:latin typeface="Consolas"/>
                <a:ea typeface="Consolas"/>
                <a:cs typeface="Consolas"/>
              </a:rPr>
              <a:t>2  APPROVE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8ADB50-58D1-4E32-A87C-FD565E546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004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Human-in-the-loop одлука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83209E-8878-4539-ABD3-A92228621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8671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Корисникот избира target од dropdown и клика Approve.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17E05C-7C3F-4DD1-8C6D-C8467C26F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481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2E5F8C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2E5F8C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53B831-B6E7-4C00-9302-102FB812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95800"/>
            <a:ext cx="53340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C7476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26837C-EC5D-48A6-864F-D8E8445A7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6672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C74762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C74762"/>
                </a:solidFill>
                <a:latin typeface="Consolas"/>
                <a:ea typeface="Consolas"/>
                <a:cs typeface="Consolas"/>
              </a:rPr>
              <a:t>3  ETHICAL SCOPE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D32981-6874-4BAE-9951-031151D59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9911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APPROVED само ако е 127.0.0.1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C6DD88-49E9-47DB-84D5-437D62C99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9590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Без approval / надвор од loopback → BLOCKED; tools_called = [].</a:t>
            </a:r>
          </a:p>
        </p:txBody>
      </p:sp>
    </p:spTree>
    <p:extLst>
      <p:ext uri="{BB962C8B-B14F-4D97-AF65-F5344CB8AC3E}">
        <p14:creationId xmlns:p14="http://schemas.microsoft.com/office/powerpoint/2010/main" val="5280978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E4E858-68D7-4198-B944-F9F7F590F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05  •  ИЗБОР НА ЛАБОРАТОРИЈА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411F7E-18EE-459F-B156-D1C2ECDEF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Web или Redis: што значи секоја мета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343A50-5249-4C0F-ACFC-9F4CE415E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Истиот интерфејс води кон различен verifier и различен очекуван исход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46B986-859A-4236-8D6C-332412E0B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5F4CFC-D155-4454-9E9E-D93B6B4CF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18583E-50E5-4E60-9A4B-6116781D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7c3dc32b624b94"/>
          <a:stretch xmlns:a="http://schemas.openxmlformats.org/drawingml/2006/main"/>
        </p:blipFill>
        <p:spPr>
          <a:xfrm xmlns:a="http://schemas.openxmlformats.org/drawingml/2006/main">
            <a:off x="600097" y="1866900"/>
            <a:ext cx="4305255" cy="3238500"/>
          </a:xfrm>
          <a:prstGeom xmlns:a="http://schemas.openxmlformats.org/drawingml/2006/main" prst="roundRect">
            <a:avLst>
              <a:gd name="adj" fmla="val 3529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D24841-1B34-4329-8FB5-2AA80ED3F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847850"/>
            <a:ext cx="56197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91F261-7528-4B37-915D-BBC1820A4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847850"/>
            <a:ext cx="57150" cy="1333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7F87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B55332-9E23-4E91-BFA4-18A015D6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000250"/>
            <a:ext cx="527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web-lab  •  127.0.0.1:8082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B36DA0-E319-4EA4-B501-6A3BE19E2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362200"/>
            <a:ext cx="5276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FastAPI / Uvicorn сервис. AEGIS проверува дали сервисот одговара и очекува NO_FINDING кога нема потврден наод.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F092E8-0D2D-458B-A078-45ED2CB27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429000"/>
            <a:ext cx="56197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EDBE0A-0C33-4822-B3DB-3D5E1E11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429000"/>
            <a:ext cx="57150" cy="1333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4762"/>
          </a:solidFill>
          <a:ln xmlns:a="http://schemas.openxmlformats.org/drawingml/2006/main" w="9525">
            <a:solidFill>
              <a:srgbClr val="C7476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E6AAAD-5107-4C70-AC03-27036A749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581400"/>
            <a:ext cx="527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redis-lab  •  127.0.0.1:6380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CBE45B-F01D-4F15-B7F0-4D7717CA8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943350"/>
            <a:ext cx="5276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Redis база за демонстрација на CWE-306. Без лозинка дава OPEN, со --requirepass и retest дава FIXED.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C75A55-917C-4E9C-BF6B-6692FEBC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67350"/>
            <a:ext cx="106108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263C7A-4B3C-4749-B780-F7BE5987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02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E5C9F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1E5C9F"/>
                </a:solidFill>
                <a:latin typeface="Consolas"/>
                <a:ea typeface="Consolas"/>
                <a:cs typeface="Consolas"/>
              </a:rPr>
              <a:t>МОЖНИ СОСТОЈБИ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A5D66E-39F8-4008-BEF3-5C2DA7C5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9597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15324B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15324B"/>
                </a:solidFill>
                <a:latin typeface="Consolas"/>
                <a:ea typeface="Consolas"/>
                <a:cs typeface="Consolas"/>
              </a:rPr>
              <a:t>NOT APPROVED → BLOCKED   |   APPROVED + web → NO_FINDING   |   Redis без auth → OPEN   |   Redis по patch → FIXED</a:t>
            </a:r>
          </a:p>
        </p:txBody>
      </p:sp>
    </p:spTree>
    <p:extLst>
      <p:ext uri="{BB962C8B-B14F-4D97-AF65-F5344CB8AC3E}">
        <p14:creationId xmlns:p14="http://schemas.microsoft.com/office/powerpoint/2010/main" val="541558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4533DF-726D-4534-BFC7-1E288C3A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06  •  LLM ОРКЕСТРАЦИЈА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EDCEEA-A5F0-4CF4-92AA-89195DFE2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Кој модел за која задача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2B718A-8B9A-4EA4-A07D-B4402E672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Моделите не се случајно менувани: секој има јасна улога во pipeline-от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9361E8-A033-4F61-9F5F-C642AEF71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15C36C-FB3E-4B73-9DE9-08D6E7639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0286CA-2403-4FC1-9B90-29B4E4808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2AD97D-F633-479E-B738-73CE0289B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3143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9525">
            <a:solidFill>
              <a:srgbClr val="1E5C9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CD9699-FDC7-40D9-9EC4-C70C87F8E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llama3.2:1b или 3b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164492-3332-45E1-91AD-E171AC568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62225"/>
            <a:ext cx="2876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Nmap triage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Избраниот модел чита structured scan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Класификација: web / database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5C7185-EDD1-4748-A218-932480292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52650"/>
            <a:ext cx="3143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632B94-FDF5-4E64-BD53-016527E5E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66950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llama3.2:3b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13EE79-A756-41F3-A5B1-F1E71849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562225"/>
            <a:ext cx="2876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Semantic Prompt Guard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Проверува injection и override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Fail-closed одлука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4EB0C5-B88F-4702-BE6D-9FCF3A90C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52650"/>
            <a:ext cx="3143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9525">
            <a:solidFill>
              <a:srgbClr val="A46F1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62C40F-ABAF-475A-827F-FE382CF15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66950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llama3.2:3b или 1b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89D66F-D1CF-4876-AA97-D1E67F70F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62225"/>
            <a:ext cx="2876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Final analysis / recommendations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Може да се смени од UI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Секогаш после verifier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4763D1-D344-4419-BF5E-0E804699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291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9839C"/>
                </a:solidFill>
                <a:latin typeface="Consolas"/>
                <a:ea typeface="Consolas"/>
                <a:cs typeface="Consolas"/>
              </a:defRPr>
            </a:pPr>
            <a:r>
              <a:rPr sz="1125" b="0" i="0">
                <a:solidFill>
                  <a:srgbClr val="69839C"/>
                </a:solidFill>
                <a:latin typeface="Consolas"/>
                <a:ea typeface="Consolas"/>
                <a:cs typeface="Consolas"/>
              </a:rPr>
              <a:t>Nmap XML / JSON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5E86FC-152D-4B48-96A5-AC35ADD51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2291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9839C"/>
                </a:solidFill>
                <a:latin typeface="Consolas"/>
                <a:ea typeface="Consolas"/>
                <a:cs typeface="Consolas"/>
              </a:defRPr>
            </a:pPr>
            <a:r>
              <a:rPr sz="1125" b="0" i="0">
                <a:solidFill>
                  <a:srgbClr val="69839C"/>
                </a:solidFill>
                <a:latin typeface="Consolas"/>
                <a:ea typeface="Consolas"/>
                <a:cs typeface="Consolas"/>
              </a:rPr>
              <a:t>Prompt input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973BEB-A22C-42DA-AFD6-7DC112042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291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9839C"/>
                </a:solidFill>
                <a:latin typeface="Consolas"/>
                <a:ea typeface="Consolas"/>
                <a:cs typeface="Consolas"/>
              </a:defRPr>
            </a:pPr>
            <a:r>
              <a:rPr sz="1125" b="0" i="0">
                <a:solidFill>
                  <a:srgbClr val="69839C"/>
                </a:solidFill>
                <a:latin typeface="Consolas"/>
                <a:ea typeface="Consolas"/>
                <a:cs typeface="Consolas"/>
              </a:rPr>
              <a:t>Verified finding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E51CAD-BF97-4A3C-8E25-F897D7B7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1719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2E5F8C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E5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857615-858D-47A9-AA9F-83080BD60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1719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2E5F8C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E5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523CB3-2FE8-4D91-98CF-C16262AB0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08204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A735E4-3895-471E-A2C2-13DE2C4FB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435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Опционално: OpenRouter може да се активира само со сопствен API key. Во основната демонстрација сите модели се локални преку Ollama.</a:t>
            </a:r>
          </a:p>
        </p:txBody>
      </p:sp>
    </p:spTree>
    <p:extLst>
      <p:ext uri="{BB962C8B-B14F-4D97-AF65-F5344CB8AC3E}">
        <p14:creationId xmlns:p14="http://schemas.microsoft.com/office/powerpoint/2010/main" val="20555406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2474776-5377-4663-B94C-8A6BAB6C3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07  • 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1B5AB2-6C8A-4DA0-B8D1-8F557F9EE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Од Docker target до проверен извештај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5CDF45-D77B-4F65-A48F-DEA501A4F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Целиот pipeline во редоследот што го извршува апликацијата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605878-F82C-4954-8FAD-EFABFC977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D81E6B-A055-45A8-A10A-27185F768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40EDFA-7446-4D6D-8E64-35AB9FAB9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0EF05C-8E22-4685-BFD1-F5A5D62D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1104900" cy="13716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5E9BA7-6FA2-474A-9EAE-FB6F403B6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71725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9E2A9A-3C13-4EEA-BDC5-3D56BE7D9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Discover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B9670E-CEFE-40CB-BC90-86E5A6685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Docker labels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FFE6D8-1AAB-4233-9E0F-9FF25C2C1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813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E5F8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E5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6E404B-6EA7-4EB7-B11F-498F2D570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247900"/>
            <a:ext cx="1104900" cy="13716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1D0C07-C2C0-45CA-9579-A74ED205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371725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3B9CD2-FF81-4D28-8E7C-4E089E171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7241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Approve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46FA80-6D94-479D-BA59-484132C26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314325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loopback only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C6612F-D687-43A1-AD8E-AF7BDE638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7813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E5F8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E5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90943F-757D-4EE6-B3E6-8ECE14574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247900"/>
            <a:ext cx="1104900" cy="13716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C0ECE4-EBC6-4796-8379-FD56718FA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371725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B95262-486D-4199-A42F-C8217045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7241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Policy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330DAD-23B3-49B9-A6BA-824C52BC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14325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scope gate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CFB390-293C-456C-9926-17D75CB7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813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E5F8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E5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804275-026F-4599-A260-9F63C3E31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247900"/>
            <a:ext cx="1104900" cy="13716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1E5C9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47152F-48D9-41FD-BF47-69DE85AC1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371725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E5C9F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1E5C9F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3588A8-6507-4C25-AF6A-1B3607419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7241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Nmap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A27744-6174-4AAF-91C0-E175A1EB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14325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real tool call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2C384C-FE4D-45D9-800F-B6C4C8458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7813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E5F8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E5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8EB913-6C2E-4ECC-93F5-28185A4AD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247900"/>
            <a:ext cx="1104900" cy="13716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1E5C9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EC4A5D-D4F9-472C-93F6-22C116A3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371725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E5C9F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1E5C9F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05C8FA-2196-4C7B-BFB4-FFBEA98A5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7241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Triage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6A87A2-8968-42BA-8086-6D7105A43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14325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local LLM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110C80-FE13-4EAF-B3CE-45B2F9081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813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E5F8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E5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AE958F-9605-4C17-B4BE-10A336288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247900"/>
            <a:ext cx="1104900" cy="13716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A46F18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7D96F1-4C40-4300-903C-9A6737E4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371725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A46F18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A46F18"/>
                </a:solidFill>
                <a:latin typeface="Consolas"/>
                <a:ea typeface="Consolas"/>
                <a:cs typeface="Consolas"/>
              </a:rPr>
              <a:t>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8058F1-EF13-4F2B-A019-1323822C9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7241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Verify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7B23C63-7FDA-445A-9599-0B9498A73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14325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socket / HTTP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1B16C21-C64A-4EF5-9169-7600F1E2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7813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E5F8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E5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E378C2B-D0F8-44D2-A588-DBF4172F7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47900"/>
            <a:ext cx="1104900" cy="13716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A46F18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F9C652C-935D-427F-AEA8-697604504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71725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A46F18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A46F18"/>
                </a:solidFill>
                <a:latin typeface="Consolas"/>
                <a:ea typeface="Consolas"/>
                <a:cs typeface="Consolas"/>
              </a:rPr>
              <a:t>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14E5461-D08C-4FDE-9A61-7307BE7D5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241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Report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313C7FB-B971-4F97-AE04-5CBF8A937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4325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OPEN evidence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BBEB4D1-8B07-4637-9800-FB3C22535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813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E5F8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E5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C01439F-1CED-426A-B285-F03C91465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247900"/>
            <a:ext cx="1104900" cy="13716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C74762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3751F43-0AE1-4FDC-8782-98D40083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371725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C74762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C74762"/>
                </a:solidFill>
                <a:latin typeface="Consolas"/>
                <a:ea typeface="Consolas"/>
                <a:cs typeface="Consolas"/>
              </a:rPr>
              <a:t>8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A638728-3AF4-4EF7-BB04-DE64E29DD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7241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Catalog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31B77BE-FB5C-4EE9-97FC-7107EED0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14325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msfconsole review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52C31B0-AB9A-4E03-902C-8CB4B4DBB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7813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E5F8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E5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88E3B5F-7411-4A6B-8524-6D19B5A59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247900"/>
            <a:ext cx="1104900" cy="13716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C74762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E9F2806-CA06-4B9D-A70D-E37AA4B5A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371725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C74762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C74762"/>
                </a:solidFill>
                <a:latin typeface="Consolas"/>
                <a:ea typeface="Consolas"/>
                <a:cs typeface="Consolas"/>
              </a:rPr>
              <a:t>9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4B7BCED-49A9-45A5-893C-AAF8C4B07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7241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Retest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BBAB0A5-01AF-4324-8831-A2B96DECF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14325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FIXED after patch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B795027-43BD-43C0-9C38-1CE7201D4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103822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3E832B4-98F5-4C86-9D99-1CEB566FA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Позитивен пример  •  redis-lab:6380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8C5C7FB-D34B-4028-87C6-C5194D989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33900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Nmap детектира open 6380, но Redis verifier преку PING детерминистички произведува CWE-306 (OPEN). LLM не измислува наод.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E95B76F-DA25-4B49-A2D7-635ADADF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3822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7F4E59E-70C2-4E2C-8799-2F4BA808F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483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C74762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C74762"/>
                </a:solidFill>
                <a:latin typeface="Consolas"/>
                <a:ea typeface="Consolas"/>
                <a:cs typeface="Consolas"/>
              </a:rPr>
              <a:t>Затворање на циклусот  •  Retest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1EE65D4-4C45-4C5C-9D40-70D119FF8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34050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По --requirepass во docker-compose.yml, Retest повторува socket тест, добива -NOAUTH и ја менува состојбата од OPEN во FIXED.</a:t>
            </a:r>
          </a:p>
        </p:txBody>
      </p:sp>
    </p:spTree>
    <p:extLst>
      <p:ext uri="{BB962C8B-B14F-4D97-AF65-F5344CB8AC3E}">
        <p14:creationId xmlns:p14="http://schemas.microsoft.com/office/powerpoint/2010/main" val="15698939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689ACF-B7CD-4496-A1AD-EA28C9B29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08  •  ЛАБОРАТОРИСКА ОКОЛИНА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F50A30-8100-4085-8743-A68367799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Изолација и потребни ресурси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BD2FDF-5DC3-4C12-8DE2-6013972C0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Сè работи локално, на loopback адреси, во Docker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BB7181-1572-4815-BBA2-70BB160A2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1BFB9B-BBDE-4719-AF1F-CD197DC89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A324CC-A7C2-489C-BCF7-7FFEC5392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802DFE-ADCC-4EF4-9BE9-F69B688C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3143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2A6FC6-F047-415A-ABA2-A864A129F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5715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7F87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36F0F2-C681-4A2B-80EB-BFE417726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Хардвер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988AC9-84C7-478C-88BB-CE9B91C3D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28003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Windows 11 машина</a:t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Минимум 8 GB RAM за удобно работење</a:t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Слободен простор за Docker images и модели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1865DF-F8B0-4537-AE94-9CDFE8846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866900"/>
            <a:ext cx="3143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28E24C-A3BE-4C92-B5D7-7DD7E84E5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866900"/>
            <a:ext cx="5715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5C9F"/>
          </a:solidFill>
          <a:ln xmlns:a="http://schemas.openxmlformats.org/drawingml/2006/main" w="9525">
            <a:solidFill>
              <a:srgbClr val="1E5C9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7E1077-0A32-4475-A654-9CED16D24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0193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Софтвер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12292E-7192-46F1-BCD0-F25A1B907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381250"/>
            <a:ext cx="28003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Docker Desktop</a:t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Python + FastAPI</a:t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Nmap CLI</a:t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Ollama + llama3.2:1b / 3b</a:t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Metasploit Framework (msfconsole)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FB2847-B20A-45D5-A846-51357A493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66900"/>
            <a:ext cx="4095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5486C8-9125-4D28-8582-35311762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66900"/>
            <a:ext cx="5715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4762"/>
          </a:solidFill>
          <a:ln xmlns:a="http://schemas.openxmlformats.org/drawingml/2006/main" w="9525">
            <a:solidFill>
              <a:srgbClr val="C74762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5240BA-F7A3-411E-9F6B-9DCC4B3B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19300"/>
            <a:ext cx="3752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Изолација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B6D786-BA57-43C5-95F6-D3DEE3E44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81250"/>
            <a:ext cx="37528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Docker ports се врзани само на 127.0.0.1. Data Exfiltration Guard / TransferGuardian спречува испраќање извештаи кон надворешен домен. Нема автоматски payload.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93C853-C19A-4F27-87CD-1B39731A9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10050"/>
            <a:ext cx="619125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122B45"/>
          </a:solidFill>
          <a:ln xmlns:a="http://schemas.openxmlformats.org/drawingml/2006/main" w="9525">
            <a:solidFill>
              <a:srgbClr val="36516D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E15717-D210-4F0E-8F9F-6D4858F43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43400"/>
            <a:ext cx="58483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rPr>
              <a:t>web-lab    127.0.0.1:8082 → 8081</a:t>
            </a:r>
          </a:p>
          <a:p xmlns:a="http://schemas.openxmlformats.org/drawingml/2006/main">
            <a:pPr>
              <a:def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rPr>
              <a:t>redis-lab  127.0.0.1:6380 → 6379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rPr>
              <a:t>Target Registry Guard = Docker label + explicit human approval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4BB672-1C8B-4B64-813E-40EF01E54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672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C74762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C74762"/>
                </a:solidFill>
                <a:latin typeface="Arial"/>
                <a:ea typeface="Arial"/>
                <a:cs typeface="Arial"/>
              </a:rPr>
              <a:t>Безбедносно предупредување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AB0467-7BE9-452B-9B9E-F5FCEB812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4820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Операциите се наменети само за сопствената лабораторија. Не додавај надворешен target без експлицитна дозвола и одделена, изолирана средина.</a:t>
            </a:r>
          </a:p>
        </p:txBody>
      </p:sp>
    </p:spTree>
    <p:extLst>
      <p:ext uri="{BB962C8B-B14F-4D97-AF65-F5344CB8AC3E}">
        <p14:creationId xmlns:p14="http://schemas.microsoft.com/office/powerpoint/2010/main" val="64510336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2474BF-BC1F-4D1B-8F1D-D8C2C925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09  •  СЦЕНАРИО 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703F9C-86CE-40B2-8017-19470B97E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Redis наод: OPEN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C98511-69D3-4D53-AD3B-52EA3611E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Отворена порта не е доволна. Наодот се потврдува со директен, не-деструктивен probe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5749DD-D49E-417A-9FFA-0F122216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38C9DA-7446-4653-9A4F-470681B34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F82F53-3476-4C94-AE32-CA495AAE1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cd7e63d9724e32"/>
          <a:stretch xmlns:a="http://schemas.openxmlformats.org/drawingml/2006/main"/>
        </p:blipFill>
        <p:spPr>
          <a:xfrm xmlns:a="http://schemas.openxmlformats.org/drawingml/2006/main">
            <a:off x="514350" y="2224889"/>
            <a:ext cx="4857750" cy="2646347"/>
          </a:xfrm>
          <a:prstGeom xmlns:a="http://schemas.openxmlformats.org/drawingml/2006/main" prst="roundRect">
            <a:avLst>
              <a:gd name="adj" fmla="val 3288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DB151B-2C6A-44C7-8491-36DEB57BF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47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Редослед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62405D-8AE6-445F-908D-59E1C98BE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28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E5C9F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1E5C9F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4FDD6A-88C5-43E1-9CE1-619BD63C2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09800"/>
            <a:ext cx="432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Nmap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E0E646-3251-449C-92D4-810BF4B12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95550"/>
            <a:ext cx="432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6380/tcp е open на 127.0.0.1.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D2F653-CFFA-4361-B50E-20238F76C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09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A468C5-10D1-4BBA-B47E-C80F08DE3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90850"/>
            <a:ext cx="432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Redis verifier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374B81-1956-463C-854D-8CA627A52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76600"/>
            <a:ext cx="432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Испраќа PING преку socket.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630FFF-6B2D-4293-97A9-612D99D2C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909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C74762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C74762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A0EC40-CE46-40CF-8868-61589DCD7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71900"/>
            <a:ext cx="432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Доказ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B15C37-DF1B-4787-929A-8E00351C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57650"/>
            <a:ext cx="432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+PONG без лозинка → CWE-306.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2F956E-DD55-41B9-84AD-57FF8A9FD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91050"/>
            <a:ext cx="47625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122B45"/>
          </a:solidFill>
          <a:ln xmlns:a="http://schemas.openxmlformats.org/drawingml/2006/main" w="9525">
            <a:solidFill>
              <a:srgbClr val="36516D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91E26B-F3B8-49C4-BF34-846F80952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724400"/>
            <a:ext cx="4419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D8E4F1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D8E4F1"/>
                </a:solidFill>
                <a:latin typeface="Consolas"/>
                <a:ea typeface="Consolas"/>
                <a:cs typeface="Consolas"/>
              </a:rPr>
              <a:t>verification.status = "open"</a:t>
            </a:r>
          </a:p>
          <a:p xmlns:a="http://schemas.openxmlformats.org/drawingml/2006/main">
            <a:pPr>
              <a:defRPr sz="1275" b="0" i="0">
                <a:solidFill>
                  <a:srgbClr val="D8E4F1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D8E4F1"/>
                </a:solidFill>
                <a:latin typeface="Consolas"/>
                <a:ea typeface="Consolas"/>
                <a:cs typeface="Consolas"/>
              </a:rPr>
              <a:t>finding = "CWE-306"</a:t>
            </a:r>
          </a:p>
          <a:p xmlns:a="http://schemas.openxmlformats.org/drawingml/2006/main">
            <a:pPr>
              <a:defRPr sz="1275" b="0" i="0">
                <a:solidFill>
                  <a:srgbClr val="D8E4F1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D8E4F1"/>
                </a:solidFill>
                <a:latin typeface="Consolas"/>
                <a:ea typeface="Consolas"/>
                <a:cs typeface="Consolas"/>
              </a:rPr>
              <a:t>severity = "high"</a:t>
            </a:r>
          </a:p>
        </p:txBody>
      </p:sp>
    </p:spTree>
    <p:extLst>
      <p:ext uri="{BB962C8B-B14F-4D97-AF65-F5344CB8AC3E}">
        <p14:creationId xmlns:p14="http://schemas.microsoft.com/office/powerpoint/2010/main" val="72538665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CCD71D-8992-4642-AC51-EE879D1BD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10  •  СЦЕНАРИО 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09AE18-33B4-4D83-9F5A-3CBFA255D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Закрпа и retest: FIXED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4994C5-9E45-4CD8-96B7-F5C91277A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Истата проверка потврдува дека authentication сега е задолжителна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CE5228-8F35-42AE-AE2E-6A1D0507E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BD7C8E-7E71-4BD0-B993-78B338122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B54AB5-FC54-46BC-8B1F-AD33DDAEB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706776efa44546"/>
          <a:stretch xmlns:a="http://schemas.openxmlformats.org/drawingml/2006/main"/>
        </p:blipFill>
        <p:spPr>
          <a:xfrm xmlns:a="http://schemas.openxmlformats.org/drawingml/2006/main">
            <a:off x="514350" y="1900121"/>
            <a:ext cx="4953000" cy="3534008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0F3C48-D985-4B14-A1D9-CC7FD4D6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43100"/>
            <a:ext cx="50482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7F1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6E252D-7AAE-4195-8944-BFB415C6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336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PATCH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D55448-99CE-4860-9E8B-3D8031EE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765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5324B"/>
                </a:solidFill>
                <a:latin typeface="Consolas"/>
                <a:ea typeface="Consolas"/>
                <a:cs typeface="Consolas"/>
              </a:defRPr>
            </a:pPr>
            <a:r>
              <a:rPr sz="1650" b="1" i="0">
                <a:solidFill>
                  <a:srgbClr val="15324B"/>
                </a:solidFill>
                <a:latin typeface="Consolas"/>
                <a:ea typeface="Consolas"/>
                <a:cs typeface="Consolas"/>
              </a:rPr>
              <a:t>redis-server --requirepass 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E21225-040E-4153-812A-7F9CF830F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333750"/>
            <a:ext cx="50482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BEAEE"/>
          </a:solidFill>
          <a:ln xmlns:a="http://schemas.openxmlformats.org/drawingml/2006/main" w="9525">
            <a:solidFill>
              <a:srgbClr val="C7476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0B9D6A-8C76-4E3B-BBDE-F2E0957BE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242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C74762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C74762"/>
                </a:solidFill>
                <a:latin typeface="Consolas"/>
                <a:ea typeface="Consolas"/>
                <a:cs typeface="Consolas"/>
              </a:rPr>
              <a:t>RETEST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854131-51B8-4E4A-953D-4434263C4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67150"/>
            <a:ext cx="433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-NOAUTH → finding no longer verified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8910CC-0431-47AC-B62B-8441FF33F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819650"/>
            <a:ext cx="495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Статусот FIXED доаѓа од новиот verifier резултат и од споредбата со претходниот OPEN report. Nmap сè уште може да гледа open port, затоа што достапноста не значи и неавтентициран пристап.</a:t>
            </a:r>
          </a:p>
        </p:txBody>
      </p:sp>
    </p:spTree>
    <p:extLst>
      <p:ext uri="{BB962C8B-B14F-4D97-AF65-F5344CB8AC3E}">
        <p14:creationId xmlns:p14="http://schemas.microsoft.com/office/powerpoint/2010/main" val="48307689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7F382C-FB31-4FC9-BE17-DA09F8864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11  •  СЦЕНАРИО 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68BCA3-C571-425A-A0FA-D33E8A28B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Web сервис: NO_FINDING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AABD30-6DA7-4BFB-B901-20F7233F0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Сервисот е достапен, но проценката нема доказ за ранливост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065457-CE09-4287-BA83-2EE08E702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CD4985-D772-483B-929E-817D75886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849B5A-CD78-48F9-8D1E-6F116E3AD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427ceb9f1041a4"/>
          <a:stretch xmlns:a="http://schemas.openxmlformats.org/drawingml/2006/main"/>
        </p:blipFill>
        <p:spPr>
          <a:xfrm xmlns:a="http://schemas.openxmlformats.org/drawingml/2006/main">
            <a:off x="835211" y="1943100"/>
            <a:ext cx="4196979" cy="2971800"/>
          </a:xfrm>
          <a:prstGeom xmlns:a="http://schemas.openxmlformats.org/drawingml/2006/main" prst="roundRect">
            <a:avLst>
              <a:gd name="adj" fmla="val 3846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797610-780E-431A-AD59-50F9663DA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43100"/>
            <a:ext cx="48577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8C000B-FDAC-4269-A3C5-7AA559BA5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43100"/>
            <a:ext cx="57150" cy="1295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46F18"/>
          </a:solidFill>
          <a:ln xmlns:a="http://schemas.openxmlformats.org/drawingml/2006/main" w="9525">
            <a:solidFill>
              <a:srgbClr val="A46F1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948068-4D86-43DC-ACA3-B0C26EAC9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95500"/>
            <a:ext cx="451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Што значи NO_FINDING?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057347-4487-42A3-BF7F-C6E9E1E0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57450"/>
            <a:ext cx="4514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Системот потврдил дека сервисот одговара, но не потврдил конкретна ранливост. Овој резултат е различен од FIXED.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4A178B-95E1-46B1-A44A-542BF158C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524250"/>
            <a:ext cx="48577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0A3358-2B73-4E84-9DD8-89B37C31B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524250"/>
            <a:ext cx="57150" cy="1390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7F87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6A478F-7D00-44AA-9F51-9E9DADCBA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76650"/>
            <a:ext cx="451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Зошто LLM не одлучува?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73EED6-91D8-4BFB-AA25-1D1A88BFF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38600"/>
            <a:ext cx="4514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LLM triage моделот само го класифицира набљудувањето и предлага следен безбеден чекор. HTTP verifier ја одредува состојбата.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050C7C-71E3-4F2B-84D2-62DAA929B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76875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Извештајот останува корисен: покажува што е измерено и што не е докажано.</a:t>
            </a:r>
          </a:p>
        </p:txBody>
      </p:sp>
    </p:spTree>
    <p:extLst>
      <p:ext uri="{BB962C8B-B14F-4D97-AF65-F5344CB8AC3E}">
        <p14:creationId xmlns:p14="http://schemas.microsoft.com/office/powerpoint/2010/main" val="184649771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7D9616-61F3-4F9D-8568-C88DB8F8A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12  •  MULTI-MODEL КОНФИГУРАЦИЈА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FACF19-D08D-446C-9EE3-0327EDDE4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Избор на модел од интерфејсот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874CD0-864F-404C-91E3-E84AD69A1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Моделите имаат одделни улоги, а операторот може да избере друга локална комбинација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CE6E63-0E99-40A7-A37A-2298525B9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1B8D81-E310-4A8F-9532-F8939A0D9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DFCF84-1FAF-4052-AFC2-9D26AA209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367824-E643-4512-AF3F-6F03ABA64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2667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9525">
            <a:solidFill>
              <a:srgbClr val="1E5C9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30D1B6-F5E2-4E53-AB1C-ABF47A58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llama3.2:1b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5ADABC-8C09-4A39-BB0C-0CAD16744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57475"/>
            <a:ext cx="2400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Nmap triage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брза класификација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мал footprint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545978-AE0B-4BA4-9E2A-1FE033878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47900"/>
            <a:ext cx="2667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9D10BA-FFFA-4225-ABBE-32A2CE09E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3622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llama3.2:3b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C25A7E-1A04-4871-81CE-2AE3CB7B0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57475"/>
            <a:ext cx="2400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Semantic Prompt Guard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финална анализа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локално и fail-closed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85B5D8-F1E9-49B2-8137-13F6D9C3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247900"/>
            <a:ext cx="2667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9525">
            <a:solidFill>
              <a:srgbClr val="A46F1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0FCFFB-1A9C-40E8-87D1-511D15FA2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3622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Оpcionално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135B0B-CBE6-41B3-A80A-C4E3F1242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57475"/>
            <a:ext cx="2400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OpenRouter provider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само со сопствен API key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не е активен по default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113D81-3473-4683-BC80-FD4F6721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09900"/>
            <a:ext cx="1409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C9F"/>
          </a:solidFill>
          <a:ln xmlns:a="http://schemas.openxmlformats.org/drawingml/2006/main" w="9525">
            <a:solidFill>
              <a:srgbClr val="1E5C9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49EA30-F679-4053-82FB-9A031AC33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09900"/>
            <a:ext cx="1409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F87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46A3AA-0C18-4AF6-A248-7EDDE5CF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10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9839C"/>
                </a:solidFill>
                <a:latin typeface="Consolas"/>
                <a:ea typeface="Consolas"/>
                <a:cs typeface="Consolas"/>
              </a:defRPr>
            </a:pPr>
            <a:r>
              <a:rPr sz="1125" b="0" i="0">
                <a:solidFill>
                  <a:srgbClr val="69839C"/>
                </a:solidFill>
                <a:latin typeface="Consolas"/>
                <a:ea typeface="Consolas"/>
                <a:cs typeface="Consolas"/>
              </a:rPr>
              <a:t>Nmap result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1D81C1-F27D-49FF-83D2-7D72EBFCE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100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9839C"/>
                </a:solidFill>
                <a:latin typeface="Consolas"/>
                <a:ea typeface="Consolas"/>
                <a:cs typeface="Consolas"/>
              </a:defRPr>
            </a:pPr>
            <a:r>
              <a:rPr sz="1125" b="0" i="0">
                <a:solidFill>
                  <a:srgbClr val="69839C"/>
                </a:solidFill>
                <a:latin typeface="Consolas"/>
                <a:ea typeface="Consolas"/>
                <a:cs typeface="Consolas"/>
              </a:rPr>
              <a:t>Guard + recommendations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EC8867-AD18-4765-AFE8-E655A00C5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210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9839C"/>
                </a:solidFill>
                <a:latin typeface="Consolas"/>
                <a:ea typeface="Consolas"/>
                <a:cs typeface="Consolas"/>
              </a:defRPr>
            </a:pPr>
            <a:r>
              <a:rPr sz="1125" b="0" i="0">
                <a:solidFill>
                  <a:srgbClr val="69839C"/>
                </a:solidFill>
                <a:latin typeface="Consolas"/>
                <a:ea typeface="Consolas"/>
                <a:cs typeface="Consolas"/>
              </a:rPr>
              <a:t>Provider swap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3E765C-C1C9-40A1-ACE6-DA6D1258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08204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DDD065-C6F8-48FB-9B39-5431ED9EA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Пример од демонстрацијата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55D5CF-877B-4421-9050-10AC9C2A5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149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5324B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15324B"/>
                </a:solidFill>
                <a:latin typeface="Consolas"/>
                <a:ea typeface="Consolas"/>
                <a:cs typeface="Consolas"/>
              </a:rPr>
              <a:t>triage = llama3.2:3b   •   final analysis = llama3.2:1b   •   guard = llama3.2:3b</a:t>
            </a:r>
          </a:p>
        </p:txBody>
      </p:sp>
    </p:spTree>
    <p:extLst>
      <p:ext uri="{BB962C8B-B14F-4D97-AF65-F5344CB8AC3E}">
        <p14:creationId xmlns:p14="http://schemas.microsoft.com/office/powerpoint/2010/main" val="118161418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818AC2-864C-42C0-81F2-64751C252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13  •  ЗАШТИТНИ МЕХАНИЗМИ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A19867-5DB7-4E5C-9F44-58560843A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Ethical guard пред секоја ризична акција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B38D66-9D05-4578-B5FE-90FCB102C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AEGIS блокира prompt injection, непотребна ексфилтрација и target надвор од дозволениот scope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51E025-9BA2-4F1B-BB15-5A8AF6576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1C2F6A-13B1-4A0B-BF26-A57EBB588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A9A396-0A83-415E-8610-3AEF52D8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112a47b08740f4"/>
          <a:stretch xmlns:a="http://schemas.openxmlformats.org/drawingml/2006/main"/>
        </p:blipFill>
        <p:spPr>
          <a:xfrm xmlns:a="http://schemas.openxmlformats.org/drawingml/2006/main">
            <a:off x="981740" y="1866900"/>
            <a:ext cx="3256221" cy="285750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fd978710644e86"/>
          <a:stretch xmlns:a="http://schemas.openxmlformats.org/drawingml/2006/main"/>
        </p:blipFill>
        <p:spPr>
          <a:xfrm xmlns:a="http://schemas.openxmlformats.org/drawingml/2006/main">
            <a:off x="4953000" y="2244686"/>
            <a:ext cx="4191000" cy="2101928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44235F-5E84-4CB3-838A-9904E97BD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866900"/>
            <a:ext cx="2190750" cy="285750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E9BAC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052987-9DB5-4026-89DF-2C3AE9C9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2098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C74762"/>
                </a:solidFill>
                <a:latin typeface="Consolas"/>
                <a:ea typeface="Consolas"/>
                <a:cs typeface="Consolas"/>
              </a:defRPr>
            </a:pPr>
            <a:r>
              <a:rPr sz="1800" b="1" i="0">
                <a:solidFill>
                  <a:srgbClr val="C74762"/>
                </a:solidFill>
                <a:latin typeface="Consolas"/>
                <a:ea typeface="Consolas"/>
                <a:cs typeface="Consolas"/>
              </a:rPr>
              <a:t>BLOCK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643E05-641C-4180-8AB9-C7D88A08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24150"/>
            <a:ext cx="1619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3F5970"/>
                </a:solidFill>
                <a:latin typeface="Consolas"/>
                <a:ea typeface="Consolas"/>
                <a:cs typeface="Consolas"/>
              </a:rPr>
              <a:t>tools_called = []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3F5970"/>
                </a:solidFill>
                <a:latin typeface="Consolas"/>
                <a:ea typeface="Consolas"/>
                <a:cs typeface="Consolas"/>
              </a:rPr>
              <a:t>policy.allowed = false</a:t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3F5970"/>
                </a:solidFill>
                <a:latin typeface="Consolas"/>
                <a:ea typeface="Consolas"/>
                <a:cs typeface="Consolas"/>
              </a:rPr>
              <a:t>scope.allowed = false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3F5970"/>
                </a:solidFill>
                <a:latin typeface="Consolas"/>
                <a:ea typeface="Consolas"/>
                <a:cs typeface="Consolas"/>
              </a:rPr>
              <a:t>LLM не добива команда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C480B5-3B14-4BD1-A0D3-5A70EC437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ALLOW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5A4524-5C52-4750-8466-9E2BB923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Безбедно едукативно прашање стигнува до локалниот LLM и добива одговор.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A17D01-F0D0-448E-9220-11D626DD4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19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C74762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C74762"/>
                </a:solidFill>
                <a:latin typeface="Consolas"/>
                <a:ea typeface="Consolas"/>
                <a:cs typeface="Consolas"/>
              </a:rPr>
              <a:t>BLOCK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D2CAF3-7D3C-4775-BC42-6C22E29F1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4864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Непознат target или обид за override се блокира пред алатката или моделот.</a:t>
            </a:r>
          </a:p>
        </p:txBody>
      </p:sp>
    </p:spTree>
    <p:extLst>
      <p:ext uri="{BB962C8B-B14F-4D97-AF65-F5344CB8AC3E}">
        <p14:creationId xmlns:p14="http://schemas.microsoft.com/office/powerpoint/2010/main" val="10790409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78417C-720D-4EBA-903F-1170BBE0E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14  •  КОНТРОЛИРАНА ВАЛИДАЦИЈА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A575A5-6D97-4B95-BD6F-6E6785F26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Metasploit каталог без автоматизиран напад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9FB8A2-59EF-4F6C-8248-E57EF4C4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AEGIS ги наоѓа соодветните модули за преглед, но автоматското извршување е строго исклучено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D2041C-7BAA-4B11-9C6D-330751B54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6D630D-CD15-4738-B53D-59B3633F6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913E1D-0F26-4E0F-847C-DE8B82348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3024f2833a451a"/>
          <a:stretch xmlns:a="http://schemas.openxmlformats.org/drawingml/2006/main"/>
        </p:blipFill>
        <p:spPr>
          <a:xfrm xmlns:a="http://schemas.openxmlformats.org/drawingml/2006/main">
            <a:off x="939504" y="1943100"/>
            <a:ext cx="2712043" cy="2076450"/>
          </a:xfrm>
          <a:prstGeom xmlns:a="http://schemas.openxmlformats.org/drawingml/2006/main" prst="roundRect">
            <a:avLst>
              <a:gd name="adj" fmla="val 5505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DC9538-0BFD-45FB-BB65-5CA53DD99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71950"/>
            <a:ext cx="33337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DECEF"/>
          </a:solidFill>
          <a:ln xmlns:a="http://schemas.openxmlformats.org/drawingml/2006/main" w="9525">
            <a:solidFill>
              <a:srgbClr val="E9BAC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66FDA4-7D72-419C-A4F5-0BFA4DC5A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243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C74762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C74762"/>
                </a:solidFill>
                <a:latin typeface="Consolas"/>
                <a:ea typeface="Consolas"/>
                <a:cs typeface="Consolas"/>
              </a:rPr>
              <a:t>1  •  LIST — локален каталог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FBB986-3BF3-4A2D-B6B7-E1469FB86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291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msfconsole listing; auxiliary кандидати; нула payload и execution.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4F0ACF-E75C-4FA4-B55C-7321EAD2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43100"/>
            <a:ext cx="3333750" cy="312420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F7BBDA-BF68-4EF7-9AEC-B6AA84B52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288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E5C9F"/>
                </a:solidFill>
                <a:latin typeface="Consolas"/>
                <a:ea typeface="Consolas"/>
                <a:cs typeface="Consolas"/>
              </a:defRPr>
            </a:pPr>
            <a:r>
              <a:rPr sz="1275" b="1" i="0">
                <a:solidFill>
                  <a:srgbClr val="1E5C9F"/>
                </a:solidFill>
                <a:latin typeface="Consolas"/>
                <a:ea typeface="Consolas"/>
                <a:cs typeface="Consolas"/>
              </a:rPr>
              <a:t>2  •  MATCH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7693D4-27C1-44F8-B12D-3D1368076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6670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AI селекција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EB4F70-2608-42D1-AB2B-3AFAA427F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219450"/>
            <a:ext cx="23812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llama3.2:3b споредува verified OPEN finding со листата на дозволени имиња. Моделот предлага match само ако каталогот врати кандидат. Параметрите се прикажуваат за едукативен преглед.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F8927C-2448-42CF-B65E-2ABA62DFD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333750" cy="312420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EAF8F4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EAAC15-9B63-4B86-BA89-7B1C09413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288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275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3  • 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0D6374-5742-40A8-B529-D4A91D12B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670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Човечка одлука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66E3BA-A9F2-4E69-916C-AD6C76BC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19450"/>
            <a:ext cx="23812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execution: disabled е задолжително. Операторот или професорот ги прегледува доказите, а секоја понатамошна офанзивна активност бара посебна, изолирана и одобрена средина.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F23288-68C4-4083-B64E-01C81990C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371850"/>
            <a:ext cx="466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C74762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C7476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B47AB6-DC64-4855-8E9F-7FA4C5C87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371850"/>
            <a:ext cx="466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E5C9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E5C9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6962D7-0102-4C5D-8E89-7F6FD882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578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A46F1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46F18"/>
                </a:solidFill>
                <a:latin typeface="Arial"/>
                <a:ea typeface="Arial"/>
                <a:cs typeface="Arial"/>
              </a:rPr>
              <a:t>Забелешка за Windows: каталогот е опционален. Ако локалната Ruby компонента е блокирана од Windows Security, статусот е UNAVAILABLE, а останатите делови на AEGIS продолжуваат нормално.</a:t>
            </a:r>
          </a:p>
        </p:txBody>
      </p:sp>
    </p:spTree>
    <p:extLst>
      <p:ext uri="{BB962C8B-B14F-4D97-AF65-F5344CB8AC3E}">
        <p14:creationId xmlns:p14="http://schemas.microsoft.com/office/powerpoint/2010/main" val="32862327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4F9626-40E7-4DCE-886F-F6D44D2BF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15  •  ДОКАЗИ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5B70BA-8D3D-4AE1-A380-F68DE3DA7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Извештај, audit trail и репродуктивност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2FC4AF-D0AF-4B7E-8ACE-92276D55A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Секој run остава трага што може да се прегледа и спореди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B00EEB-A759-43FB-ABE2-1182A2C28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5E0587-21D1-476A-830A-7C8660EE0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FD7961-26DA-40EA-B460-352B7E127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f94560018b47f5"/>
          <a:stretch xmlns:a="http://schemas.openxmlformats.org/drawingml/2006/main"/>
        </p:blipFill>
        <p:spPr>
          <a:xfrm xmlns:a="http://schemas.openxmlformats.org/drawingml/2006/main">
            <a:off x="590550" y="2259545"/>
            <a:ext cx="4191000" cy="2148410"/>
          </a:xfrm>
          <a:prstGeom xmlns:a="http://schemas.openxmlformats.org/drawingml/2006/main" prst="roundRect">
            <a:avLst>
              <a:gd name="adj" fmla="val 411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9969BF-7C69-4C5C-8F84-78C3AE216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943100"/>
            <a:ext cx="56197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6C71A5-F876-4984-9CEC-CB9BE4BAF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098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Што се запишува?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2A7C98-CC68-417F-A6C8-CFD5D5C9D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24150"/>
            <a:ext cx="4667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• target и scope одлука</a:t>
            </a:r>
          </a:p>
          <a:p xmlns:a="http://schemas.openxmlformats.org/drawingml/2006/main">
            <a:pPr>
              <a:defRPr sz="142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• точната алатка и нејзиниот резултат</a:t>
            </a:r>
          </a:p>
          <a:p xmlns:a="http://schemas.openxmlformats.org/drawingml/2006/main">
            <a:pPr>
              <a:defRPr sz="142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• моделот што ја направил triage анализата</a:t>
            </a:r>
          </a:p>
          <a:p xmlns:a="http://schemas.openxmlformats.org/drawingml/2006/main">
            <a:pPr>
              <a:defRPr sz="142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• verified finding и препорака</a:t>
            </a:r>
          </a:p>
          <a:p xmlns:a="http://schemas.openxmlformats.org/drawingml/2006/main">
            <a:pPr>
              <a:defRPr sz="142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• report ID и retest споредба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A19B6B-9F0A-48FA-9A76-8A180CBBC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24450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940A39-284A-4452-BBFD-AC6F58DD4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483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A46F1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A46F18"/>
                </a:solidFill>
                <a:latin typeface="Arial"/>
                <a:ea typeface="Arial"/>
                <a:cs typeface="Arial"/>
              </a:rPr>
              <a:t>Audit trail = оперативна трага за демонстрација и debugging. Не го претставуваме како криптографски immutable ledger.</a:t>
            </a:r>
          </a:p>
        </p:txBody>
      </p:sp>
    </p:spTree>
    <p:extLst>
      <p:ext uri="{BB962C8B-B14F-4D97-AF65-F5344CB8AC3E}">
        <p14:creationId xmlns:p14="http://schemas.microsoft.com/office/powerpoint/2010/main" val="92429088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C4E97B5-6CAC-4837-8E3F-5EC351D9E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16  •  ПОКРИЕНОСТ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387E17-3692-4B7B-8C9A-7875E6E57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Што е имплементирано и кои се границите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E8001B-8181-4F44-BA19-8423E9F78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Транспарентната проценка е дел од етичкиот дизајн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21B3D6-3AC3-4CA9-AE39-53EFEE4AC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2FA851-10D0-4491-9AE5-A490815F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272937-B297-4579-8579-E838FCDF0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A5D8D5-54A4-402D-850B-94C49247E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69839C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69839C"/>
                </a:solidFill>
                <a:latin typeface="Consolas"/>
                <a:ea typeface="Consolas"/>
                <a:cs typeface="Consolas"/>
              </a:rPr>
              <a:t>Барање / способност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F1D95E-3705-4086-90D7-F98D9191B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69839C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69839C"/>
                </a:solidFill>
                <a:latin typeface="Consolas"/>
                <a:ea typeface="Consolas"/>
                <a:cs typeface="Consolas"/>
              </a:rPr>
              <a:t>Статус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39469B-7790-49FC-A39F-A54826D51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047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E0DDE9-88FA-4DCB-B103-8A8B4D129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Nmap повик + agent triage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9A407F-9782-4AAD-8C35-96C3B6D4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050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B7F8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7F87"/>
                </a:solidFill>
                <a:latin typeface="Arial"/>
                <a:ea typeface="Arial"/>
                <a:cs typeface="Arial"/>
              </a:rPr>
              <a:t>Има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1C5821-C937-45B0-B0F6-475112ED8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047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B0EA64-66B4-4482-B93B-C9EFC8B3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Проверка на ранливост + report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C51CC6-6C7B-4064-B8EC-FC8A21BC1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813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B7F8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7F87"/>
                </a:solidFill>
                <a:latin typeface="Arial"/>
                <a:ea typeface="Arial"/>
                <a:cs typeface="Arial"/>
              </a:rPr>
              <a:t>Има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756C7C-64F8-47F8-BEC3-078490B0E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1047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3FEDCC-77F0-42C7-82A8-DFBD5C1A1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Patch → policy/retest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55A808-A9C0-4165-91EE-9B25F7FE3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575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B7F8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7F87"/>
                </a:solidFill>
                <a:latin typeface="Arial"/>
                <a:ea typeface="Arial"/>
                <a:cs typeface="Arial"/>
              </a:rPr>
              <a:t>Има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BC9F5B-6EEE-484B-A09D-81E69D5F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1047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164AD3-171D-44BC-8894-874BDE30F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Повеќе локални модели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BC6D5E-ABC0-489D-928A-60A4DFBB2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7338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B7F8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7F87"/>
                </a:solidFill>
                <a:latin typeface="Arial"/>
                <a:ea typeface="Arial"/>
                <a:cs typeface="Arial"/>
              </a:rPr>
              <a:t>Има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C99C5E-54B3-4BB8-ABB5-C089CC843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1047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95C3AD-A8B9-4CFB-98E9-FF846F4A3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00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Ethical scope и prompt блокирање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5E53EA-F8EF-4434-AE8C-B72BC31CA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2100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B7F8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7F87"/>
                </a:solidFill>
                <a:latin typeface="Arial"/>
                <a:ea typeface="Arial"/>
                <a:cs typeface="Arial"/>
              </a:rPr>
              <a:t>Има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C53152-6346-4BE7-88AE-FE97E2409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047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12215B-142B-479B-8A09-6078A76DC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863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Metasploit listing / match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D503F9-6CD9-4A9D-BE02-6F4A12795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863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A46F1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A46F18"/>
                </a:solidFill>
                <a:latin typeface="Arial"/>
                <a:ea typeface="Arial"/>
                <a:cs typeface="Arial"/>
              </a:rPr>
              <a:t>Делумно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BADD0E-ED8A-44BC-BBB8-09F2393ED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47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75E40F-4868-45D7-9CD8-A9178A5D3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625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Автоматски exploit / ексфилтрација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09B335-5DE3-48E3-96FF-DCA03DCD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1625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C74762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C74762"/>
                </a:solidFill>
                <a:latin typeface="Arial"/>
                <a:ea typeface="Arial"/>
                <a:cs typeface="Arial"/>
              </a:rPr>
              <a:t>Исклучено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BD8041-376F-4575-BEEA-32EB43136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47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B2847F-4059-47F2-A8B6-86AE01DF9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388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OpenRouter cloud модел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DCD3A0-C20D-438F-87ED-A87F0C94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6388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A46F1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A46F18"/>
                </a:solidFill>
                <a:latin typeface="Arial"/>
                <a:ea typeface="Arial"/>
                <a:cs typeface="Arial"/>
              </a:rPr>
              <a:t>Опционално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431D64-C5FE-4E16-86DA-DF24AB619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Оваа листа ја кажува реалната состојба: AEGIS демонстрира безбедна проценка, а не неконтролиран офанзивен автомат.</a:t>
            </a:r>
          </a:p>
        </p:txBody>
      </p:sp>
    </p:spTree>
    <p:extLst>
      <p:ext uri="{BB962C8B-B14F-4D97-AF65-F5344CB8AC3E}">
        <p14:creationId xmlns:p14="http://schemas.microsoft.com/office/powerpoint/2010/main" val="142484806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9973E1-DC22-4700-B308-9F546F8AD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17  •  ЗАКЛУЧОК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8A2D03-CA77-469F-B58D-3E711C97B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Што демонстрира AEGIS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3656F6-48CD-4B32-AD70-A1E65B72A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Безбедна и детерминистичка оркестрација на алатки и модели во локална лабораторија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145FC5-9E1A-4347-9884-7D02110E0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972A48-0086-458E-90BA-072DD7D08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2D1DC4-A9C1-45DD-8B20-A540482AD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7A5696-4D76-4504-9B92-AD135A4D0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25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267DBB-0CB7-461A-AB83-6CD5FF94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11455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Реален алат, а не симулација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3BF261-2878-45FA-BA15-119832CD0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9555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Nmap и Metasploit се повикуваат како системски процеси, а структурираниот резултат се предава на Triage агентот за анализа и контекст.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5A63FE-6FF2-4F5D-B633-B88DB3A3F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E5C9F"/>
                </a:solidFill>
                <a:latin typeface="Consolas"/>
                <a:ea typeface="Consolas"/>
                <a:cs typeface="Consolas"/>
              </a:defRPr>
            </a:pPr>
            <a:r>
              <a:rPr sz="2550" b="1" i="0">
                <a:solidFill>
                  <a:srgbClr val="1E5C9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8CC8B0-7D93-4B7D-B05B-074CD5D08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909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Проверлив и точен наод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FBB1CE-689C-47F8-81E7-8329A03A7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7190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Verifier модулите детерминистички одлучуваат OPEN, FIXED или NO_FINDING. LLM помага за контекст, објаснување и препорака, но не ја прогласува ранливоста.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06E253-9D88-4FAD-9B5C-D3FE2039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863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C74762"/>
                </a:solidFill>
                <a:latin typeface="Consolas"/>
                <a:ea typeface="Consolas"/>
                <a:cs typeface="Consolas"/>
              </a:defRPr>
            </a:pPr>
            <a:r>
              <a:rPr sz="2550" b="1" i="0">
                <a:solidFill>
                  <a:srgbClr val="C74762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DA561E-6B28-4F3D-B819-EA9012115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672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Строги етички граници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64D9DA-EEEE-49A8-9198-6C5903A4A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482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Scope, Prompt и Transfer заштитниците спречуваат надворешни мети, измамнички команди и истекување податоци. Офанзивното извршување останува исклучено.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B27083-CE08-42EA-A27A-F51287276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38350"/>
            <a:ext cx="4286250" cy="327660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D4BB3F-F065-40DA-B2F2-09624A5D5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36220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Демо редослед за одбрана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5EE128-8E4B-4F84-9203-99E885D9C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52750"/>
            <a:ext cx="3238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3F5970"/>
                </a:solidFill>
                <a:latin typeface="Consolas"/>
                <a:ea typeface="Consolas"/>
                <a:cs typeface="Consolas"/>
              </a:defRPr>
            </a:pPr>
            <a:r>
              <a:rPr sz="1500" b="0" i="0">
                <a:solidFill>
                  <a:srgbClr val="3F5970"/>
                </a:solidFill>
                <a:latin typeface="Consolas"/>
                <a:ea typeface="Consolas"/>
                <a:cs typeface="Consolas"/>
              </a:rPr>
              <a:t>1  Discover + approve</a:t>
            </a:r>
          </a:p>
          <a:p xmlns:a="http://schemas.openxmlformats.org/drawingml/2006/main">
            <a:pPr>
              <a:defRPr sz="1500" b="0" i="0">
                <a:solidFill>
                  <a:srgbClr val="3F5970"/>
                </a:solidFill>
                <a:latin typeface="Consolas"/>
                <a:ea typeface="Consolas"/>
                <a:cs typeface="Consolas"/>
              </a:defRPr>
            </a:pPr>
            <a:r>
              <a:rPr sz="1500" b="0" i="0">
                <a:solidFill>
                  <a:srgbClr val="3F5970"/>
                </a:solidFill>
                <a:latin typeface="Consolas"/>
                <a:ea typeface="Consolas"/>
                <a:cs typeface="Consolas"/>
              </a:rPr>
              <a:t>2  Run web-lab → NO_FINDING</a:t>
            </a:r>
          </a:p>
          <a:p xmlns:a="http://schemas.openxmlformats.org/drawingml/2006/main">
            <a:pPr>
              <a:defRPr sz="1500" b="0" i="0">
                <a:solidFill>
                  <a:srgbClr val="3F5970"/>
                </a:solidFill>
                <a:latin typeface="Consolas"/>
                <a:ea typeface="Consolas"/>
                <a:cs typeface="Consolas"/>
              </a:defRPr>
            </a:pPr>
            <a:r>
              <a:rPr sz="1500" b="0" i="0">
                <a:solidFill>
                  <a:srgbClr val="3F5970"/>
                </a:solidFill>
                <a:latin typeface="Consolas"/>
                <a:ea typeface="Consolas"/>
                <a:cs typeface="Consolas"/>
              </a:rPr>
              <a:t>3  Run redis-lab → OPEN</a:t>
            </a:r>
          </a:p>
          <a:p xmlns:a="http://schemas.openxmlformats.org/drawingml/2006/main">
            <a:pPr>
              <a:defRPr sz="1500" b="0" i="0">
                <a:solidFill>
                  <a:srgbClr val="3F5970"/>
                </a:solidFill>
                <a:latin typeface="Consolas"/>
                <a:ea typeface="Consolas"/>
                <a:cs typeface="Consolas"/>
              </a:defRPr>
            </a:pPr>
            <a:r>
              <a:rPr sz="1500" b="0" i="0">
                <a:solidFill>
                  <a:srgbClr val="3F5970"/>
                </a:solidFill>
                <a:latin typeface="Consolas"/>
                <a:ea typeface="Consolas"/>
                <a:cs typeface="Consolas"/>
              </a:rPr>
              <a:t>4  Patch Redis</a:t>
            </a:r>
          </a:p>
          <a:p xmlns:a="http://schemas.openxmlformats.org/drawingml/2006/main">
            <a:pPr>
              <a:defRPr sz="1500" b="0" i="0">
                <a:solidFill>
                  <a:srgbClr val="3F5970"/>
                </a:solidFill>
                <a:latin typeface="Consolas"/>
                <a:ea typeface="Consolas"/>
                <a:cs typeface="Consolas"/>
              </a:defRPr>
            </a:pPr>
            <a:r>
              <a:rPr sz="1500" b="0" i="0">
                <a:solidFill>
                  <a:srgbClr val="3F5970"/>
                </a:solidFill>
                <a:latin typeface="Consolas"/>
                <a:ea typeface="Consolas"/>
                <a:cs typeface="Consolas"/>
              </a:rPr>
              <a:t>5  Retest → FIXED</a:t>
            </a:r>
          </a:p>
          <a:p xmlns:a="http://schemas.openxmlformats.org/drawingml/2006/main">
            <a:pPr>
              <a:defRPr sz="1500" b="0" i="0">
                <a:solidFill>
                  <a:srgbClr val="3F5970"/>
                </a:solidFill>
                <a:latin typeface="Consolas"/>
                <a:ea typeface="Consolas"/>
                <a:cs typeface="Consolas"/>
              </a:defRPr>
            </a:pPr>
            <a:r>
              <a:rPr sz="1500" b="0" i="0">
                <a:solidFill>
                  <a:srgbClr val="3F5970"/>
                </a:solidFill>
                <a:latin typeface="Consolas"/>
                <a:ea typeface="Consolas"/>
                <a:cs typeface="Consolas"/>
              </a:rPr>
              <a:t>6  Prompt BLOCK + transfer BLOCK</a:t>
            </a:r>
          </a:p>
        </p:txBody>
      </p:sp>
    </p:spTree>
    <p:extLst>
      <p:ext uri="{BB962C8B-B14F-4D97-AF65-F5344CB8AC3E}">
        <p14:creationId xmlns:p14="http://schemas.microsoft.com/office/powerpoint/2010/main" val="18204751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2026-09-22T15:08:13.7600000Z</dcterms:created>
  <dcterms:modified xsi:type="dcterms:W3CDTF">2026-09-22T15:08:13.7600000Z</dcterms:modified>
</coreProperties>
</file>