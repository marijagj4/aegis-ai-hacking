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14bca3e38c14f51" /><Relationship Type="http://schemas.openxmlformats.org/officeDocument/2006/relationships/extended-properties" Target="/docProps/app.xml" Id="Reaafde72099b4eea" /><Relationship Type="http://schemas.openxmlformats.org/officeDocument/2006/relationships/officeDocument" Target="/ppt/presentation.xml" Id="R532e3657a6e24de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4e39c0c3b854b33"/>
  </p:sldMasterIdLst>
  <p:notesMasterIdLst>
    <p:notesMasterId xmlns:r="http://schemas.openxmlformats.org/officeDocument/2006/relationships" r:id="R0e6c3c19eda34168"/>
  </p:notesMasterIdLst>
  <p:sldIdLst>
    <p:sldId xmlns:r="http://schemas.openxmlformats.org/officeDocument/2006/relationships" id="256" r:id="R35c56093cdf14393"/>
    <p:sldId xmlns:r="http://schemas.openxmlformats.org/officeDocument/2006/relationships" id="257" r:id="R043bbd14aa5043fc"/>
    <p:sldId xmlns:r="http://schemas.openxmlformats.org/officeDocument/2006/relationships" id="258" r:id="Rb3bcc77f33e942be"/>
    <p:sldId xmlns:r="http://schemas.openxmlformats.org/officeDocument/2006/relationships" id="259" r:id="R8ea9dae4ed8748eb"/>
    <p:sldId xmlns:r="http://schemas.openxmlformats.org/officeDocument/2006/relationships" id="260" r:id="R04f5790a677d4596"/>
    <p:sldId xmlns:r="http://schemas.openxmlformats.org/officeDocument/2006/relationships" id="261" r:id="R2604b284fbc34b90"/>
    <p:sldId xmlns:r="http://schemas.openxmlformats.org/officeDocument/2006/relationships" id="262" r:id="Re8adc0b171ca4f5b"/>
    <p:sldId xmlns:r="http://schemas.openxmlformats.org/officeDocument/2006/relationships" id="263" r:id="R52405b6242af4c11"/>
    <p:sldId xmlns:r="http://schemas.openxmlformats.org/officeDocument/2006/relationships" id="264" r:id="R3ba029d2ee3644f8"/>
    <p:sldId xmlns:r="http://schemas.openxmlformats.org/officeDocument/2006/relationships" id="265" r:id="R0f35654b402a4c40"/>
    <p:sldId xmlns:r="http://schemas.openxmlformats.org/officeDocument/2006/relationships" id="266" r:id="R68c9774282dc45a2"/>
    <p:sldId xmlns:r="http://schemas.openxmlformats.org/officeDocument/2006/relationships" id="267" r:id="R140e103cf9da4be7"/>
    <p:sldId xmlns:r="http://schemas.openxmlformats.org/officeDocument/2006/relationships" id="268" r:id="Rc447199679be40d8"/>
    <p:sldId xmlns:r="http://schemas.openxmlformats.org/officeDocument/2006/relationships" id="269" r:id="R646a0562f5a241dc"/>
    <p:sldId xmlns:r="http://schemas.openxmlformats.org/officeDocument/2006/relationships" id="270" r:id="Rc7ab75a8d3464076"/>
    <p:sldId xmlns:r="http://schemas.openxmlformats.org/officeDocument/2006/relationships" id="271" r:id="Rd5ef3e2e15684d1e"/>
    <p:sldId xmlns:r="http://schemas.openxmlformats.org/officeDocument/2006/relationships" id="272" r:id="R429a033e05c142f9"/>
    <p:sldId xmlns:r="http://schemas.openxmlformats.org/officeDocument/2006/relationships" id="273" r:id="R5ca30c3ee515486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939af8806f5471e" /><Relationship Type="http://schemas.openxmlformats.org/officeDocument/2006/relationships/slideMaster" Target="/ppt/slideMasters/slideMaster1.xml" Id="R04e39c0c3b854b33" /><Relationship Type="http://schemas.openxmlformats.org/officeDocument/2006/relationships/notesMaster" Target="/ppt/notesMasters/notesMaster1.xml" Id="R0e6c3c19eda34168" /><Relationship Type="http://schemas.openxmlformats.org/officeDocument/2006/relationships/presProps" Target="/ppt/presProps.xml" Id="R1f793659a3954337" /><Relationship Type="http://schemas.openxmlformats.org/officeDocument/2006/relationships/tableStyles" Target="/ppt/tableStyles.xml" Id="Re6a0ccca578e4030" /><Relationship Type="http://schemas.openxmlformats.org/officeDocument/2006/relationships/slide" Target="/ppt/slides/slide1.xml" Id="R35c56093cdf14393" /><Relationship Type="http://schemas.openxmlformats.org/officeDocument/2006/relationships/slide" Target="/ppt/slides/slide2.xml" Id="R043bbd14aa5043fc" /><Relationship Type="http://schemas.openxmlformats.org/officeDocument/2006/relationships/slide" Target="/ppt/slides/slide3.xml" Id="Rb3bcc77f33e942be" /><Relationship Type="http://schemas.openxmlformats.org/officeDocument/2006/relationships/slide" Target="/ppt/slides/slide4.xml" Id="R8ea9dae4ed8748eb" /><Relationship Type="http://schemas.openxmlformats.org/officeDocument/2006/relationships/slide" Target="/ppt/slides/slide5.xml" Id="R04f5790a677d4596" /><Relationship Type="http://schemas.openxmlformats.org/officeDocument/2006/relationships/slide" Target="/ppt/slides/slide6.xml" Id="R2604b284fbc34b90" /><Relationship Type="http://schemas.openxmlformats.org/officeDocument/2006/relationships/slide" Target="/ppt/slides/slide7.xml" Id="Re8adc0b171ca4f5b" /><Relationship Type="http://schemas.openxmlformats.org/officeDocument/2006/relationships/slide" Target="/ppt/slides/slide8.xml" Id="R52405b6242af4c11" /><Relationship Type="http://schemas.openxmlformats.org/officeDocument/2006/relationships/slide" Target="/ppt/slides/slide9.xml" Id="R3ba029d2ee3644f8" /><Relationship Type="http://schemas.openxmlformats.org/officeDocument/2006/relationships/slide" Target="/ppt/slides/slide10.xml" Id="R0f35654b402a4c40" /><Relationship Type="http://schemas.openxmlformats.org/officeDocument/2006/relationships/slide" Target="/ppt/slides/slide11.xml" Id="R68c9774282dc45a2" /><Relationship Type="http://schemas.openxmlformats.org/officeDocument/2006/relationships/slide" Target="/ppt/slides/slide12.xml" Id="R140e103cf9da4be7" /><Relationship Type="http://schemas.openxmlformats.org/officeDocument/2006/relationships/slide" Target="/ppt/slides/slide13.xml" Id="Rc447199679be40d8" /><Relationship Type="http://schemas.openxmlformats.org/officeDocument/2006/relationships/slide" Target="/ppt/slides/slide14.xml" Id="R646a0562f5a241dc" /><Relationship Type="http://schemas.openxmlformats.org/officeDocument/2006/relationships/slide" Target="/ppt/slides/slide15.xml" Id="Rc7ab75a8d3464076" /><Relationship Type="http://schemas.openxmlformats.org/officeDocument/2006/relationships/slide" Target="/ppt/slides/slide16.xml" Id="Rd5ef3e2e15684d1e" /><Relationship Type="http://schemas.openxmlformats.org/officeDocument/2006/relationships/slide" Target="/ppt/slides/slide17.xml" Id="R429a033e05c142f9" /><Relationship Type="http://schemas.openxmlformats.org/officeDocument/2006/relationships/slide" Target="/ppt/slides/slide18.xml" Id="R5ca30c3ee515486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8bcc4ab89dc474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ad7dc7a899845fb" /><Relationship Type="http://schemas.openxmlformats.org/officeDocument/2006/relationships/notesMaster" Target="/ppt/notesMasters/notesMaster1.xml" Id="R23ea42d6d718490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f7b1fd55c884d1f" /><Relationship Type="http://schemas.openxmlformats.org/officeDocument/2006/relationships/notesMaster" Target="/ppt/notesMasters/notesMaster1.xml" Id="R946956148611470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8b5258e26884cbb" /><Relationship Type="http://schemas.openxmlformats.org/officeDocument/2006/relationships/notesMaster" Target="/ppt/notesMasters/notesMaster1.xml" Id="R484142c06ebc4d6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89449e272284ce3" /><Relationship Type="http://schemas.openxmlformats.org/officeDocument/2006/relationships/notesMaster" Target="/ppt/notesMasters/notesMaster1.xml" Id="R3f48084cd433422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890ccf325f04266" /><Relationship Type="http://schemas.openxmlformats.org/officeDocument/2006/relationships/notesMaster" Target="/ppt/notesMasters/notesMaster1.xml" Id="R7242a0d57d58467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f2e6e780bb647b4" /><Relationship Type="http://schemas.openxmlformats.org/officeDocument/2006/relationships/notesMaster" Target="/ppt/notesMasters/notesMaster1.xml" Id="R7e6c918ac9c748b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c3efc15cddf4cc4" /><Relationship Type="http://schemas.openxmlformats.org/officeDocument/2006/relationships/notesMaster" Target="/ppt/notesMasters/notesMaster1.xml" Id="R171ac368a500418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cb3aa2c9883423a" /><Relationship Type="http://schemas.openxmlformats.org/officeDocument/2006/relationships/notesMaster" Target="/ppt/notesMasters/notesMaster1.xml" Id="Re28337b9b1804eb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84698c9c0a04071" /><Relationship Type="http://schemas.openxmlformats.org/officeDocument/2006/relationships/notesMaster" Target="/ppt/notesMasters/notesMaster1.xml" Id="R02f92d3bd4554be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0d1849cf1124c0f" /><Relationship Type="http://schemas.openxmlformats.org/officeDocument/2006/relationships/notesMaster" Target="/ppt/notesMasters/notesMaster1.xml" Id="Rfb6b07d0f9d34f7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0bede019b2e45b5" /><Relationship Type="http://schemas.openxmlformats.org/officeDocument/2006/relationships/notesMaster" Target="/ppt/notesMasters/notesMaster1.xml" Id="Radba3c62da36471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87eb2744df9487c" /><Relationship Type="http://schemas.openxmlformats.org/officeDocument/2006/relationships/notesMaster" Target="/ppt/notesMasters/notesMaster1.xml" Id="Raba5f15cdc56481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33dce8087de49d4" /><Relationship Type="http://schemas.openxmlformats.org/officeDocument/2006/relationships/notesMaster" Target="/ppt/notesMasters/notesMaster1.xml" Id="R788de8da13df489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e831723c6984b29" /><Relationship Type="http://schemas.openxmlformats.org/officeDocument/2006/relationships/notesMaster" Target="/ppt/notesMasters/notesMaster1.xml" Id="R11e549389ca74d3d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457774d999e74eb2" /><Relationship Type="http://schemas.openxmlformats.org/officeDocument/2006/relationships/notesMaster" Target="/ppt/notesMasters/notesMaster1.xml" Id="Rce8ca236d3454438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adb953edcef943f2" /><Relationship Type="http://schemas.openxmlformats.org/officeDocument/2006/relationships/notesMaster" Target="/ppt/notesMasters/notesMaster1.xml" Id="Ra4bdb67b5fc145c1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2cb3efa2c83a4c82" /><Relationship Type="http://schemas.openxmlformats.org/officeDocument/2006/relationships/notesMaster" Target="/ppt/notesMasters/notesMaster1.xml" Id="Rd9609979bf7f462c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3ead5dec6bf84db9" /><Relationship Type="http://schemas.openxmlformats.org/officeDocument/2006/relationships/notesMaster" Target="/ppt/notesMasters/notesMaster1.xml" Id="R97d6ad83bbeb43f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На овој слајд го претставувам AEGIS како локална, контролирана Purple-Team платформа. Главната идеја е да го спојам реалното скенирање со Nmap и проверката на сервисот со локални јазични модели, но моделот никогаш сам не прогласува ранливост.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Воведот треба да ја постави разликата меѓу откривање и докажување. Nmap може да каже дека сервисот слуша на порта, но AEGIS користи специјализиран верификатор: за Redis проверува дали бара автентикација, а за веб сервисот само потврдува дека сервисот одговара.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Овој слајд ја користи аналогијата со куќа. Red Team гледа дали портата е отворена и дали Redis прифаќа PING без клуч. Blue Team применува политика, ја блокира ексфилтрацијата и додава requirepass. Purple Team ја споредува состојбата OPEN со состојбата после закрпата и бара FIXED.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Архитектурата е поделена во слоеви. FastAPI не се поврзува директно со произволен интернет домаќин. Target registry прво открива Docker лаборатории со AEGIS labels, а корисникот мора рачно да одобри една. Дури потоа се повикуваат Nmap и верификаторот.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Ова е првиот вистински чекор во интерфејсот. Discover не скенира мрежа, туку ги бара активните Docker контејнери со AEGIS labels. Тие почнуваат како PENDING. Корисникот мора да избере и да одобри. Без тоа, Policy и Ethical Scope Guard го стопираат assessment-от пред Nmap.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Web и Redis се две различни лаборатории. Web сервисот е за service discovery и намерно нема verified finding. Redis е сценариото со наод: прво OPEN кога PING поминува без лозинка, а потоа FIXED кога PING враќа NOAUTH. Ако target не е approved, резултатот е BLOCKED пред алатките.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Моделот за Nmap triage не одлучува дали постои ранливост. Тој само го класифицира сервисот и дава контекст. Semantic Prompt Guard е посилен локален модел кој ги проверува prompt-ите. Финалната анализа може да користи друг модел, но препораката секогаш доаѓа после детерминистичкиот verifier.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Каталогот е посебен чекор помеѓу Report и Retest. Тој не стартува exploit, туку само овозможува listing и controlled match за верификуван OPEN finding. После тоа операторот внесува закрпа, а Retest ја проверува состојбата повторно.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Пред демонстрацијата се нагласува дека околината е лабораторија, а не production мрежа. Docker Compose ги подига двата сервиси. Target registry не чита произволни адреси, туку бара локални Docker labels и 127.0.0.1 port binding.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Во првото Redis сценарио target registry го открива redis-lab и корисникот го одобрува. Nmap гледа дека портата е отворена, но RedisAccessVerifier прави вистинска проверка: PING враќа +PONG и Redis прифаќа команда без authentication. Тоа е моментот кога системот создава проверен OPEN наод.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После remediation во compose е додаден Redis requirepass. Retest повторно го повикува Nmap и Redis verifier. Port 6380 останува open, но директниот PING без лозинка враќа -NOAUTH. Затоа AEGIS ја означува состојбата како FIXED, а не затоа што портата исчезнала.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Ова сценарио покажува важна граница. Отворената веб порта и HTTP одговорот се service discovery, не доказ за exploitability. AEGIS го задржува NO_FINDING за да избегне претерано тврдење.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На овој слајд покажувам дека multi-model не значи дека моделите се случајно сменети. Секој има улога. Во UI може да се постави модел за Nmap triage и друг за финална анализа. Semantic guard останува посебен и fail-closed. OpenRouter е подготвен како опционален provider, но локалниот режим е основниот демонстрациски режим.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Овде ја покажувам разликата меѓу Policy/Ethical Scope Guard и Semantic Prompt Guard. Првиот контролира каде смее да се работи, вториот контролира што смее да стигне до LLM. Ако target не е одобрен, Nmap воопшто не се повикува. Ако prompt се обидува да ги заобиколи правилата, моделот не добива input.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Ова е намерно ограничен дел. Кодот го поддржува listing и match, но AEGIS не извршува Metasploit exploit. Тоа е коректно за етичка лабораторија. Во моменталната конфигурација native Ruby делот може да биде блокиран од Windows Security, па не треба да тврдиме дека имаме демонстриран exploit.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Извештајот е Markdown и се зачувува во reports директориумот. Audit trail е append-only JSONL на апликациско ниво. Тоа е доволно за лабораториска демонстрација и за да се види кој агент што направил, но не го нарекувам криптографски immutable систем.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Овој слајд е корисен ако професорот праша што точно е завршено. Не тврдам дека има активен exploit. Има локален Nmap, агенти, verifier, multi-model, reports и retest. Metasploit делот е listing/match со execution disabled, а OpenRouter е само опционален provider.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На крајот го поврзувам целиот проект со кратка демонстрација: прво web NO_FINDING, потоа Redis OPEN, рачна закрпа, Redis FIXED retest, а на крај prompt и transfer BLOCK. Така професорот гледа и реален алат, и LLM, и заштитни механизми.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803b7a6c117429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635051dd9ff4791" /><Relationship Type="http://schemas.openxmlformats.org/officeDocument/2006/relationships/slideLayout" Target="/ppt/slideLayouts/slideLayout1.xml" Id="Rf0288dab1c2a45b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0288dab1c2a45b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8ad0278f1d42f4" /><Relationship Type="http://schemas.openxmlformats.org/officeDocument/2006/relationships/image" Target="/ppt/media/image.png" Id="R2230968422b5424c" /><Relationship Type="http://schemas.openxmlformats.org/officeDocument/2006/relationships/notesSlide" Target="/ppt/notesSlides/notesSlide1.xml" Id="R902c82c57d9b470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3cc8ae29cd41f9" /><Relationship Type="http://schemas.openxmlformats.org/officeDocument/2006/relationships/notesSlide" Target="/ppt/notesSlides/notesSlide2.xml" Id="Ra10059d8c6e3484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766dc6355b4267" /><Relationship Type="http://schemas.openxmlformats.org/officeDocument/2006/relationships/notesSlide" Target="/ppt/notesSlides/notesSlide3.xml" Id="R056bea37919b4a3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92438fced74d30" /><Relationship Type="http://schemas.openxmlformats.org/officeDocument/2006/relationships/notesSlide" Target="/ppt/notesSlides/notesSlide4.xml" Id="R6a3494551df948a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ccc70225e94fbd" /><Relationship Type="http://schemas.openxmlformats.org/officeDocument/2006/relationships/image" Target="/ppt/media/image2.png" Id="R8bf856bd6c0b46e5" /><Relationship Type="http://schemas.openxmlformats.org/officeDocument/2006/relationships/notesSlide" Target="/ppt/notesSlides/notesSlide5.xml" Id="R0e205fd739b24f8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31bcf4c9d04f0d" /><Relationship Type="http://schemas.openxmlformats.org/officeDocument/2006/relationships/image" Target="/ppt/media/image3.png" Id="Ra102595a32f1424c" /><Relationship Type="http://schemas.openxmlformats.org/officeDocument/2006/relationships/notesSlide" Target="/ppt/notesSlides/notesSlide6.xml" Id="R97872f5f9ecb495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553516a3da442e" /><Relationship Type="http://schemas.openxmlformats.org/officeDocument/2006/relationships/notesSlide" Target="/ppt/notesSlides/notesSlide7.xml" Id="Rf787c350004142e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f98afe0ac34ec8" /><Relationship Type="http://schemas.openxmlformats.org/officeDocument/2006/relationships/notesSlide" Target="/ppt/notesSlides/notesSlide8.xml" Id="R22764a10ac774d7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6b128139014a8b" /><Relationship Type="http://schemas.openxmlformats.org/officeDocument/2006/relationships/notesSlide" Target="/ppt/notesSlides/notesSlide9.xml" Id="Rdf2c62cd205245c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848eea7f6c4033" /><Relationship Type="http://schemas.openxmlformats.org/officeDocument/2006/relationships/image" Target="/ppt/media/image4.png" Id="Rc6a34ccdb805458a" /><Relationship Type="http://schemas.openxmlformats.org/officeDocument/2006/relationships/notesSlide" Target="/ppt/notesSlides/notesSlide10.xml" Id="Rcc75103ddfad402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c0a6faee3241cc" /><Relationship Type="http://schemas.openxmlformats.org/officeDocument/2006/relationships/image" Target="/ppt/media/image5.png" Id="R794cecd0b1c2424e" /><Relationship Type="http://schemas.openxmlformats.org/officeDocument/2006/relationships/notesSlide" Target="/ppt/notesSlides/notesSlide11.xml" Id="Rfa12574fd66e45f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3edec260714a2f" /><Relationship Type="http://schemas.openxmlformats.org/officeDocument/2006/relationships/notesSlide" Target="/ppt/notesSlides/notesSlide12.xml" Id="R1801efa8567f4d1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7ba36320284dcb" /><Relationship Type="http://schemas.openxmlformats.org/officeDocument/2006/relationships/notesSlide" Target="/ppt/notesSlides/notesSlide13.xml" Id="Re4893c46a96448d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9dba24bee242be" /><Relationship Type="http://schemas.openxmlformats.org/officeDocument/2006/relationships/image" Target="/ppt/media/image6.png" Id="Rcca526b586434d88" /><Relationship Type="http://schemas.openxmlformats.org/officeDocument/2006/relationships/image" Target="/ppt/media/image7.png" Id="R01cbc03fefb243d4" /><Relationship Type="http://schemas.openxmlformats.org/officeDocument/2006/relationships/notesSlide" Target="/ppt/notesSlides/notesSlide14.xml" Id="R9b2cf7dfd44d4133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176258009143c1" /><Relationship Type="http://schemas.openxmlformats.org/officeDocument/2006/relationships/notesSlide" Target="/ppt/notesSlides/notesSlide15.xml" Id="Rdd36fe413cd7482d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edc58df55343cc" /><Relationship Type="http://schemas.openxmlformats.org/officeDocument/2006/relationships/notesSlide" Target="/ppt/notesSlides/notesSlide16.xml" Id="R2d4f386b4d474e6f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99d05686fd450e" /><Relationship Type="http://schemas.openxmlformats.org/officeDocument/2006/relationships/notesSlide" Target="/ppt/notesSlides/notesSlide17.xml" Id="Rd99d521301a24158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d7f6c400a24bc9" /><Relationship Type="http://schemas.openxmlformats.org/officeDocument/2006/relationships/notesSlide" Target="/ppt/notesSlides/notesSlide18.xml" Id="R2bbc42cce798406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EAF4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39C373-1746-4E5C-B3BD-393E2DAA0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EAF4FF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5532E0-DAE9-46B5-8A95-E7D7FCEE1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F87"/>
          </a:solidFill>
          <a:ln xmlns:a="http://schemas.openxmlformats.org/drawingml/2006/main" w="9525">
            <a:solidFill>
              <a:srgbClr val="0B7F87"/>
            </a:solidFill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30968422b5424c"/>
          <a:stretch xmlns:a="http://schemas.openxmlformats.org/drawingml/2006/main"/>
        </p:blipFill>
        <p:spPr>
          <a:xfrm xmlns:a="http://schemas.openxmlformats.org/drawingml/2006/main">
            <a:off x="7905750" y="904875"/>
            <a:ext cx="3143250" cy="3143250"/>
          </a:xfrm>
          <a:prstGeom xmlns:a="http://schemas.openxmlformats.org/drawingml/2006/main" prst="roundRect">
            <a:avLst>
              <a:gd name="adj" fmla="val 3636"/>
            </a:avLst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FF2B32-4C3E-4D49-A972-23E5543A5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0B7F87"/>
                </a:solidFill>
                <a:latin typeface="Consolas"/>
                <a:ea typeface="Consolas"/>
                <a:cs typeface="Consolas"/>
              </a:defRPr>
            </a:pPr>
            <a:r>
              <a:rPr sz="1200" b="1" i="0">
                <a:solidFill>
                  <a:srgbClr val="0B7F87"/>
                </a:solidFill>
                <a:latin typeface="Consolas"/>
                <a:ea typeface="Consolas"/>
                <a:cs typeface="Consolas"/>
              </a:rPr>
              <a:t>ПРОЕКТНА ПРЕЗЕНТАЦИЈА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292D9F-8A6B-4370-B671-E827E1C3D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57300"/>
            <a:ext cx="6191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550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5550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AEGIS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EB9D15-3CE7-44B0-9215-CAE774747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05050"/>
            <a:ext cx="6667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Агентно базирано етичко хакирање со LLM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27F1BE-6778-484C-A770-1FFDFAC21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38500"/>
            <a:ext cx="619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Локална Purple-Team платформа за проценка, верификација и ретестирање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DA36D4-F7E6-4E29-989E-FBB5605CC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00550"/>
            <a:ext cx="4895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5F8C"/>
          </a:solidFill>
          <a:ln xmlns:a="http://schemas.openxmlformats.org/drawingml/2006/main" w="9525">
            <a:solidFill>
              <a:srgbClr val="2E5F8C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D65394-8F9F-42D6-B3F4-CB1F38B0C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291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Docker лабораторија  •  Nmap  •  Ollama  •  Policy &amp; Ethical Guards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1A30D7-7820-4964-8F93-E5670F7FF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8483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69839C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9839C"/>
                </a:solidFill>
                <a:latin typeface="Arial"/>
                <a:ea typeface="Arial"/>
                <a:cs typeface="Arial"/>
              </a:rPr>
              <a:t>Изработила: Марија Ѓорѓиева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8D81C1-9734-4BC9-A0C0-F3A38FBEA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584835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69839C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9839C"/>
                </a:solidFill>
                <a:latin typeface="Arial"/>
                <a:ea typeface="Arial"/>
                <a:cs typeface="Arial"/>
              </a:rPr>
              <a:t>2026</a:t>
            </a:r>
          </a:p>
        </p:txBody>
      </p:sp>
    </p:spTree>
    <p:extLst>
      <p:ext uri="{BB962C8B-B14F-4D97-AF65-F5344CB8AC3E}">
        <p14:creationId xmlns:p14="http://schemas.microsoft.com/office/powerpoint/2010/main" val="8948403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EAF4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3EBF84B-674A-4DC4-87B1-6439ADB80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0B7F8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0B7F87"/>
                </a:solidFill>
                <a:latin typeface="Consolas"/>
                <a:ea typeface="Consolas"/>
                <a:cs typeface="Consolas"/>
              </a:rPr>
              <a:t>01  •  ВОВЕД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6058D5-D0EB-4D69-9900-DE8482262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Зошто AEGIS?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99F8DE-260C-4AF1-9B4C-18BE902D4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0490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LLM може да помогне во анализа, но без контрола може да донесе погрешна или ризична одлука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264BE2-5A5F-4128-A93B-92B1FE895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478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5F8C"/>
          </a:solidFill>
          <a:ln xmlns:a="http://schemas.openxmlformats.org/drawingml/2006/main" w="9525">
            <a:solidFill>
              <a:srgbClr val="2E5F8C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B7D218-B88D-4BC9-8C18-3D367FE81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69839C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9839C"/>
                </a:solidFill>
                <a:latin typeface="Arial"/>
                <a:ea typeface="Arial"/>
                <a:cs typeface="Arial"/>
              </a:rPr>
              <a:t>AEGIS  •  локална Purple-Team лабораторија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B0449C-302C-4D24-8672-AE9F28834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532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69839C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9839C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85FBB6-FED2-4C35-81D8-ADCE1A7E1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85950"/>
            <a:ext cx="33337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8FCFF"/>
          </a:solidFill>
          <a:ln xmlns:a="http://schemas.openxmlformats.org/drawingml/2006/main" w="9525">
            <a:solidFill>
              <a:srgbClr val="D3DEE9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59FDE9-35FA-4E5C-B7DE-0C4FC3155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85950"/>
            <a:ext cx="57150" cy="2095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4762"/>
          </a:solidFill>
          <a:ln xmlns:a="http://schemas.openxmlformats.org/drawingml/2006/main" w="9525">
            <a:solidFill>
              <a:srgbClr val="C74762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BD059F-544F-4E82-8754-180C6FFEE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38350"/>
            <a:ext cx="2990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Проблем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FEF4C4-0222-4183-A88B-681F97ECE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00300"/>
            <a:ext cx="299085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Обично скенирање покажува дека портата е отворена. Тоа само по себе не докажува ранливост и не кажува дали проблемот е поправен.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02F26E-CF09-40F9-985E-554951447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885950"/>
            <a:ext cx="33337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8FCFF"/>
          </a:solidFill>
          <a:ln xmlns:a="http://schemas.openxmlformats.org/drawingml/2006/main" w="9525">
            <a:solidFill>
              <a:srgbClr val="D3DEE9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DDE45D-B666-4495-91EA-C066EB7F8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885950"/>
            <a:ext cx="57150" cy="2095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7F87"/>
          </a:solidFill>
          <a:ln xmlns:a="http://schemas.openxmlformats.org/drawingml/2006/main" w="9525">
            <a:solidFill>
              <a:srgbClr val="0B7F87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AC0D75-3147-4AA6-B5DE-C722A0D23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038350"/>
            <a:ext cx="2990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Решение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3157E3-8264-4640-9CF5-2A641C818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400300"/>
            <a:ext cx="299085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AEGIS комбинира Nmap, детерминистички верификатор, повеќе локални LLM улоги и policy проверки во еден повторлив процес.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5A05A6-6933-4323-964F-7038E86AE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885950"/>
            <a:ext cx="33337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8FCFF"/>
          </a:solidFill>
          <a:ln xmlns:a="http://schemas.openxmlformats.org/drawingml/2006/main" w="9525">
            <a:solidFill>
              <a:srgbClr val="D3DEE9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50755B5-34D9-414A-AC04-907832E70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885950"/>
            <a:ext cx="57150" cy="2095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46F18"/>
          </a:solidFill>
          <a:ln xmlns:a="http://schemas.openxmlformats.org/drawingml/2006/main" w="9525">
            <a:solidFill>
              <a:srgbClr val="A46F18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AB236B0-0947-4375-825F-6C78E5504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038350"/>
            <a:ext cx="2990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Цел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1640FDE-6D9D-472C-B52E-B770B6135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400300"/>
            <a:ext cx="299085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Да добиеме проверлив резултат: OPEN, FIXED или NO_FINDING, придружен со извештај и audit trail.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7250F29-1C79-4C02-AE39-200F97677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529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0B7F87"/>
                </a:solidFill>
                <a:latin typeface="Consolas"/>
                <a:ea typeface="Consolas"/>
                <a:cs typeface="Consolas"/>
              </a:defRPr>
            </a:pPr>
            <a:r>
              <a:rPr sz="1200" b="1" i="0">
                <a:solidFill>
                  <a:srgbClr val="0B7F87"/>
                </a:solidFill>
                <a:latin typeface="Consolas"/>
                <a:ea typeface="Consolas"/>
                <a:cs typeface="Consolas"/>
              </a:rPr>
              <a:t>Клучен принцип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06D7C9C-1CC3-4F19-B6EF-40A90277B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57750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LLM објаснува и сумира. Верификаторот одлучува дали наодот навистина постои.</a:t>
            </a:r>
          </a:p>
        </p:txBody>
      </p:sp>
    </p:spTree>
    <p:extLst>
      <p:ext uri="{BB962C8B-B14F-4D97-AF65-F5344CB8AC3E}">
        <p14:creationId xmlns:p14="http://schemas.microsoft.com/office/powerpoint/2010/main" val="52184657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EAF4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F189F84-3693-44D5-9297-1C30F13EA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0B7F8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0B7F87"/>
                </a:solidFill>
                <a:latin typeface="Consolas"/>
                <a:ea typeface="Consolas"/>
                <a:cs typeface="Consolas"/>
              </a:rPr>
              <a:t>02  •  МЕТОДОЛОГИЈА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258D1F-5CC1-45F6-A2BE-A528FE433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Red, Blue и Purple улогите во AEGIS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C96AAC-0FC4-425A-94AA-C54EE394B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0490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Куќата е локалниот компјутер и Docker лабораторијата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DEF9B3-655C-48BC-BECC-E00F6D4CA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478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5F8C"/>
          </a:solidFill>
          <a:ln xmlns:a="http://schemas.openxmlformats.org/drawingml/2006/main" w="9525">
            <a:solidFill>
              <a:srgbClr val="2E5F8C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78548E-1F15-40B7-BB0F-70AB30EFE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69839C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9839C"/>
                </a:solidFill>
                <a:latin typeface="Arial"/>
                <a:ea typeface="Arial"/>
                <a:cs typeface="Arial"/>
              </a:rPr>
              <a:t>AEGIS  •  локална Purple-Team лабораторија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4EFE7E-5C8E-4361-B451-93CCA7051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532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69839C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9839C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894E52-75F0-48A0-91FB-DE1865ECB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109728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8FCFF"/>
          </a:solidFill>
          <a:ln xmlns:a="http://schemas.openxmlformats.org/drawingml/2006/main" w="9525">
            <a:solidFill>
              <a:srgbClr val="2E5F8C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8B4899-5A8F-4E0A-A486-6CA2B39B5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76425"/>
            <a:ext cx="1038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15324B"/>
                </a:solidFill>
                <a:latin typeface="Consolas"/>
                <a:ea typeface="Consolas"/>
                <a:cs typeface="Consolas"/>
              </a:defRPr>
            </a:pPr>
            <a:r>
              <a:rPr sz="1200" b="1" i="0">
                <a:solidFill>
                  <a:srgbClr val="15324B"/>
                </a:solidFill>
                <a:latin typeface="Consolas"/>
                <a:ea typeface="Consolas"/>
                <a:cs typeface="Consolas"/>
              </a:rPr>
              <a:t>КУЌАТА = локален компјутер + Docker lab     |     ВРАТИ = порти 6380 / 8082     |     КАТАНЕЦ = authentication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F3697C-AFE3-430E-822D-554CCA1B8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57450"/>
            <a:ext cx="3333750" cy="26670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DECEF"/>
          </a:solidFill>
          <a:ln xmlns:a="http://schemas.openxmlformats.org/drawingml/2006/main" w="9525">
            <a:solidFill>
              <a:srgbClr val="E9BAC8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4D05B2-0F99-43B4-BD08-6A37D3DB7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860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C74762"/>
                </a:solidFill>
                <a:latin typeface="Consolas"/>
                <a:ea typeface="Consolas"/>
                <a:cs typeface="Consolas"/>
              </a:defRPr>
            </a:pPr>
            <a:r>
              <a:rPr sz="1650" b="1" i="0">
                <a:solidFill>
                  <a:srgbClr val="C74762"/>
                </a:solidFill>
                <a:latin typeface="Consolas"/>
                <a:ea typeface="Consolas"/>
                <a:cs typeface="Consolas"/>
              </a:rPr>
              <a:t>RED TEAM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865824-07C1-4A59-8DCB-3AD680634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76575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C74762"/>
                </a:solidFill>
                <a:latin typeface="Consolas"/>
                <a:ea typeface="Consolas"/>
                <a:cs typeface="Consolas"/>
              </a:defRPr>
            </a:pPr>
            <a:r>
              <a:rPr sz="1200" b="1" i="0">
                <a:solidFill>
                  <a:srgbClr val="C74762"/>
                </a:solidFill>
                <a:latin typeface="Consolas"/>
                <a:ea typeface="Consolas"/>
                <a:cs typeface="Consolas"/>
              </a:rPr>
              <a:t>ПРОБЛЕМ / ПРОВЕРКА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1296D0-980B-4841-AF42-4645257A1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29000"/>
            <a:ext cx="266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Проверува дали вратата е отклучена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0A591F-97E4-45A7-9DB5-DBCEC9058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95750"/>
            <a:ext cx="2476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Nmap ги наоѓа портите.</a:t>
            </a:r>
          </a:p>
          <a:p xmlns:a="http://schemas.openxmlformats.org/drawingml/2006/main">
            <a:pPr>
              <a:defRPr sz="1275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Redis / HTTP verifier потврдува.</a:t>
            </a:r>
          </a:p>
          <a:p xmlns:a="http://schemas.openxmlformats.org/drawingml/2006/main">
            <a:pPr>
              <a:defRPr sz="1275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Metasploit catalog само прегледува.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967FFE-7139-4A7C-B5FD-CCDCAEAD2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457450"/>
            <a:ext cx="3333750" cy="26670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EEF4FF"/>
          </a:solidFill>
          <a:ln xmlns:a="http://schemas.openxmlformats.org/drawingml/2006/main" w="9525">
            <a:solidFill>
              <a:srgbClr val="2E5F8C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2696FF6-2576-404A-8746-A70B6F991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6860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1E5C9F"/>
                </a:solidFill>
                <a:latin typeface="Consolas"/>
                <a:ea typeface="Consolas"/>
                <a:cs typeface="Consolas"/>
              </a:defRPr>
            </a:pPr>
            <a:r>
              <a:rPr sz="1650" b="1" i="0">
                <a:solidFill>
                  <a:srgbClr val="1E5C9F"/>
                </a:solidFill>
                <a:latin typeface="Consolas"/>
                <a:ea typeface="Consolas"/>
                <a:cs typeface="Consolas"/>
              </a:rPr>
              <a:t>BLUE TEAM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8F18EF-7EC0-4A1B-8EC5-07DA6F9AD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076575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1E5C9F"/>
                </a:solidFill>
                <a:latin typeface="Consolas"/>
                <a:ea typeface="Consolas"/>
                <a:cs typeface="Consolas"/>
              </a:defRPr>
            </a:pPr>
            <a:r>
              <a:rPr sz="1200" b="1" i="0">
                <a:solidFill>
                  <a:srgbClr val="1E5C9F"/>
                </a:solidFill>
                <a:latin typeface="Consolas"/>
                <a:ea typeface="Consolas"/>
                <a:cs typeface="Consolas"/>
              </a:rPr>
              <a:t>РЕШЕНИЕ / ЗАШТИТА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C6F1EF2-8121-482F-9B60-1B8160C35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429000"/>
            <a:ext cx="266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Го ограничува и го поправа проблемот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0CC29A1-1EA3-4A28-92BB-948F71483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4095750"/>
            <a:ext cx="2476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Policy + Ethical Scope Guard</a:t>
            </a:r>
          </a:p>
          <a:p xmlns:a="http://schemas.openxmlformats.org/drawingml/2006/main">
            <a:pPr>
              <a:defRPr sz="1275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Prompt / Transfer Guard</a:t>
            </a:r>
          </a:p>
          <a:p xmlns:a="http://schemas.openxmlformats.org/drawingml/2006/main">
            <a:pPr>
              <a:defRPr sz="1275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Redis закрпа + Retest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555AC4C-E2BE-4A93-AC4D-1077570EE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457450"/>
            <a:ext cx="3333750" cy="26670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EAF8F4"/>
          </a:solidFill>
          <a:ln xmlns:a="http://schemas.openxmlformats.org/drawingml/2006/main" w="9525">
            <a:solidFill>
              <a:srgbClr val="0B7F87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E9F1E71-96D0-4B99-845D-A9F859AC5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6860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0B7F87"/>
                </a:solidFill>
                <a:latin typeface="Consolas"/>
                <a:ea typeface="Consolas"/>
                <a:cs typeface="Consolas"/>
              </a:defRPr>
            </a:pPr>
            <a:r>
              <a:rPr sz="1650" b="1" i="0">
                <a:solidFill>
                  <a:srgbClr val="0B7F87"/>
                </a:solidFill>
                <a:latin typeface="Consolas"/>
                <a:ea typeface="Consolas"/>
                <a:cs typeface="Consolas"/>
              </a:rPr>
              <a:t>PURPLE TEAM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D6E3E49-C31E-4263-AC66-6DE9A3185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076575"/>
            <a:ext cx="2714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0B7F87"/>
                </a:solidFill>
                <a:latin typeface="Consolas"/>
                <a:ea typeface="Consolas"/>
                <a:cs typeface="Consolas"/>
              </a:defRPr>
            </a:pPr>
            <a:r>
              <a:rPr sz="1125" b="1" i="0">
                <a:solidFill>
                  <a:srgbClr val="0B7F87"/>
                </a:solidFill>
                <a:latin typeface="Consolas"/>
                <a:ea typeface="Consolas"/>
                <a:cs typeface="Consolas"/>
              </a:rPr>
              <a:t>КРАЈНА ЦЕЛ / ПОВРАТНА ВРСКА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CD99232-59EF-4A95-BEF5-1112F47CE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429000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15324B"/>
                </a:solidFill>
                <a:latin typeface="Consolas"/>
                <a:ea typeface="Consolas"/>
                <a:cs typeface="Consolas"/>
              </a:defRPr>
            </a:pPr>
            <a:r>
              <a:rPr sz="1800" b="1" i="0">
                <a:solidFill>
                  <a:srgbClr val="15324B"/>
                </a:solidFill>
                <a:latin typeface="Consolas"/>
                <a:ea typeface="Consolas"/>
                <a:cs typeface="Consolas"/>
              </a:rPr>
              <a:t>OPEN → PATCH → FIXED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D9EF119-0BA7-4CC9-A10B-655DFF91B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095750"/>
            <a:ext cx="2476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Истата проверка се повторува после поправката и остава audit trail.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8200CA8-8CE1-4D06-9895-C67B6E585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600700"/>
            <a:ext cx="1009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AEGIS = инспектор кој проверува само сопствена куќа, запишува доказ и не ја обива вратата автоматски.</a:t>
            </a:r>
          </a:p>
        </p:txBody>
      </p:sp>
    </p:spTree>
    <p:extLst>
      <p:ext uri="{BB962C8B-B14F-4D97-AF65-F5344CB8AC3E}">
        <p14:creationId xmlns:p14="http://schemas.microsoft.com/office/powerpoint/2010/main" val="36076265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EAF4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14638AD-519A-4E5A-BC72-4D353FDB4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0B7F8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0B7F87"/>
                </a:solidFill>
                <a:latin typeface="Consolas"/>
                <a:ea typeface="Consolas"/>
                <a:cs typeface="Consolas"/>
              </a:rPr>
              <a:t>03  •  АРХИТЕКТУРА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4452AD-FE3B-420A-8243-426D3394D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Како е составен системот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2314B5-1D1A-483C-B96E-9AA51D4C0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0490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Кориснички интерфејс, оркестратор, алатки, модели и докази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B6296E-BA07-47EA-805B-D0B013C1E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478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5F8C"/>
          </a:solidFill>
          <a:ln xmlns:a="http://schemas.openxmlformats.org/drawingml/2006/main" w="9525">
            <a:solidFill>
              <a:srgbClr val="2E5F8C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492729-6224-4B87-8256-4D543FB10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69839C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9839C"/>
                </a:solidFill>
                <a:latin typeface="Arial"/>
                <a:ea typeface="Arial"/>
                <a:cs typeface="Arial"/>
              </a:rPr>
              <a:t>AEGIS  •  локална Purple-Team лабораторија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87A90F-856F-41D5-A019-051E4F395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532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69839C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9839C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F4E874-A33D-4A63-970F-7CB9337BC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09750"/>
            <a:ext cx="2476500" cy="39052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8FCFF"/>
          </a:solidFill>
          <a:ln xmlns:a="http://schemas.openxmlformats.org/drawingml/2006/main" w="9525">
            <a:solidFill>
              <a:srgbClr val="D3DEE9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45C011-819A-45AB-ABE1-ACF7AD284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574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0B7F87"/>
                </a:solidFill>
                <a:latin typeface="Consolas"/>
                <a:ea typeface="Consolas"/>
                <a:cs typeface="Consolas"/>
              </a:defRPr>
            </a:pPr>
            <a:r>
              <a:rPr sz="1125" b="1" i="0">
                <a:solidFill>
                  <a:srgbClr val="0B7F87"/>
                </a:solidFill>
                <a:latin typeface="Consolas"/>
                <a:ea typeface="Consolas"/>
                <a:cs typeface="Consolas"/>
              </a:rPr>
              <a:t>КОРИСНИК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2BB778-29E3-4BEA-A489-4E5B00887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193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AEGIS dashboard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28C41D-BFC6-44D1-8872-FA3E57793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48000"/>
            <a:ext cx="1714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Target registry</a:t>
            </a:r>
          </a:p>
          <a:p xmlns:a="http://schemas.openxmlformats.org/drawingml/2006/main">
            <a:pPr>
              <a:defRPr sz="1425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Mission controls</a:t>
            </a:r>
          </a:p>
          <a:p xmlns:a="http://schemas.openxmlformats.org/drawingml/2006/main">
            <a:pPr>
              <a:defRPr sz="1425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Prompt console</a:t>
            </a:r>
          </a:p>
          <a:p xmlns:a="http://schemas.openxmlformats.org/drawingml/2006/main">
            <a:pPr>
              <a:defRPr sz="1425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Reports &amp; audit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143B20-4B4F-4A32-B2F5-1D12C2BB4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43500"/>
            <a:ext cx="1809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1E5C9F"/>
                </a:solidFill>
                <a:latin typeface="Consolas"/>
                <a:ea typeface="Consolas"/>
                <a:cs typeface="Consolas"/>
              </a:defRPr>
            </a:pPr>
            <a:r>
              <a:rPr sz="1125" b="0" i="0">
                <a:solidFill>
                  <a:srgbClr val="1E5C9F"/>
                </a:solidFill>
                <a:latin typeface="Consolas"/>
                <a:ea typeface="Consolas"/>
                <a:cs typeface="Consolas"/>
              </a:rPr>
              <a:t>http://127.0.0.1:8000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C51354-2E94-4587-90FA-536515D41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1847850"/>
            <a:ext cx="24765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DDEBFA"/>
          </a:solidFill>
          <a:ln xmlns:a="http://schemas.openxmlformats.org/drawingml/2006/main" w="9525">
            <a:solidFill>
              <a:srgbClr val="1E5C9F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5AFD67-48D2-495A-9329-9D09AC99C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1962150"/>
            <a:ext cx="2209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FastAPI оркестратор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9948DA-7E9A-4D5F-B91D-CE4F021D4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2257425"/>
            <a:ext cx="2209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Policy gate • scope gate</a:t>
            </a:r>
          </a:p>
          <a:p xmlns:a="http://schemas.openxmlformats.org/drawingml/2006/main">
            <a:pPr>
              <a:defRPr sz="10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route /run-assessment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6CB43FD-F1A6-4913-BDCB-3F0745F3F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238500"/>
            <a:ext cx="24765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DDEBFA"/>
          </a:solidFill>
          <a:ln xmlns:a="http://schemas.openxmlformats.org/drawingml/2006/main" w="9525">
            <a:solidFill>
              <a:srgbClr val="C74762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79BE30-6D75-4411-96C8-41759943B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3352800"/>
            <a:ext cx="2209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Tool agents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40BA330-FD61-483C-A995-88C8E1FC7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3648075"/>
            <a:ext cx="2209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Nmap • HTTP verifier</a:t>
            </a:r>
          </a:p>
          <a:p xmlns:a="http://schemas.openxmlformats.org/drawingml/2006/main">
            <a:pPr>
              <a:defRPr sz="10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Redis verifier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B5BE600-6B75-426C-B6FB-C3045F644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4629150"/>
            <a:ext cx="24765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DDEBFA"/>
          </a:solidFill>
          <a:ln xmlns:a="http://schemas.openxmlformats.org/drawingml/2006/main" w="9525">
            <a:solidFill>
              <a:srgbClr val="A46F18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6C1A847-00B1-4B9A-90E6-E29CF2496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4743450"/>
            <a:ext cx="2209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Evidence layer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B253A71-9ECF-41B5-BC47-DBEC45761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5038725"/>
            <a:ext cx="2209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Reports • audit JSONL</a:t>
            </a:r>
          </a:p>
          <a:p xmlns:a="http://schemas.openxmlformats.org/drawingml/2006/main">
            <a:pPr>
              <a:defRPr sz="10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OPEN / FIXED / NO_FINDING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AA608B0-FFB4-47D9-A6A8-E4A2081C3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47850"/>
            <a:ext cx="20955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DDEBFA"/>
          </a:solidFill>
          <a:ln xmlns:a="http://schemas.openxmlformats.org/drawingml/2006/main" w="9525">
            <a:solidFill>
              <a:srgbClr val="0B7F87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75B345D-7D97-4F73-82E9-1A5A5D4BE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1962150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Docker labs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5419ADC-2F6C-4CEC-A41A-835208092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257425"/>
            <a:ext cx="1828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web-lab :8082</a:t>
            </a:r>
          </a:p>
          <a:p xmlns:a="http://schemas.openxmlformats.org/drawingml/2006/main">
            <a:pPr>
              <a:defRPr sz="10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redis-lab :6380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6A7E96C-3B5D-4BE6-A058-BB71E7813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238500"/>
            <a:ext cx="20955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DDEBFA"/>
          </a:solidFill>
          <a:ln xmlns:a="http://schemas.openxmlformats.org/drawingml/2006/main" w="9525">
            <a:solidFill>
              <a:srgbClr val="0B7F87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B123331-3C13-4897-8A3F-14D6EAB86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352800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Ollama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3C1DB0D-4F37-4BC5-9F43-4E9A02629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648075"/>
            <a:ext cx="1828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llama3.2:1b</a:t>
            </a:r>
          </a:p>
          <a:p xmlns:a="http://schemas.openxmlformats.org/drawingml/2006/main">
            <a:pPr>
              <a:defRPr sz="10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llama3.2:3b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080A1C3-7BBC-441C-AE6C-18ED8285A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629150"/>
            <a:ext cx="20955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DDEBFA"/>
          </a:solidFill>
          <a:ln xmlns:a="http://schemas.openxmlformats.org/drawingml/2006/main" w="9525">
            <a:solidFill>
              <a:srgbClr val="C74762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0B062C4-F069-4DE1-8918-A228E40BE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743450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Metasploit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87D70B1-F522-4A6D-94DD-03E2DEAD6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5038725"/>
            <a:ext cx="1828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Каталог само</a:t>
            </a:r>
          </a:p>
          <a:p xmlns:a="http://schemas.openxmlformats.org/drawingml/2006/main">
            <a:pPr>
              <a:defRPr sz="10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execution disabled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5ED317F-AAD8-489E-88B7-9ED49549C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343150"/>
            <a:ext cx="6381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C9F"/>
          </a:solidFill>
          <a:ln xmlns:a="http://schemas.openxmlformats.org/drawingml/2006/main" w="9525">
            <a:solidFill>
              <a:srgbClr val="1E5C9F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2044239-605E-4BCB-A88C-DE004D127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343150"/>
            <a:ext cx="7143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C9F"/>
          </a:solidFill>
          <a:ln xmlns:a="http://schemas.openxmlformats.org/drawingml/2006/main" w="9525">
            <a:solidFill>
              <a:srgbClr val="1E5C9F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9A9EF37-F9CB-43AC-A293-F0BD623F2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752850"/>
            <a:ext cx="6381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762"/>
          </a:solidFill>
          <a:ln xmlns:a="http://schemas.openxmlformats.org/drawingml/2006/main" w="9525">
            <a:solidFill>
              <a:srgbClr val="C74762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40A677F-CC12-4EFC-BF3F-F0CACC3B5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752850"/>
            <a:ext cx="7143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F87"/>
          </a:solidFill>
          <a:ln xmlns:a="http://schemas.openxmlformats.org/drawingml/2006/main" w="9525">
            <a:solidFill>
              <a:srgbClr val="0B7F87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1BABC76-6706-48C7-9E53-9E357B7D8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143500"/>
            <a:ext cx="6381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6F18"/>
          </a:solidFill>
          <a:ln xmlns:a="http://schemas.openxmlformats.org/drawingml/2006/main" w="9525">
            <a:solidFill>
              <a:srgbClr val="A46F18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73B2E9E-C1BC-450C-86EE-9D9B8FAE4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5143500"/>
            <a:ext cx="7143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762"/>
          </a:solidFill>
          <a:ln xmlns:a="http://schemas.openxmlformats.org/drawingml/2006/main" w="9525">
            <a:solidFill>
              <a:srgbClr val="C74762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748CDCA-708E-451C-A63E-06AC847A6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96000"/>
            <a:ext cx="1057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Секој чекор се запишува како evidence: кој агент работел, што видел и зошто донел одлука.</a:t>
            </a:r>
          </a:p>
        </p:txBody>
      </p:sp>
    </p:spTree>
    <p:extLst>
      <p:ext uri="{BB962C8B-B14F-4D97-AF65-F5344CB8AC3E}">
        <p14:creationId xmlns:p14="http://schemas.microsoft.com/office/powerpoint/2010/main" val="151763728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EAF4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B18BB68-9984-4660-B0FF-5AB34C44C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0B7F8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0B7F87"/>
                </a:solidFill>
                <a:latin typeface="Consolas"/>
                <a:ea typeface="Consolas"/>
                <a:cs typeface="Consolas"/>
              </a:rPr>
              <a:t>04  •  ПОДГОТОВКА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005DBC-83EA-48B2-BAA6-7181A283C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Discover и Approve пред скенирање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E61740-9A15-43CF-A6D5-C95C16E0E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0490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Корисникот прво ги открива локалните Docker лаборатории, па рачно одобрува една мета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423C21-4400-44D2-842A-EAB47686E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478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5F8C"/>
          </a:solidFill>
          <a:ln xmlns:a="http://schemas.openxmlformats.org/drawingml/2006/main" w="9525">
            <a:solidFill>
              <a:srgbClr val="2E5F8C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E5BBAB-7022-40E0-8ECD-648164795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69839C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9839C"/>
                </a:solidFill>
                <a:latin typeface="Arial"/>
                <a:ea typeface="Arial"/>
                <a:cs typeface="Arial"/>
              </a:rPr>
              <a:t>AEGIS  •  локална Purple-Team лабораторија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9A4F43-FB61-4DDD-A7D7-68A667501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532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69839C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9839C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f856bd6c0b46e5"/>
          <a:stretch xmlns:a="http://schemas.openxmlformats.org/drawingml/2006/main"/>
        </p:blipFill>
        <p:spPr>
          <a:xfrm xmlns:a="http://schemas.openxmlformats.org/drawingml/2006/main">
            <a:off x="1896345" y="1828800"/>
            <a:ext cx="1998510" cy="3143250"/>
          </a:xfrm>
          <a:prstGeom xmlns:a="http://schemas.openxmlformats.org/drawingml/2006/main" prst="roundRect">
            <a:avLst>
              <a:gd name="adj" fmla="val 3636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3C11D8-72A2-4CF0-91CC-D19C67C55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828800"/>
            <a:ext cx="53340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8FCFF"/>
          </a:solidFill>
          <a:ln xmlns:a="http://schemas.openxmlformats.org/drawingml/2006/main" w="9525">
            <a:solidFill>
              <a:srgbClr val="0B7F87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B37D83-2338-4DC1-96EF-630FD17AC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00025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0B7F87"/>
                </a:solidFill>
                <a:latin typeface="Consolas"/>
                <a:ea typeface="Consolas"/>
                <a:cs typeface="Consolas"/>
              </a:defRPr>
            </a:pPr>
            <a:r>
              <a:rPr sz="1200" b="1" i="0">
                <a:solidFill>
                  <a:srgbClr val="0B7F87"/>
                </a:solidFill>
                <a:latin typeface="Consolas"/>
                <a:ea typeface="Consolas"/>
                <a:cs typeface="Consolas"/>
              </a:rPr>
              <a:t>1  DISCOVER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97D35D-E1C8-4489-8E4D-ADB248161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324100"/>
            <a:ext cx="457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Docker labels → PENDING local labs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86CF4D-174C-4B43-A76C-18FE1CB4E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59080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Docker labels + 127.0.0.1 binding → PENDING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B8269E-7EEA-4EB3-B4B7-B872B74F0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895600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2E5F8C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2E5F8C"/>
                </a:solidFill>
                <a:latin typeface="Arial"/>
                <a:ea typeface="Arial"/>
                <a:cs typeface="Arial"/>
              </a:rPr>
              <a:t>↓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EF3038-E5F8-48A5-A3F1-58D065CC6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105150"/>
            <a:ext cx="53340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8FCFF"/>
          </a:solidFill>
          <a:ln xmlns:a="http://schemas.openxmlformats.org/drawingml/2006/main" w="9525">
            <a:solidFill>
              <a:srgbClr val="2E5F8C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91842F-1D18-4C03-B5F2-12EE289BD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27660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1E5C9F"/>
                </a:solidFill>
                <a:latin typeface="Consolas"/>
                <a:ea typeface="Consolas"/>
                <a:cs typeface="Consolas"/>
              </a:defRPr>
            </a:pPr>
            <a:r>
              <a:rPr sz="1200" b="1" i="0">
                <a:solidFill>
                  <a:srgbClr val="1E5C9F"/>
                </a:solidFill>
                <a:latin typeface="Consolas"/>
                <a:ea typeface="Consolas"/>
                <a:cs typeface="Consolas"/>
              </a:rPr>
              <a:t>2  APPROVE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09B464-BD64-456E-8783-6DFF57465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6004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Human-in-the-loop одлука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B71E20-0986-407F-B334-782392C04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86715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Корисникот избира target од dropdown и клика Approve.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C1EC553-0405-4194-AD9C-02286AB69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248150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2E5F8C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2E5F8C"/>
                </a:solidFill>
                <a:latin typeface="Arial"/>
                <a:ea typeface="Arial"/>
                <a:cs typeface="Arial"/>
              </a:rPr>
              <a:t>↓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D82D2D-C5E6-4FA3-9EC6-B62BA2811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495800"/>
            <a:ext cx="533400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EEF4FF"/>
          </a:solidFill>
          <a:ln xmlns:a="http://schemas.openxmlformats.org/drawingml/2006/main" w="9525">
            <a:solidFill>
              <a:srgbClr val="C74762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433818E-AB4D-4B77-9496-6C272A729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6672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C74762"/>
                </a:solidFill>
                <a:latin typeface="Consolas"/>
                <a:ea typeface="Consolas"/>
                <a:cs typeface="Consolas"/>
              </a:defRPr>
            </a:pPr>
            <a:r>
              <a:rPr sz="1200" b="1" i="0">
                <a:solidFill>
                  <a:srgbClr val="C74762"/>
                </a:solidFill>
                <a:latin typeface="Consolas"/>
                <a:ea typeface="Consolas"/>
                <a:cs typeface="Consolas"/>
              </a:rPr>
              <a:t>3  ETHICAL SCOPE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276B97A-4B44-4CB7-96D2-EF7BFBBA6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991100"/>
            <a:ext cx="457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APPROVED само ако е 127.0.0.1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D7D526E-D6D4-41EE-A4CF-29E45EA69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5295900"/>
            <a:ext cx="457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Без approval / надвор од loopback → BLOCKED; tools_called = [].</a:t>
            </a:r>
          </a:p>
        </p:txBody>
      </p:sp>
    </p:spTree>
    <p:extLst>
      <p:ext uri="{BB962C8B-B14F-4D97-AF65-F5344CB8AC3E}">
        <p14:creationId xmlns:p14="http://schemas.microsoft.com/office/powerpoint/2010/main" val="145093150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EAF4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128E036-579D-46C2-8CF6-C130D3334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0B7F8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0B7F87"/>
                </a:solidFill>
                <a:latin typeface="Consolas"/>
                <a:ea typeface="Consolas"/>
                <a:cs typeface="Consolas"/>
              </a:rPr>
              <a:t>05  •  ИЗБОР НА ЛАБОРАТОРИЈА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DD4A8A-9D88-44EF-B562-4252801D5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Web или Redis: што значи секоја мета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D4E8E2-8D08-467C-85F9-6FACE875A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0490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Истиот интерфејс води кон различен verifier и различен очекуван исход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20FFCB-C7A6-423E-9895-DF81D6C6C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478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5F8C"/>
          </a:solidFill>
          <a:ln xmlns:a="http://schemas.openxmlformats.org/drawingml/2006/main" w="9525">
            <a:solidFill>
              <a:srgbClr val="2E5F8C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0128DB-26D2-498E-8348-1F1AA5D6C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69839C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9839C"/>
                </a:solidFill>
                <a:latin typeface="Arial"/>
                <a:ea typeface="Arial"/>
                <a:cs typeface="Arial"/>
              </a:rPr>
              <a:t>AEGIS  •  локална Purple-Team лабораторија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498FD2-9E02-49AE-B28D-82AF373C0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532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69839C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9839C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02595a32f1424c"/>
          <a:stretch xmlns:a="http://schemas.openxmlformats.org/drawingml/2006/main"/>
        </p:blipFill>
        <p:spPr>
          <a:xfrm xmlns:a="http://schemas.openxmlformats.org/drawingml/2006/main">
            <a:off x="514350" y="2266755"/>
            <a:ext cx="4476750" cy="2438790"/>
          </a:xfrm>
          <a:prstGeom xmlns:a="http://schemas.openxmlformats.org/drawingml/2006/main" prst="roundRect">
            <a:avLst>
              <a:gd name="adj" fmla="val 3529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980B0C-24D5-4F90-B127-A1A7DA2A6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1847850"/>
            <a:ext cx="561975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8FCFF"/>
          </a:solidFill>
          <a:ln xmlns:a="http://schemas.openxmlformats.org/drawingml/2006/main" w="9525">
            <a:solidFill>
              <a:srgbClr val="D3DEE9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CF0E08-400E-4CCD-8AAF-633D171F5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1847850"/>
            <a:ext cx="57150" cy="1333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7F87"/>
          </a:solidFill>
          <a:ln xmlns:a="http://schemas.openxmlformats.org/drawingml/2006/main" w="9525">
            <a:solidFill>
              <a:srgbClr val="0B7F87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B96073-EA1A-42D3-B347-DFBAFA00E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000250"/>
            <a:ext cx="527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web-lab  •  127.0.0.1:8082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212D1C-FC22-4029-86B8-CCCECAA85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362200"/>
            <a:ext cx="52768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FastAPI / Uvicorn сервис. AEGIS проверува дали сервисот одговара и очекува NO_FINDING кога нема потврден наод.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CE20D3-D1ED-4464-A659-83590C9D5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429000"/>
            <a:ext cx="561975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8FCFF"/>
          </a:solidFill>
          <a:ln xmlns:a="http://schemas.openxmlformats.org/drawingml/2006/main" w="9525">
            <a:solidFill>
              <a:srgbClr val="D3DEE9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63E642-C962-48B3-8A3F-4B636BAE7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429000"/>
            <a:ext cx="57150" cy="1333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4762"/>
          </a:solidFill>
          <a:ln xmlns:a="http://schemas.openxmlformats.org/drawingml/2006/main" w="9525">
            <a:solidFill>
              <a:srgbClr val="C74762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82D7BF-7DD4-40E1-8C58-33E7E65E6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581400"/>
            <a:ext cx="527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redis-lab  •  127.0.0.1:6380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57B149-F934-4263-BD22-FF5CBEAD8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943350"/>
            <a:ext cx="52768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Redis база за демонстрација на CWE-306. Без лозинка дава OPEN, со --requirepass и retest дава FIXED.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3242A4-3A72-4769-A0AD-425784AC0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67350"/>
            <a:ext cx="106108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8FCFF"/>
          </a:solidFill>
          <a:ln xmlns:a="http://schemas.openxmlformats.org/drawingml/2006/main" w="9525">
            <a:solidFill>
              <a:srgbClr val="2E5F8C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C8BE8D2-BBE1-4F9A-9CC1-D77725DF3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10225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E5C9F"/>
                </a:solidFill>
                <a:latin typeface="Consolas"/>
                <a:ea typeface="Consolas"/>
                <a:cs typeface="Consolas"/>
              </a:defRPr>
            </a:pPr>
            <a:r>
              <a:rPr sz="1125" b="1" i="0">
                <a:solidFill>
                  <a:srgbClr val="1E5C9F"/>
                </a:solidFill>
                <a:latin typeface="Consolas"/>
                <a:ea typeface="Consolas"/>
                <a:cs typeface="Consolas"/>
              </a:rPr>
              <a:t>МОЖНИ СОСТОЈБИ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48B96D0-CD35-486D-8C87-38D6E4023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95975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15324B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15324B"/>
                </a:solidFill>
                <a:latin typeface="Consolas"/>
                <a:ea typeface="Consolas"/>
                <a:cs typeface="Consolas"/>
              </a:rPr>
              <a:t>NOT APPROVED → BLOCKED   |   APPROVED + web → NO_FINDING   |   Redis без auth → OPEN   |   Redis по patch → FIXED</a:t>
            </a:r>
          </a:p>
        </p:txBody>
      </p:sp>
    </p:spTree>
    <p:extLst>
      <p:ext uri="{BB962C8B-B14F-4D97-AF65-F5344CB8AC3E}">
        <p14:creationId xmlns:p14="http://schemas.microsoft.com/office/powerpoint/2010/main" val="115956827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EAF4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3F3822E-0FA4-4F8C-B9D0-E0E88E492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0B7F8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0B7F87"/>
                </a:solidFill>
                <a:latin typeface="Consolas"/>
                <a:ea typeface="Consolas"/>
                <a:cs typeface="Consolas"/>
              </a:rPr>
              <a:t>06  •  LLM ОРКЕСТРАЦИЈА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B19640-3EE6-4393-8C33-4B0B15E87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Кој модел за која задача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409747-A76D-4803-B542-ABE91F3D7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0490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Моделите не се случајно менувани: секој има јасна улога во pipeline-от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E6870D-21CD-4E98-AAC1-94EA89317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478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5F8C"/>
          </a:solidFill>
          <a:ln xmlns:a="http://schemas.openxmlformats.org/drawingml/2006/main" w="9525">
            <a:solidFill>
              <a:srgbClr val="2E5F8C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84465D-047B-4429-B9CC-5D542EA12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69839C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9839C"/>
                </a:solidFill>
                <a:latin typeface="Arial"/>
                <a:ea typeface="Arial"/>
                <a:cs typeface="Arial"/>
              </a:rPr>
              <a:t>AEGIS  •  локална Purple-Team лабораторија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9BAFF4-3BD2-4397-8A3C-8379EEDB2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532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69839C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9839C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2790BA-50F1-48CF-874F-006A8775D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31432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DDEBFA"/>
          </a:solidFill>
          <a:ln xmlns:a="http://schemas.openxmlformats.org/drawingml/2006/main" w="9525">
            <a:solidFill>
              <a:srgbClr val="1E5C9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973AEB-ADD2-4175-818C-C2F365C64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66950"/>
            <a:ext cx="2876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llama3.2:1b или 3b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9272D7-6982-4D3C-9E5C-EF71B9A55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62225"/>
            <a:ext cx="28765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Nmap triage</a:t>
            </a:r>
          </a:p>
          <a:p xmlns:a="http://schemas.openxmlformats.org/drawingml/2006/main">
            <a:pPr>
              <a:defRPr sz="10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Избраниот модел чита structured scan</a:t>
            </a:r>
          </a:p>
          <a:p xmlns:a="http://schemas.openxmlformats.org/drawingml/2006/main">
            <a:pPr>
              <a:defRPr sz="10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Класификација: web / database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156159-2D52-4187-9CFD-FCDD5B826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152650"/>
            <a:ext cx="31432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DDEBFA"/>
          </a:solidFill>
          <a:ln xmlns:a="http://schemas.openxmlformats.org/drawingml/2006/main" w="9525">
            <a:solidFill>
              <a:srgbClr val="0B7F87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F51735-3E09-402F-8144-099D485A3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266950"/>
            <a:ext cx="2876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llama3.2:3b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3FCE7B-F4FD-431F-A26F-42C819136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562225"/>
            <a:ext cx="28765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Semantic Prompt Guard</a:t>
            </a:r>
          </a:p>
          <a:p xmlns:a="http://schemas.openxmlformats.org/drawingml/2006/main">
            <a:pPr>
              <a:defRPr sz="10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Проверува injection и override</a:t>
            </a:r>
          </a:p>
          <a:p xmlns:a="http://schemas.openxmlformats.org/drawingml/2006/main">
            <a:pPr>
              <a:defRPr sz="10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Fail-closed одлука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A7BBA2-192E-446F-93CA-0067D5B4B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152650"/>
            <a:ext cx="31432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DDEBFA"/>
          </a:solidFill>
          <a:ln xmlns:a="http://schemas.openxmlformats.org/drawingml/2006/main" w="9525">
            <a:solidFill>
              <a:srgbClr val="A46F18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607B17-AC3B-4D92-8C52-DEB24D467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266950"/>
            <a:ext cx="2876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llama3.2:3b или 1b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B3ED71-74F7-4EF2-8423-18C347EE3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562225"/>
            <a:ext cx="28765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Final analysis / recommendations</a:t>
            </a:r>
          </a:p>
          <a:p xmlns:a="http://schemas.openxmlformats.org/drawingml/2006/main">
            <a:pPr>
              <a:defRPr sz="10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Може да се смени од UI</a:t>
            </a:r>
          </a:p>
          <a:p xmlns:a="http://schemas.openxmlformats.org/drawingml/2006/main">
            <a:pPr>
              <a:defRPr sz="10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Секогаш после verifier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E32471-9940-427E-84CC-18DD8F592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2291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69839C"/>
                </a:solidFill>
                <a:latin typeface="Consolas"/>
                <a:ea typeface="Consolas"/>
                <a:cs typeface="Consolas"/>
              </a:defRPr>
            </a:pPr>
            <a:r>
              <a:rPr sz="1125" b="0" i="0">
                <a:solidFill>
                  <a:srgbClr val="69839C"/>
                </a:solidFill>
                <a:latin typeface="Consolas"/>
                <a:ea typeface="Consolas"/>
                <a:cs typeface="Consolas"/>
              </a:rPr>
              <a:t>Nmap XML / JSON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2CC3A2B-BF0C-4651-A7D6-8FB4285CE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22910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69839C"/>
                </a:solidFill>
                <a:latin typeface="Consolas"/>
                <a:ea typeface="Consolas"/>
                <a:cs typeface="Consolas"/>
              </a:defRPr>
            </a:pPr>
            <a:r>
              <a:rPr sz="1125" b="0" i="0">
                <a:solidFill>
                  <a:srgbClr val="69839C"/>
                </a:solidFill>
                <a:latin typeface="Consolas"/>
                <a:ea typeface="Consolas"/>
                <a:cs typeface="Consolas"/>
              </a:rPr>
              <a:t>Prompt input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7627F96-4E6C-4FCA-A554-4339F4C48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22910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69839C"/>
                </a:solidFill>
                <a:latin typeface="Consolas"/>
                <a:ea typeface="Consolas"/>
                <a:cs typeface="Consolas"/>
              </a:defRPr>
            </a:pPr>
            <a:r>
              <a:rPr sz="1125" b="0" i="0">
                <a:solidFill>
                  <a:srgbClr val="69839C"/>
                </a:solidFill>
                <a:latin typeface="Consolas"/>
                <a:ea typeface="Consolas"/>
                <a:cs typeface="Consolas"/>
              </a:rPr>
              <a:t>Verified finding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121341-0F6F-475F-9602-1BC7B6C3F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171950"/>
            <a:ext cx="60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2E5F8C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2E5F8C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5F97684-BD63-4ED1-9D08-0DB94283A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171950"/>
            <a:ext cx="60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2E5F8C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2E5F8C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8D2D76F-CDD2-4E43-91D9-5DCDE64CA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95850"/>
            <a:ext cx="108204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8FCFF"/>
          </a:solidFill>
          <a:ln xmlns:a="http://schemas.openxmlformats.org/drawingml/2006/main" w="9525">
            <a:solidFill>
              <a:srgbClr val="2E5F8C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0CE88F0-E8AF-420E-A81B-11C3D5E28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14350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Опционално: OpenRouter може да се активира само со сопствен API key. Во основната демонстрација сите модели се локални преку Ollama.</a:t>
            </a:r>
          </a:p>
        </p:txBody>
      </p:sp>
    </p:spTree>
    <p:extLst>
      <p:ext uri="{BB962C8B-B14F-4D97-AF65-F5344CB8AC3E}">
        <p14:creationId xmlns:p14="http://schemas.microsoft.com/office/powerpoint/2010/main" val="194154592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EAF4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6F22949B-2B05-4E48-ABB6-1E13CBDC1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0B7F8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0B7F87"/>
                </a:solidFill>
                <a:latin typeface="Consolas"/>
                <a:ea typeface="Consolas"/>
                <a:cs typeface="Consolas"/>
              </a:rPr>
              <a:t>07  •  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4EE673-EDAC-4856-8A8C-D9A9C07E5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Од Docker target до проверен извештај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1A47FC-60EF-478D-A142-81F78274C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0490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Целиот pipeline во редоследот што го извршува апликацијата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B365EB-B3E0-4BE7-927F-7DC79F35F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478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5F8C"/>
          </a:solidFill>
          <a:ln xmlns:a="http://schemas.openxmlformats.org/drawingml/2006/main" w="9525">
            <a:solidFill>
              <a:srgbClr val="2E5F8C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E43111-2CEC-401C-B3D5-B88380C40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69839C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9839C"/>
                </a:solidFill>
                <a:latin typeface="Arial"/>
                <a:ea typeface="Arial"/>
                <a:cs typeface="Arial"/>
              </a:rPr>
              <a:t>AEGIS  •  локална Purple-Team лабораторија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111BD8-7C63-4B8D-B285-755A34253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532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69839C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9839C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70CDC9-8043-486E-BB5B-874276408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47900"/>
            <a:ext cx="1104900" cy="13716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8FCFF"/>
          </a:solidFill>
          <a:ln xmlns:a="http://schemas.openxmlformats.org/drawingml/2006/main" w="9525">
            <a:solidFill>
              <a:srgbClr val="0B7F87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17E21D-F1B1-47F0-AE64-D0C3FC1EE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71725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0B7F87"/>
                </a:solidFill>
                <a:latin typeface="Consolas"/>
                <a:ea typeface="Consolas"/>
                <a:cs typeface="Consolas"/>
              </a:defRPr>
            </a:pPr>
            <a:r>
              <a:rPr sz="1125" b="1" i="0">
                <a:solidFill>
                  <a:srgbClr val="0B7F87"/>
                </a:solidFill>
                <a:latin typeface="Consolas"/>
                <a:ea typeface="Consolas"/>
                <a:cs typeface="Consolas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50F7F3-A9A1-4B77-B4CA-DA2CBEDB7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24150"/>
            <a:ext cx="876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Discover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021066-8618-4563-8370-604EFF206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143250"/>
            <a:ext cx="876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38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938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Docker labels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59BD61-6F10-47DA-A6F5-9B0DF5A46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78130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2E5F8C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2E5F8C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1E1CE8-652D-4509-A22C-311D73811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2247900"/>
            <a:ext cx="1104900" cy="13716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8FCFF"/>
          </a:solidFill>
          <a:ln xmlns:a="http://schemas.openxmlformats.org/drawingml/2006/main" w="9525">
            <a:solidFill>
              <a:srgbClr val="0B7F87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7FEF20-6055-4B60-B7DC-6A3EC7694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225" y="2371725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0B7F87"/>
                </a:solidFill>
                <a:latin typeface="Consolas"/>
                <a:ea typeface="Consolas"/>
                <a:cs typeface="Consolas"/>
              </a:defRPr>
            </a:pPr>
            <a:r>
              <a:rPr sz="1125" b="1" i="0">
                <a:solidFill>
                  <a:srgbClr val="0B7F87"/>
                </a:solidFill>
                <a:latin typeface="Consolas"/>
                <a:ea typeface="Consolas"/>
                <a:cs typeface="Consolas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34B913-F671-4FA0-848C-435663153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225" y="2724150"/>
            <a:ext cx="876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Approve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6A2EA99-092E-4912-8946-58F60F1F1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225" y="3143250"/>
            <a:ext cx="876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38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938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loopback only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B5078E6-4762-4FE5-A8FD-C94E6B58F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278130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2E5F8C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2E5F8C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9588681-9B1D-4BE5-B14D-6668DF25F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247900"/>
            <a:ext cx="1104900" cy="13716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8FCFF"/>
          </a:solidFill>
          <a:ln xmlns:a="http://schemas.openxmlformats.org/drawingml/2006/main" w="9525">
            <a:solidFill>
              <a:srgbClr val="0B7F87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5DCED0A-AA2F-47FE-A5E1-CAA488BC0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371725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0B7F87"/>
                </a:solidFill>
                <a:latin typeface="Consolas"/>
                <a:ea typeface="Consolas"/>
                <a:cs typeface="Consolas"/>
              </a:defRPr>
            </a:pPr>
            <a:r>
              <a:rPr sz="1125" b="1" i="0">
                <a:solidFill>
                  <a:srgbClr val="0B7F87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932C927-9244-43AF-B654-719F3EB8F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724150"/>
            <a:ext cx="876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Policy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4A574BF-A928-466E-9DBF-CEC266429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143250"/>
            <a:ext cx="876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38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938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scope gate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F38DD69-E77C-4EA6-BE3D-F824C5F49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78130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2E5F8C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2E5F8C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2E8D8E6-C96C-4796-A476-D3208277E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2247900"/>
            <a:ext cx="1104900" cy="13716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8FCFF"/>
          </a:solidFill>
          <a:ln xmlns:a="http://schemas.openxmlformats.org/drawingml/2006/main" w="9525">
            <a:solidFill>
              <a:srgbClr val="1E5C9F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A8193E4-552E-4DDF-B170-4FD031660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371725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E5C9F"/>
                </a:solidFill>
                <a:latin typeface="Consolas"/>
                <a:ea typeface="Consolas"/>
                <a:cs typeface="Consolas"/>
              </a:defRPr>
            </a:pPr>
            <a:r>
              <a:rPr sz="1125" b="1" i="0">
                <a:solidFill>
                  <a:srgbClr val="1E5C9F"/>
                </a:solidFill>
                <a:latin typeface="Consolas"/>
                <a:ea typeface="Consolas"/>
                <a:cs typeface="Consolas"/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9E5E5A1-2083-4C1E-B0CF-641FD7198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724150"/>
            <a:ext cx="876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Nmap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D082371-803F-4D74-B070-25423CCF7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3143250"/>
            <a:ext cx="876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38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938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real tool call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ECDCCBB-0C31-432F-9CA0-5A3C75002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278130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2E5F8C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2E5F8C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9AFE918-37D7-4463-8660-89CCC875D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247900"/>
            <a:ext cx="1104900" cy="13716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8FCFF"/>
          </a:solidFill>
          <a:ln xmlns:a="http://schemas.openxmlformats.org/drawingml/2006/main" w="9525">
            <a:solidFill>
              <a:srgbClr val="1E5C9F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82E8EC9-0611-40A7-A6D4-100BA379B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371725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E5C9F"/>
                </a:solidFill>
                <a:latin typeface="Consolas"/>
                <a:ea typeface="Consolas"/>
                <a:cs typeface="Consolas"/>
              </a:defRPr>
            </a:pPr>
            <a:r>
              <a:rPr sz="1125" b="1" i="0">
                <a:solidFill>
                  <a:srgbClr val="1E5C9F"/>
                </a:solidFill>
                <a:latin typeface="Consolas"/>
                <a:ea typeface="Consolas"/>
                <a:cs typeface="Consolas"/>
              </a:rPr>
              <a:t>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92FF1FB-5A7D-4F57-94D6-38BBBB91E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724150"/>
            <a:ext cx="876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Triage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09BD40B-B784-4CB0-8467-98BB5F0AB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143250"/>
            <a:ext cx="876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38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938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local LLM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B445524-5C9E-44A9-A5FC-68D79BD04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78130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2E5F8C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2E5F8C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444C934-A6F6-4AE9-8BBD-AAC228442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2247900"/>
            <a:ext cx="1104900" cy="13716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8FCFF"/>
          </a:solidFill>
          <a:ln xmlns:a="http://schemas.openxmlformats.org/drawingml/2006/main" w="9525">
            <a:solidFill>
              <a:srgbClr val="A46F18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26AECF2-DB36-4E0E-B8D6-E7D6058A2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2371725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A46F18"/>
                </a:solidFill>
                <a:latin typeface="Consolas"/>
                <a:ea typeface="Consolas"/>
                <a:cs typeface="Consolas"/>
              </a:defRPr>
            </a:pPr>
            <a:r>
              <a:rPr sz="1125" b="1" i="0">
                <a:solidFill>
                  <a:srgbClr val="A46F18"/>
                </a:solidFill>
                <a:latin typeface="Consolas"/>
                <a:ea typeface="Consolas"/>
                <a:cs typeface="Consolas"/>
              </a:rPr>
              <a:t>6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B25E860-1453-44C8-A4B7-44084F5FD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2724150"/>
            <a:ext cx="876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Verify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DD92F94-B145-43AF-A079-8A679A792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3143250"/>
            <a:ext cx="876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38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938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socket / HTTP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5901735-4D7D-4034-9071-4356274E6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78130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2E5F8C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2E5F8C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476D744-4ED0-444C-8260-14799D85E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247900"/>
            <a:ext cx="1104900" cy="13716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8FCFF"/>
          </a:solidFill>
          <a:ln xmlns:a="http://schemas.openxmlformats.org/drawingml/2006/main" w="9525">
            <a:solidFill>
              <a:srgbClr val="A46F18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7A0FB32-7CAF-4195-A37C-46BB16B03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371725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A46F18"/>
                </a:solidFill>
                <a:latin typeface="Consolas"/>
                <a:ea typeface="Consolas"/>
                <a:cs typeface="Consolas"/>
              </a:defRPr>
            </a:pPr>
            <a:r>
              <a:rPr sz="1125" b="1" i="0">
                <a:solidFill>
                  <a:srgbClr val="A46F18"/>
                </a:solidFill>
                <a:latin typeface="Consolas"/>
                <a:ea typeface="Consolas"/>
                <a:cs typeface="Consolas"/>
              </a:rPr>
              <a:t>7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CE9D585-E102-422F-9ADA-B4FBE05A1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724150"/>
            <a:ext cx="876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Report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84FB9CD-58B1-4111-8E75-C89F7F237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143250"/>
            <a:ext cx="876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38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938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OPEN evidence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A48C30B-1093-4D20-A563-3CCACEBC2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78130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2E5F8C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2E5F8C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F6769EA-B842-4641-A33E-35D4FA11B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2247900"/>
            <a:ext cx="1104900" cy="13716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8FCFF"/>
          </a:solidFill>
          <a:ln xmlns:a="http://schemas.openxmlformats.org/drawingml/2006/main" w="9525">
            <a:solidFill>
              <a:srgbClr val="C74762"/>
            </a:solidFill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1882FF7-CA67-444E-B5B8-850C3C04E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2371725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C74762"/>
                </a:solidFill>
                <a:latin typeface="Consolas"/>
                <a:ea typeface="Consolas"/>
                <a:cs typeface="Consolas"/>
              </a:defRPr>
            </a:pPr>
            <a:r>
              <a:rPr sz="1125" b="1" i="0">
                <a:solidFill>
                  <a:srgbClr val="C74762"/>
                </a:solidFill>
                <a:latin typeface="Consolas"/>
                <a:ea typeface="Consolas"/>
                <a:cs typeface="Consolas"/>
              </a:rPr>
              <a:t>8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4C96891-B51C-45DD-95A3-4BBAB9127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2724150"/>
            <a:ext cx="876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Catalog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33DD347-1B1A-4162-8E48-816E25998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3143250"/>
            <a:ext cx="876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38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938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msfconsole review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DE80798-8FAF-42AF-A0A5-43BE8F156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278130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2E5F8C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2E5F8C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FF49D8C-9C4A-4019-A26A-2F74A0BC2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2247900"/>
            <a:ext cx="1104900" cy="13716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8FCFF"/>
          </a:solidFill>
          <a:ln xmlns:a="http://schemas.openxmlformats.org/drawingml/2006/main" w="9525">
            <a:solidFill>
              <a:srgbClr val="C74762"/>
            </a:solidFill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849DA50-D034-4498-B94B-4622861E9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2371725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C74762"/>
                </a:solidFill>
                <a:latin typeface="Consolas"/>
                <a:ea typeface="Consolas"/>
                <a:cs typeface="Consolas"/>
              </a:defRPr>
            </a:pPr>
            <a:r>
              <a:rPr sz="1125" b="1" i="0">
                <a:solidFill>
                  <a:srgbClr val="C74762"/>
                </a:solidFill>
                <a:latin typeface="Consolas"/>
                <a:ea typeface="Consolas"/>
                <a:cs typeface="Consolas"/>
              </a:rPr>
              <a:t>9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EEE25EE-6C17-43F5-AD7D-E20BD70AC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2724150"/>
            <a:ext cx="876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Retest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785863A-C78B-44F7-BE77-A5D84CB22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3143250"/>
            <a:ext cx="876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38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938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FIXED after patch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93175D6-8C79-471B-85C0-59AE13951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76700"/>
            <a:ext cx="10382250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F8FCFF"/>
          </a:solidFill>
          <a:ln xmlns:a="http://schemas.openxmlformats.org/drawingml/2006/main" w="9525">
            <a:solidFill>
              <a:srgbClr val="2E5F8C"/>
            </a:solidFill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51FE96A-9E1B-49D6-8399-69FFEE0A3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481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0B7F87"/>
                </a:solidFill>
                <a:latin typeface="Consolas"/>
                <a:ea typeface="Consolas"/>
                <a:cs typeface="Consolas"/>
              </a:defRPr>
            </a:pPr>
            <a:r>
              <a:rPr sz="1200" b="1" i="0">
                <a:solidFill>
                  <a:srgbClr val="0B7F87"/>
                </a:solidFill>
                <a:latin typeface="Consolas"/>
                <a:ea typeface="Consolas"/>
                <a:cs typeface="Consolas"/>
              </a:rPr>
              <a:t>Позитивен пример  •  redis-lab:6380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89541BF-92C2-4A80-9701-CE350410B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33900"/>
            <a:ext cx="962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Nmap детектира open 6380, но Redis verifier преку PING детерминистички произведува CWE-306 (OPEN). LLM не измислува наод.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3AD12B2E-4F34-440F-AB88-BD5A84E2E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76850"/>
            <a:ext cx="10382250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F8FCFF"/>
          </a:solidFill>
          <a:ln xmlns:a="http://schemas.openxmlformats.org/drawingml/2006/main" w="9525">
            <a:solidFill>
              <a:srgbClr val="2E5F8C"/>
            </a:solidFill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70AF1901-B78D-44C9-9102-946735721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4483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C74762"/>
                </a:solidFill>
                <a:latin typeface="Consolas"/>
                <a:ea typeface="Consolas"/>
                <a:cs typeface="Consolas"/>
              </a:defRPr>
            </a:pPr>
            <a:r>
              <a:rPr sz="1200" b="1" i="0">
                <a:solidFill>
                  <a:srgbClr val="C74762"/>
                </a:solidFill>
                <a:latin typeface="Consolas"/>
                <a:ea typeface="Consolas"/>
                <a:cs typeface="Consolas"/>
              </a:rPr>
              <a:t>Затворање на циклусот  •  Retest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FF37D587-9CB9-4FB4-8C37-26449986F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34050"/>
            <a:ext cx="962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По --requirepass во docker-compose.yml, Retest повторува socket тест, добива -NOAUTH и ја менува состојбата од OPEN во FIXED.</a:t>
            </a:r>
          </a:p>
        </p:txBody>
      </p:sp>
    </p:spTree>
    <p:extLst>
      <p:ext uri="{BB962C8B-B14F-4D97-AF65-F5344CB8AC3E}">
        <p14:creationId xmlns:p14="http://schemas.microsoft.com/office/powerpoint/2010/main" val="108440445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EAF4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88DF545-B81F-4E27-867E-7FA334612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0B7F8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0B7F87"/>
                </a:solidFill>
                <a:latin typeface="Consolas"/>
                <a:ea typeface="Consolas"/>
                <a:cs typeface="Consolas"/>
              </a:rPr>
              <a:t>08  •  ЛАБОРАТОРИСКА ОКОЛИНА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3A4F2E-8932-4E97-9864-59374EB8A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Изолација и потребни ресурси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379E43-4870-4978-A1CD-A7A6DE898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0490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Сè работи локално, на loopback адреси, во Docker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987C42-C7AC-4A52-A0F1-5AC27F3D9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478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5F8C"/>
          </a:solidFill>
          <a:ln xmlns:a="http://schemas.openxmlformats.org/drawingml/2006/main" w="9525">
            <a:solidFill>
              <a:srgbClr val="2E5F8C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4FEB2A-8B58-44C9-8AE0-39232999C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69839C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9839C"/>
                </a:solidFill>
                <a:latin typeface="Arial"/>
                <a:ea typeface="Arial"/>
                <a:cs typeface="Arial"/>
              </a:rPr>
              <a:t>AEGIS  •  локална Purple-Team лабораторија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7494B2-0128-4D4C-8D61-853D7590A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532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69839C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9839C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D7BB05-E701-466C-B8C9-CEBD8B92F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66900"/>
            <a:ext cx="31432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8FCFF"/>
          </a:solidFill>
          <a:ln xmlns:a="http://schemas.openxmlformats.org/drawingml/2006/main" w="9525">
            <a:solidFill>
              <a:srgbClr val="D3DEE9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743728-4A08-469C-B2E5-37944D735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66900"/>
            <a:ext cx="57150" cy="1809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7F87"/>
          </a:solidFill>
          <a:ln xmlns:a="http://schemas.openxmlformats.org/drawingml/2006/main" w="9525">
            <a:solidFill>
              <a:srgbClr val="0B7F87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14E321-D3A7-43AE-B2BD-335836B22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19300"/>
            <a:ext cx="2800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Хардвер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3F943E-765C-408F-A71C-137F2AFCF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81250"/>
            <a:ext cx="28003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Windows 11 машина</a:t>
            </a:r>
          </a:p>
          <a:p xmlns:a="http://schemas.openxmlformats.org/drawingml/2006/main">
            <a:pPr>
              <a:defRPr sz="1275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Минимум 8 GB RAM за удобно работење</a:t>
            </a:r>
          </a:p>
          <a:p xmlns:a="http://schemas.openxmlformats.org/drawingml/2006/main">
            <a:pPr>
              <a:defRPr sz="1275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Слободен простор за Docker images и модели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3E4CDD-90F7-41E3-A265-78DF2CE1C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1866900"/>
            <a:ext cx="31432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8FCFF"/>
          </a:solidFill>
          <a:ln xmlns:a="http://schemas.openxmlformats.org/drawingml/2006/main" w="9525">
            <a:solidFill>
              <a:srgbClr val="D3DEE9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931DAD-31F8-4E90-91E5-0070D7C9F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1866900"/>
            <a:ext cx="57150" cy="1809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5C9F"/>
          </a:solidFill>
          <a:ln xmlns:a="http://schemas.openxmlformats.org/drawingml/2006/main" w="9525">
            <a:solidFill>
              <a:srgbClr val="1E5C9F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F82B0F-CCD1-4414-97BA-73801B0B4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019300"/>
            <a:ext cx="2800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Софтвер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40563C-9D4F-4AC8-ABF6-2A4E34CD7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381250"/>
            <a:ext cx="28003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Docker Desktop</a:t>
            </a:r>
          </a:p>
          <a:p xmlns:a="http://schemas.openxmlformats.org/drawingml/2006/main">
            <a:pPr>
              <a:defRPr sz="1275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Python + FastAPI</a:t>
            </a:r>
          </a:p>
          <a:p xmlns:a="http://schemas.openxmlformats.org/drawingml/2006/main">
            <a:pPr>
              <a:defRPr sz="1275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Nmap CLI</a:t>
            </a:r>
          </a:p>
          <a:p xmlns:a="http://schemas.openxmlformats.org/drawingml/2006/main">
            <a:pPr>
              <a:defRPr sz="1275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Ollama + llama3.2:1b / 3b</a:t>
            </a:r>
          </a:p>
          <a:p xmlns:a="http://schemas.openxmlformats.org/drawingml/2006/main">
            <a:pPr>
              <a:defRPr sz="1275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Metasploit Framework (msfconsole)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92AB06-3137-4D57-9121-B19E2E2D0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866900"/>
            <a:ext cx="40957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8FCFF"/>
          </a:solidFill>
          <a:ln xmlns:a="http://schemas.openxmlformats.org/drawingml/2006/main" w="9525">
            <a:solidFill>
              <a:srgbClr val="D3DEE9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6C024C-46C5-45DA-92D0-3CC0FD44C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866900"/>
            <a:ext cx="57150" cy="1809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4762"/>
          </a:solidFill>
          <a:ln xmlns:a="http://schemas.openxmlformats.org/drawingml/2006/main" w="9525">
            <a:solidFill>
              <a:srgbClr val="C74762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92B2312-1B8B-423F-9A8D-92EC662FF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019300"/>
            <a:ext cx="3752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Изолација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AC3D01B-3475-4B43-9F2E-2702B19D5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381250"/>
            <a:ext cx="37528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Docker ports се врзани само на 127.0.0.1. Data Exfiltration Guard / TransferGuardian спречува испраќање извештаи кон надворешен домен. Нема автоматски payload.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DD7B279-DCC7-481A-AE2D-30AFDB623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10050"/>
            <a:ext cx="6191250" cy="131445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122B45"/>
          </a:solidFill>
          <a:ln xmlns:a="http://schemas.openxmlformats.org/drawingml/2006/main" w="9525">
            <a:solidFill>
              <a:srgbClr val="36516D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DBA208C-6C72-4608-8AF0-528C55B3B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43400"/>
            <a:ext cx="58483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D8E4F1"/>
                </a:solidFill>
                <a:latin typeface="Consolas"/>
                <a:ea typeface="Consolas"/>
                <a:cs typeface="Consolas"/>
              </a:defRPr>
            </a:pPr>
            <a:r>
              <a:rPr sz="1350" b="0" i="0">
                <a:solidFill>
                  <a:srgbClr val="D8E4F1"/>
                </a:solidFill>
                <a:latin typeface="Consolas"/>
                <a:ea typeface="Consolas"/>
                <a:cs typeface="Consolas"/>
              </a:rPr>
              <a:t>web-lab    127.0.0.1:8082 → 8081</a:t>
            </a:r>
          </a:p>
          <a:p xmlns:a="http://schemas.openxmlformats.org/drawingml/2006/main">
            <a:pPr>
              <a:defRPr sz="1350" b="0" i="0">
                <a:solidFill>
                  <a:srgbClr val="D8E4F1"/>
                </a:solidFill>
                <a:latin typeface="Consolas"/>
                <a:ea typeface="Consolas"/>
                <a:cs typeface="Consolas"/>
              </a:defRPr>
            </a:pPr>
            <a:r>
              <a:rPr sz="1350" b="0" i="0">
                <a:solidFill>
                  <a:srgbClr val="D8E4F1"/>
                </a:solidFill>
                <a:latin typeface="Consolas"/>
                <a:ea typeface="Consolas"/>
                <a:cs typeface="Consolas"/>
              </a:rPr>
              <a:t>redis-lab  127.0.0.1:6380 → 6379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350" b="0" i="0">
                <a:solidFill>
                  <a:srgbClr val="D8E4F1"/>
                </a:solidFill>
                <a:latin typeface="Consolas"/>
                <a:ea typeface="Consolas"/>
                <a:cs typeface="Consolas"/>
              </a:defRPr>
            </a:pPr>
            <a:r>
              <a:rPr sz="1350" b="0" i="0">
                <a:solidFill>
                  <a:srgbClr val="D8E4F1"/>
                </a:solidFill>
                <a:latin typeface="Consolas"/>
                <a:ea typeface="Consolas"/>
                <a:cs typeface="Consolas"/>
              </a:rPr>
              <a:t>Target Registry Guard = Docker label + explicit human approval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69986EE-2286-46F6-955D-A300C1C6D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267200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C74762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C74762"/>
                </a:solidFill>
                <a:latin typeface="Arial"/>
                <a:ea typeface="Arial"/>
                <a:cs typeface="Arial"/>
              </a:rPr>
              <a:t>Безбедносно предупредување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C9F4FD7-3ABD-48FA-B342-CCBC443DE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648200"/>
            <a:ext cx="3905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Операциите се наменети само за сопствената лабораторија. Не додавај надворешен target без експлицитна дозвола и одделена, изолирана средина.</a:t>
            </a:r>
          </a:p>
        </p:txBody>
      </p:sp>
    </p:spTree>
    <p:extLst>
      <p:ext uri="{BB962C8B-B14F-4D97-AF65-F5344CB8AC3E}">
        <p14:creationId xmlns:p14="http://schemas.microsoft.com/office/powerpoint/2010/main" val="160762466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EAF4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88E07BE-0AB9-4037-BA8C-FE64E67AB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0B7F8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0B7F87"/>
                </a:solidFill>
                <a:latin typeface="Consolas"/>
                <a:ea typeface="Consolas"/>
                <a:cs typeface="Consolas"/>
              </a:rPr>
              <a:t>09  •  СЦЕНАРИО 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AE8B5B-703A-414F-BAAD-60582C494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Redis наод: OPEN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4C8EAE-6E19-4E82-A34A-F75F7C8D8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0490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Отворена порта не е доволна. Наодот се потврдува со директен, не-деструктивен probe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0DB99B-9637-47D5-8402-897F14715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478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5F8C"/>
          </a:solidFill>
          <a:ln xmlns:a="http://schemas.openxmlformats.org/drawingml/2006/main" w="9525">
            <a:solidFill>
              <a:srgbClr val="2E5F8C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B39694-B95D-472E-9C87-C33A8EA89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69839C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9839C"/>
                </a:solidFill>
                <a:latin typeface="Arial"/>
                <a:ea typeface="Arial"/>
                <a:cs typeface="Arial"/>
              </a:rPr>
              <a:t>AEGIS  •  локална Purple-Team лабораторија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192856-E3E7-41F1-BA9C-56055DE73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532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69839C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9839C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a34ccdb805458a"/>
          <a:stretch xmlns:a="http://schemas.openxmlformats.org/drawingml/2006/main"/>
        </p:blipFill>
        <p:spPr>
          <a:xfrm xmlns:a="http://schemas.openxmlformats.org/drawingml/2006/main">
            <a:off x="514350" y="2224889"/>
            <a:ext cx="4857750" cy="2646347"/>
          </a:xfrm>
          <a:prstGeom xmlns:a="http://schemas.openxmlformats.org/drawingml/2006/main" prst="roundRect">
            <a:avLst>
              <a:gd name="adj" fmla="val 3288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D57C42-6B62-4D46-9118-86013974D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8478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0B7F87"/>
                </a:solidFill>
                <a:latin typeface="Consolas"/>
                <a:ea typeface="Consolas"/>
                <a:cs typeface="Consolas"/>
              </a:defRPr>
            </a:pPr>
            <a:r>
              <a:rPr sz="1125" b="1" i="0">
                <a:solidFill>
                  <a:srgbClr val="0B7F87"/>
                </a:solidFill>
                <a:latin typeface="Consolas"/>
                <a:ea typeface="Consolas"/>
                <a:cs typeface="Consolas"/>
              </a:rPr>
              <a:t>Редослед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D4ADA3-E049-47D0-9363-F77BA2EDF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2288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1E5C9F"/>
                </a:solidFill>
                <a:latin typeface="Consolas"/>
                <a:ea typeface="Consolas"/>
                <a:cs typeface="Consolas"/>
              </a:defRPr>
            </a:pPr>
            <a:r>
              <a:rPr sz="1200" b="1" i="0">
                <a:solidFill>
                  <a:srgbClr val="1E5C9F"/>
                </a:solidFill>
                <a:latin typeface="Consolas"/>
                <a:ea typeface="Consolas"/>
                <a:cs typeface="Consolas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3EB83F-2263-40F1-8AA5-E2828EBC5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209800"/>
            <a:ext cx="432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Nmap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A2A486-F89D-46E0-BD46-2BD675E58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495550"/>
            <a:ext cx="4324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6380/tcp е open на 127.0.0.1.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BB5C6D-A147-4FCE-9D1B-98D0DADF5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0099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0B7F87"/>
                </a:solidFill>
                <a:latin typeface="Consolas"/>
                <a:ea typeface="Consolas"/>
                <a:cs typeface="Consolas"/>
              </a:defRPr>
            </a:pPr>
            <a:r>
              <a:rPr sz="1200" b="1" i="0">
                <a:solidFill>
                  <a:srgbClr val="0B7F87"/>
                </a:solidFill>
                <a:latin typeface="Consolas"/>
                <a:ea typeface="Consolas"/>
                <a:cs typeface="Consolas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2E1697-8679-4061-A0BA-47BF1A7DB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990850"/>
            <a:ext cx="432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Redis verifier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116A7D-D628-41AA-BCC6-5569ED04E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276600"/>
            <a:ext cx="4324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Испраќа PING преку socket.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0B21A7-C057-4FA8-B0C3-C9239CDF8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7909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C74762"/>
                </a:solidFill>
                <a:latin typeface="Consolas"/>
                <a:ea typeface="Consolas"/>
                <a:cs typeface="Consolas"/>
              </a:defRPr>
            </a:pPr>
            <a:r>
              <a:rPr sz="1200" b="1" i="0">
                <a:solidFill>
                  <a:srgbClr val="C74762"/>
                </a:solidFill>
                <a:latin typeface="Consolas"/>
                <a:ea typeface="Consolas"/>
                <a:cs typeface="Consolas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F58557B-EEF9-4643-9171-B8B90B7D8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771900"/>
            <a:ext cx="432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Доказ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C2DCC59-9219-4308-9C38-E0B488B32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057650"/>
            <a:ext cx="4324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+PONG без лозинка → CWE-306.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E59778-77E3-41AB-B85B-61BE20901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591050"/>
            <a:ext cx="4762500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122B45"/>
          </a:solidFill>
          <a:ln xmlns:a="http://schemas.openxmlformats.org/drawingml/2006/main" w="9525">
            <a:solidFill>
              <a:srgbClr val="36516D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D106E67-7243-459C-A286-AFAD7C77B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724400"/>
            <a:ext cx="44196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D8E4F1"/>
                </a:solidFill>
                <a:latin typeface="Consolas"/>
                <a:ea typeface="Consolas"/>
                <a:cs typeface="Consolas"/>
              </a:defRPr>
            </a:pPr>
            <a:r>
              <a:rPr sz="1275" b="0" i="0">
                <a:solidFill>
                  <a:srgbClr val="D8E4F1"/>
                </a:solidFill>
                <a:latin typeface="Consolas"/>
                <a:ea typeface="Consolas"/>
                <a:cs typeface="Consolas"/>
              </a:rPr>
              <a:t>verification.status = "open"</a:t>
            </a:r>
          </a:p>
          <a:p xmlns:a="http://schemas.openxmlformats.org/drawingml/2006/main">
            <a:pPr>
              <a:defRPr sz="1275" b="0" i="0">
                <a:solidFill>
                  <a:srgbClr val="D8E4F1"/>
                </a:solidFill>
                <a:latin typeface="Consolas"/>
                <a:ea typeface="Consolas"/>
                <a:cs typeface="Consolas"/>
              </a:defRPr>
            </a:pPr>
            <a:r>
              <a:rPr sz="1275" b="0" i="0">
                <a:solidFill>
                  <a:srgbClr val="D8E4F1"/>
                </a:solidFill>
                <a:latin typeface="Consolas"/>
                <a:ea typeface="Consolas"/>
                <a:cs typeface="Consolas"/>
              </a:rPr>
              <a:t>finding = "CWE-306"</a:t>
            </a:r>
          </a:p>
          <a:p xmlns:a="http://schemas.openxmlformats.org/drawingml/2006/main">
            <a:pPr>
              <a:defRPr sz="1275" b="0" i="0">
                <a:solidFill>
                  <a:srgbClr val="D8E4F1"/>
                </a:solidFill>
                <a:latin typeface="Consolas"/>
                <a:ea typeface="Consolas"/>
                <a:cs typeface="Consolas"/>
              </a:defRPr>
            </a:pPr>
            <a:r>
              <a:rPr sz="1275" b="0" i="0">
                <a:solidFill>
                  <a:srgbClr val="D8E4F1"/>
                </a:solidFill>
                <a:latin typeface="Consolas"/>
                <a:ea typeface="Consolas"/>
                <a:cs typeface="Consolas"/>
              </a:rPr>
              <a:t>severity = "high"</a:t>
            </a:r>
          </a:p>
        </p:txBody>
      </p:sp>
    </p:spTree>
    <p:extLst>
      <p:ext uri="{BB962C8B-B14F-4D97-AF65-F5344CB8AC3E}">
        <p14:creationId xmlns:p14="http://schemas.microsoft.com/office/powerpoint/2010/main" val="59326834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EAF4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42F2BD-5ED7-49F9-B8F7-F38887238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0B7F8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0B7F87"/>
                </a:solidFill>
                <a:latin typeface="Consolas"/>
                <a:ea typeface="Consolas"/>
                <a:cs typeface="Consolas"/>
              </a:rPr>
              <a:t>10  •  СЦЕНАРИО 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F8FE92-8E5D-4145-A555-B80CC879B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Закрпа и retest: FIXED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1B04DE-E054-417B-8E78-8BA028944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0490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Истата проверка потврдува дека authentication сега е задолжителна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740D48-7B2E-4B7E-B0F8-DA0B05519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478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5F8C"/>
          </a:solidFill>
          <a:ln xmlns:a="http://schemas.openxmlformats.org/drawingml/2006/main" w="9525">
            <a:solidFill>
              <a:srgbClr val="2E5F8C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6842FA-E5D4-4C5F-98D1-97C86E41D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69839C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9839C"/>
                </a:solidFill>
                <a:latin typeface="Arial"/>
                <a:ea typeface="Arial"/>
                <a:cs typeface="Arial"/>
              </a:rPr>
              <a:t>AEGIS  •  локална Purple-Team лабораторија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E3698D-5648-4565-9058-459CAC8D0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532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69839C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9839C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4cecd0b1c2424e"/>
          <a:stretch xmlns:a="http://schemas.openxmlformats.org/drawingml/2006/main"/>
        </p:blipFill>
        <p:spPr>
          <a:xfrm xmlns:a="http://schemas.openxmlformats.org/drawingml/2006/main">
            <a:off x="1202752" y="1809750"/>
            <a:ext cx="3576196" cy="3714750"/>
          </a:xfrm>
          <a:prstGeom xmlns:a="http://schemas.openxmlformats.org/drawingml/2006/main" prst="roundRect">
            <a:avLst>
              <a:gd name="adj" fmla="val 3077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D051D2-6632-47A7-887D-193BE1A13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943100"/>
            <a:ext cx="50482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7F7F1"/>
          </a:solidFill>
          <a:ln xmlns:a="http://schemas.openxmlformats.org/drawingml/2006/main" w="9525">
            <a:solidFill>
              <a:srgbClr val="0B7F87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83EE9E-6FAD-4C1E-9BC1-1EB242A67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13360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0B7F87"/>
                </a:solidFill>
                <a:latin typeface="Consolas"/>
                <a:ea typeface="Consolas"/>
                <a:cs typeface="Consolas"/>
              </a:defRPr>
            </a:pPr>
            <a:r>
              <a:rPr sz="1125" b="1" i="0">
                <a:solidFill>
                  <a:srgbClr val="0B7F87"/>
                </a:solidFill>
                <a:latin typeface="Consolas"/>
                <a:ea typeface="Consolas"/>
                <a:cs typeface="Consolas"/>
              </a:rPr>
              <a:t>PATCH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D1FFC3-5BF7-4A92-8432-E9828D323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47650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15324B"/>
                </a:solidFill>
                <a:latin typeface="Consolas"/>
                <a:ea typeface="Consolas"/>
                <a:cs typeface="Consolas"/>
              </a:defRPr>
            </a:pPr>
            <a:r>
              <a:rPr sz="1650" b="1" i="0">
                <a:solidFill>
                  <a:srgbClr val="15324B"/>
                </a:solidFill>
                <a:latin typeface="Consolas"/>
                <a:ea typeface="Consolas"/>
                <a:cs typeface="Consolas"/>
              </a:rPr>
              <a:t>redis-server --requirepass …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D11425-C41F-4455-B7FE-37C72392C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333750"/>
            <a:ext cx="50482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BEAEE"/>
          </a:solidFill>
          <a:ln xmlns:a="http://schemas.openxmlformats.org/drawingml/2006/main" w="9525">
            <a:solidFill>
              <a:srgbClr val="C74762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7AB6F3-7146-45ED-A41A-60A33400A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5242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C74762"/>
                </a:solidFill>
                <a:latin typeface="Consolas"/>
                <a:ea typeface="Consolas"/>
                <a:cs typeface="Consolas"/>
              </a:defRPr>
            </a:pPr>
            <a:r>
              <a:rPr sz="1125" b="1" i="0">
                <a:solidFill>
                  <a:srgbClr val="C74762"/>
                </a:solidFill>
                <a:latin typeface="Consolas"/>
                <a:ea typeface="Consolas"/>
                <a:cs typeface="Consolas"/>
              </a:rPr>
              <a:t>RETEST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07ADF9-ECD7-405A-A005-C9B9C166A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867150"/>
            <a:ext cx="433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-NOAUTH → finding no longer verified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BA961B-0C50-4AB4-A0E3-A1B42A86C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819650"/>
            <a:ext cx="4953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Статусот FIXED доаѓа од новиот verifier резултат и од споредбата со претходниот OPEN report. Nmap сè уште може да гледа open port, затоа што достапноста не значи и неавтентициран пристап.</a:t>
            </a:r>
          </a:p>
        </p:txBody>
      </p:sp>
    </p:spTree>
    <p:extLst>
      <p:ext uri="{BB962C8B-B14F-4D97-AF65-F5344CB8AC3E}">
        <p14:creationId xmlns:p14="http://schemas.microsoft.com/office/powerpoint/2010/main" val="172896415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EAF4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F72CEDD-1676-472B-BC90-1E1A32483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0B7F8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0B7F87"/>
                </a:solidFill>
                <a:latin typeface="Consolas"/>
                <a:ea typeface="Consolas"/>
                <a:cs typeface="Consolas"/>
              </a:rPr>
              <a:t>11  •  СЦЕНАРИО 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BFDEDE-7727-41F8-91B0-BC29DDA5B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Web сервис: NO_FINDING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B62A42-6521-43B8-B219-82EF05E33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0490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Сервисот е достапен, но проценката нема доказ за ранливост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D4CCC1-7B3F-4F24-8F04-AE174025A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478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5F8C"/>
          </a:solidFill>
          <a:ln xmlns:a="http://schemas.openxmlformats.org/drawingml/2006/main" w="9525">
            <a:solidFill>
              <a:srgbClr val="2E5F8C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B33752-E2A8-4ECF-A462-E4D2986A8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69839C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9839C"/>
                </a:solidFill>
                <a:latin typeface="Arial"/>
                <a:ea typeface="Arial"/>
                <a:cs typeface="Arial"/>
              </a:rPr>
              <a:t>AEGIS  •  локална Purple-Team лабораторија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B9552A-42BB-4290-925E-C6EC726C7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532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69839C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9839C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974079-395B-400A-8A2D-60B3E284C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43100"/>
            <a:ext cx="4762500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8FCFF"/>
          </a:solidFill>
          <a:ln xmlns:a="http://schemas.openxmlformats.org/drawingml/2006/main" w="9525">
            <a:solidFill>
              <a:srgbClr val="2E5F8C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A3359F-F44D-4CEF-86CF-E588CBC89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0980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5324B"/>
                </a:solidFill>
                <a:latin typeface="Consolas"/>
                <a:ea typeface="Consolas"/>
                <a:cs typeface="Consolas"/>
              </a:defRPr>
            </a:pPr>
            <a:r>
              <a:rPr sz="2025" b="1" i="0">
                <a:solidFill>
                  <a:srgbClr val="15324B"/>
                </a:solidFill>
                <a:latin typeface="Consolas"/>
                <a:ea typeface="Consolas"/>
                <a:cs typeface="Consolas"/>
              </a:rPr>
              <a:t>127.0.0.1:8082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60D551-CE9B-4CB2-BC27-21282859D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28900"/>
            <a:ext cx="333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0B7F87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0B7F87"/>
                </a:solidFill>
                <a:latin typeface="Arial"/>
                <a:ea typeface="Arial"/>
                <a:cs typeface="Arial"/>
              </a:rPr>
              <a:t>Uvicorn / FastAPI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CF47BB-5781-44EB-B031-71F1FEDCE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62300"/>
            <a:ext cx="3714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5F8C"/>
          </a:solidFill>
          <a:ln xmlns:a="http://schemas.openxmlformats.org/drawingml/2006/main" w="9525">
            <a:solidFill>
              <a:srgbClr val="2E5F8C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9F732B-741C-4FFE-B3C4-624F7B9BD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86150"/>
            <a:ext cx="38100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3F5970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3F5970"/>
                </a:solidFill>
                <a:latin typeface="Consolas"/>
                <a:ea typeface="Consolas"/>
                <a:cs typeface="Consolas"/>
              </a:rPr>
              <a:t>Nmap: open</a:t>
            </a:r>
          </a:p>
          <a:p xmlns:a="http://schemas.openxmlformats.org/drawingml/2006/main">
            <a:pPr>
              <a:defRPr sz="1575" b="0" i="0">
                <a:solidFill>
                  <a:srgbClr val="3F5970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3F5970"/>
                </a:solidFill>
                <a:latin typeface="Consolas"/>
                <a:ea typeface="Consolas"/>
                <a:cs typeface="Consolas"/>
              </a:rPr>
              <a:t>HTTP verifier: verified</a:t>
            </a:r>
          </a:p>
          <a:p xmlns:a="http://schemas.openxmlformats.org/drawingml/2006/main">
            <a:pPr>
              <a:defRPr sz="1575" b="0" i="0">
                <a:solidFill>
                  <a:srgbClr val="3F5970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3F5970"/>
                </a:solidFill>
                <a:latin typeface="Consolas"/>
                <a:ea typeface="Consolas"/>
                <a:cs typeface="Consolas"/>
              </a:rPr>
              <a:t>Finding: null</a:t>
            </a:r>
          </a:p>
          <a:p xmlns:a="http://schemas.openxmlformats.org/drawingml/2006/main">
            <a:pPr>
              <a:defRPr sz="1575" b="0" i="0">
                <a:solidFill>
                  <a:srgbClr val="3F5970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3F5970"/>
                </a:solidFill>
                <a:latin typeface="Consolas"/>
                <a:ea typeface="Consolas"/>
                <a:cs typeface="Consolas"/>
              </a:rPr>
              <a:t>Assessment: NO_FINDING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1C8B48-7310-4AA5-BAAD-F3931CC24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943100"/>
            <a:ext cx="4857750" cy="12954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8FCFF"/>
          </a:solidFill>
          <a:ln xmlns:a="http://schemas.openxmlformats.org/drawingml/2006/main" w="9525">
            <a:solidFill>
              <a:srgbClr val="D3DEE9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F58760-506A-4BC2-8C44-AA34F9B9B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943100"/>
            <a:ext cx="57150" cy="1295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46F18"/>
          </a:solidFill>
          <a:ln xmlns:a="http://schemas.openxmlformats.org/drawingml/2006/main" w="9525">
            <a:solidFill>
              <a:srgbClr val="A46F18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6D2E0C-E1FE-4C8A-8CED-F647B3808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095500"/>
            <a:ext cx="4514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Што значи NO_FINDING?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1CA8C0-DF8D-402D-88F3-A553506F9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457450"/>
            <a:ext cx="45148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Системот потврдил дека сервисот одговара, но не потврдил конкретна ранливост. Овој резултат е различен од FIXED.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78B695-68D8-47EB-A131-981E55033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524250"/>
            <a:ext cx="4857750" cy="1390650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F8FCFF"/>
          </a:solidFill>
          <a:ln xmlns:a="http://schemas.openxmlformats.org/drawingml/2006/main" w="9525">
            <a:solidFill>
              <a:srgbClr val="D3DEE9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30B057-9A1E-4D6F-96E5-783DBCD64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524250"/>
            <a:ext cx="57150" cy="1390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7F87"/>
          </a:solidFill>
          <a:ln xmlns:a="http://schemas.openxmlformats.org/drawingml/2006/main" w="9525">
            <a:solidFill>
              <a:srgbClr val="0B7F87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C3F60FE-9BAA-4646-B4C5-B1DA0BC25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676650"/>
            <a:ext cx="4514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Зошто LLM не одлучува?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AC71244-ED08-408F-9219-DA260C405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038600"/>
            <a:ext cx="45148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LLM triage моделот само го класифицира набљудувањето и предлага следен безбеден чекор. HTTP verifier ја одредува состојбата.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873B368-0C5C-43EC-A5D4-1895C56D5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476875"/>
            <a:ext cx="981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Извештајот останува корисен: покажува што е измерено и што не е докажано.</a:t>
            </a:r>
          </a:p>
        </p:txBody>
      </p:sp>
    </p:spTree>
    <p:extLst>
      <p:ext uri="{BB962C8B-B14F-4D97-AF65-F5344CB8AC3E}">
        <p14:creationId xmlns:p14="http://schemas.microsoft.com/office/powerpoint/2010/main" val="111960372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EAF4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0866357-3E00-4259-A8B2-2EAD03AE3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0B7F8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0B7F87"/>
                </a:solidFill>
                <a:latin typeface="Consolas"/>
                <a:ea typeface="Consolas"/>
                <a:cs typeface="Consolas"/>
              </a:rPr>
              <a:t>12  •  MULTI-MODEL КОНФИГУРАЦИЈА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F3C5D8-C598-445D-AF5B-32910C3F6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Избор на модел од интерфејсот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5A8D98-0932-47F2-80CF-EFB89CA7C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0490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Моделите имаат одделни улоги, а операторот може да избере друга локална комбинација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B0E60A-576E-44F1-A951-420EA645B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478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5F8C"/>
          </a:solidFill>
          <a:ln xmlns:a="http://schemas.openxmlformats.org/drawingml/2006/main" w="9525">
            <a:solidFill>
              <a:srgbClr val="2E5F8C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A84DB0-F783-4DA6-B46A-6624A04EE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69839C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9839C"/>
                </a:solidFill>
                <a:latin typeface="Arial"/>
                <a:ea typeface="Arial"/>
                <a:cs typeface="Arial"/>
              </a:rPr>
              <a:t>AEGIS  •  локална Purple-Team лабораторија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6F45E0-4A5A-4353-A055-1833D8C86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532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69839C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9839C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5B7A71-1764-4148-A959-302CA3624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26670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DDEBFA"/>
          </a:solidFill>
          <a:ln xmlns:a="http://schemas.openxmlformats.org/drawingml/2006/main" w="9525">
            <a:solidFill>
              <a:srgbClr val="1E5C9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C1581B-58F8-463A-AAAD-D85CA97A3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622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llama3.2:1b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3374C9-2CB7-4E45-A0CF-D07E7C8D1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57475"/>
            <a:ext cx="24003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Nmap triage</a:t>
            </a:r>
          </a:p>
          <a:p xmlns:a="http://schemas.openxmlformats.org/drawingml/2006/main">
            <a:pPr>
              <a:defRPr sz="10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брза класификација</a:t>
            </a:r>
          </a:p>
          <a:p xmlns:a="http://schemas.openxmlformats.org/drawingml/2006/main">
            <a:pPr>
              <a:defRPr sz="10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мал footprint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E6F94D-EBF8-4F3B-8B8A-F588C4149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247900"/>
            <a:ext cx="26670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DDEBFA"/>
          </a:solidFill>
          <a:ln xmlns:a="http://schemas.openxmlformats.org/drawingml/2006/main" w="9525">
            <a:solidFill>
              <a:srgbClr val="0B7F87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0142BC-4203-425D-89B4-5FBBC6468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3622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llama3.2:3b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4B0C8A-BE36-4156-855C-94A3C15FD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57475"/>
            <a:ext cx="24003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Semantic Prompt Guard</a:t>
            </a:r>
          </a:p>
          <a:p xmlns:a="http://schemas.openxmlformats.org/drawingml/2006/main">
            <a:pPr>
              <a:defRPr sz="10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финална анализа</a:t>
            </a:r>
          </a:p>
          <a:p xmlns:a="http://schemas.openxmlformats.org/drawingml/2006/main">
            <a:pPr>
              <a:defRPr sz="10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локално и fail-closed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93F956-8AD7-499E-A151-356802E91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247900"/>
            <a:ext cx="26670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DDEBFA"/>
          </a:solidFill>
          <a:ln xmlns:a="http://schemas.openxmlformats.org/drawingml/2006/main" w="9525">
            <a:solidFill>
              <a:srgbClr val="A46F18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A25381-3C2B-4BB3-9C94-5FC231299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3622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Оpcionално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EB1BDD-1AA6-4615-981A-17E51F84B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657475"/>
            <a:ext cx="24003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OpenRouter provider</a:t>
            </a:r>
          </a:p>
          <a:p xmlns:a="http://schemas.openxmlformats.org/drawingml/2006/main">
            <a:pPr>
              <a:defRPr sz="10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само со сопствен API key</a:t>
            </a:r>
          </a:p>
          <a:p xmlns:a="http://schemas.openxmlformats.org/drawingml/2006/main">
            <a:pPr>
              <a:defRPr sz="10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не е активен по default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65A78E5-FC67-4366-B402-86D7AF821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009900"/>
            <a:ext cx="1409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C9F"/>
          </a:solidFill>
          <a:ln xmlns:a="http://schemas.openxmlformats.org/drawingml/2006/main" w="9525">
            <a:solidFill>
              <a:srgbClr val="1E5C9F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62B79F0-112F-47B4-9CCB-5CB2D8E5C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009900"/>
            <a:ext cx="1409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F87"/>
          </a:solidFill>
          <a:ln xmlns:a="http://schemas.openxmlformats.org/drawingml/2006/main" w="9525">
            <a:solidFill>
              <a:srgbClr val="0B7F87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658E01A-9C9A-4165-B350-A3A9C4B7A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100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69839C"/>
                </a:solidFill>
                <a:latin typeface="Consolas"/>
                <a:ea typeface="Consolas"/>
                <a:cs typeface="Consolas"/>
              </a:defRPr>
            </a:pPr>
            <a:r>
              <a:rPr sz="1125" b="0" i="0">
                <a:solidFill>
                  <a:srgbClr val="69839C"/>
                </a:solidFill>
                <a:latin typeface="Consolas"/>
                <a:ea typeface="Consolas"/>
                <a:cs typeface="Consolas"/>
              </a:rPr>
              <a:t>Nmap result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14D75A6-A019-4A83-9B2D-5F5AC7A3F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2100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69839C"/>
                </a:solidFill>
                <a:latin typeface="Consolas"/>
                <a:ea typeface="Consolas"/>
                <a:cs typeface="Consolas"/>
              </a:defRPr>
            </a:pPr>
            <a:r>
              <a:rPr sz="1125" b="0" i="0">
                <a:solidFill>
                  <a:srgbClr val="69839C"/>
                </a:solidFill>
                <a:latin typeface="Consolas"/>
                <a:ea typeface="Consolas"/>
                <a:cs typeface="Consolas"/>
              </a:rPr>
              <a:t>Guard + recommendations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6BD726C-A274-48A8-80B9-0D00A8F5B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2100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69839C"/>
                </a:solidFill>
                <a:latin typeface="Consolas"/>
                <a:ea typeface="Consolas"/>
                <a:cs typeface="Consolas"/>
              </a:defRPr>
            </a:pPr>
            <a:r>
              <a:rPr sz="1125" b="0" i="0">
                <a:solidFill>
                  <a:srgbClr val="69839C"/>
                </a:solidFill>
                <a:latin typeface="Consolas"/>
                <a:ea typeface="Consolas"/>
                <a:cs typeface="Consolas"/>
              </a:rPr>
              <a:t>Provider swap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FBFD555-ACA8-4657-A551-FDB0741DD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76800"/>
            <a:ext cx="108204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8FCFF"/>
          </a:solidFill>
          <a:ln xmlns:a="http://schemas.openxmlformats.org/drawingml/2006/main" w="9525">
            <a:solidFill>
              <a:srgbClr val="D3DEE9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3C22AF2-09E7-49F0-8321-4D17EC1BF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48250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0B7F87"/>
                </a:solidFill>
                <a:latin typeface="Consolas"/>
                <a:ea typeface="Consolas"/>
                <a:cs typeface="Consolas"/>
              </a:defRPr>
            </a:pPr>
            <a:r>
              <a:rPr sz="1125" b="1" i="0">
                <a:solidFill>
                  <a:srgbClr val="0B7F87"/>
                </a:solidFill>
                <a:latin typeface="Consolas"/>
                <a:ea typeface="Consolas"/>
                <a:cs typeface="Consolas"/>
              </a:rPr>
              <a:t>Пример од демонстрацијата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43BA734-FA48-4E1C-A4DE-7BE4CBC4F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314950"/>
            <a:ext cx="971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15324B"/>
                </a:solidFill>
                <a:latin typeface="Consolas"/>
                <a:ea typeface="Consolas"/>
                <a:cs typeface="Consolas"/>
              </a:defRPr>
            </a:pPr>
            <a:r>
              <a:rPr sz="1350" b="0" i="0">
                <a:solidFill>
                  <a:srgbClr val="15324B"/>
                </a:solidFill>
                <a:latin typeface="Consolas"/>
                <a:ea typeface="Consolas"/>
                <a:cs typeface="Consolas"/>
              </a:rPr>
              <a:t>triage = llama3.2:3b   •   final analysis = llama3.2:1b   •   guard = llama3.2:3b</a:t>
            </a:r>
          </a:p>
        </p:txBody>
      </p:sp>
    </p:spTree>
    <p:extLst>
      <p:ext uri="{BB962C8B-B14F-4D97-AF65-F5344CB8AC3E}">
        <p14:creationId xmlns:p14="http://schemas.microsoft.com/office/powerpoint/2010/main" val="168884083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EAF4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2E508A-AA37-4805-B975-BE01B2634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0B7F8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0B7F87"/>
                </a:solidFill>
                <a:latin typeface="Consolas"/>
                <a:ea typeface="Consolas"/>
                <a:cs typeface="Consolas"/>
              </a:rPr>
              <a:t>13  •  ЗАШТИТНИ МЕХАНИЗМИ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55A839-408F-4D5B-9AF7-1690C9492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Ethical guard пред секоја ризична акција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8C4238-877C-4512-834B-3ED19FDC7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0490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AEGIS блокира prompt injection, непотребна ексфилтрација и target надвор од дозволениот scope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767027-B131-45A6-8654-E43CFD0FB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478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5F8C"/>
          </a:solidFill>
          <a:ln xmlns:a="http://schemas.openxmlformats.org/drawingml/2006/main" w="9525">
            <a:solidFill>
              <a:srgbClr val="2E5F8C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EDE35D-3398-4A37-8825-8A6F4D566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69839C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9839C"/>
                </a:solidFill>
                <a:latin typeface="Arial"/>
                <a:ea typeface="Arial"/>
                <a:cs typeface="Arial"/>
              </a:rPr>
              <a:t>AEGIS  •  локална Purple-Team лабораторија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CA9CB7-512B-420C-886F-37FFE8289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532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69839C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9839C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a526b586434d88"/>
          <a:stretch xmlns:a="http://schemas.openxmlformats.org/drawingml/2006/main"/>
        </p:blipFill>
        <p:spPr>
          <a:xfrm xmlns:a="http://schemas.openxmlformats.org/drawingml/2006/main">
            <a:off x="981740" y="1866900"/>
            <a:ext cx="3256221" cy="2857500"/>
          </a:xfrm>
          <a:prstGeom xmlns:a="http://schemas.openxmlformats.org/drawingml/2006/main" prst="roundRect">
            <a:avLst>
              <a:gd name="adj" fmla="val 4000"/>
            </a:avLst>
          </a:prstGeom>
        </p:spPr>
      </p:pic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cbc03fefb243d4"/>
          <a:stretch xmlns:a="http://schemas.openxmlformats.org/drawingml/2006/main"/>
        </p:blipFill>
        <p:spPr>
          <a:xfrm xmlns:a="http://schemas.openxmlformats.org/drawingml/2006/main">
            <a:off x="4953000" y="2244686"/>
            <a:ext cx="4191000" cy="2101928"/>
          </a:xfrm>
          <a:prstGeom xmlns:a="http://schemas.openxmlformats.org/drawingml/2006/main" prst="roundRect">
            <a:avLst>
              <a:gd name="adj" fmla="val 4000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7280E9-C28A-452C-B67E-BC3483B98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1866900"/>
            <a:ext cx="2190750" cy="285750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8FCFF"/>
          </a:solidFill>
          <a:ln xmlns:a="http://schemas.openxmlformats.org/drawingml/2006/main" w="9525">
            <a:solidFill>
              <a:srgbClr val="E9BAC8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6C850F-57FC-46C3-9C53-4D47C2F54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20980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C74762"/>
                </a:solidFill>
                <a:latin typeface="Consolas"/>
                <a:ea typeface="Consolas"/>
                <a:cs typeface="Consolas"/>
              </a:defRPr>
            </a:pPr>
            <a:r>
              <a:rPr sz="1800" b="1" i="0">
                <a:solidFill>
                  <a:srgbClr val="C74762"/>
                </a:solidFill>
                <a:latin typeface="Consolas"/>
                <a:ea typeface="Consolas"/>
                <a:cs typeface="Consolas"/>
              </a:rPr>
              <a:t>BLOCK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8FE8E4-34A5-4220-9424-C65D63EA8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724150"/>
            <a:ext cx="1619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3F5970"/>
                </a:solidFill>
                <a:latin typeface="Consolas"/>
                <a:ea typeface="Consolas"/>
                <a:cs typeface="Consolas"/>
              </a:defRPr>
            </a:pPr>
            <a:r>
              <a:rPr sz="1275" b="0" i="0">
                <a:solidFill>
                  <a:srgbClr val="3F5970"/>
                </a:solidFill>
                <a:latin typeface="Consolas"/>
                <a:ea typeface="Consolas"/>
                <a:cs typeface="Consolas"/>
              </a:rPr>
              <a:t>tools_called = []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 b="0" i="0">
                <a:solidFill>
                  <a:srgbClr val="3F5970"/>
                </a:solidFill>
                <a:latin typeface="Consolas"/>
                <a:ea typeface="Consolas"/>
                <a:cs typeface="Consolas"/>
              </a:defRPr>
            </a:pPr>
            <a:r>
              <a:rPr sz="1275" b="0" i="0">
                <a:solidFill>
                  <a:srgbClr val="3F5970"/>
                </a:solidFill>
                <a:latin typeface="Consolas"/>
                <a:ea typeface="Consolas"/>
                <a:cs typeface="Consolas"/>
              </a:rPr>
              <a:t>policy.allowed = false</a:t>
            </a:r>
          </a:p>
          <a:p xmlns:a="http://schemas.openxmlformats.org/drawingml/2006/main">
            <a:pPr>
              <a:defRPr sz="1275" b="0" i="0">
                <a:solidFill>
                  <a:srgbClr val="3F5970"/>
                </a:solidFill>
                <a:latin typeface="Consolas"/>
                <a:ea typeface="Consolas"/>
                <a:cs typeface="Consolas"/>
              </a:defRPr>
            </a:pPr>
            <a:r>
              <a:rPr sz="1275" b="0" i="0">
                <a:solidFill>
                  <a:srgbClr val="3F5970"/>
                </a:solidFill>
                <a:latin typeface="Consolas"/>
                <a:ea typeface="Consolas"/>
                <a:cs typeface="Consolas"/>
              </a:rPr>
              <a:t>scope.allowed = false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 b="0" i="0">
                <a:solidFill>
                  <a:srgbClr val="3F5970"/>
                </a:solidFill>
                <a:latin typeface="Consolas"/>
                <a:ea typeface="Consolas"/>
                <a:cs typeface="Consolas"/>
              </a:defRPr>
            </a:pPr>
            <a:r>
              <a:rPr sz="1275" b="0" i="0">
                <a:solidFill>
                  <a:srgbClr val="3F5970"/>
                </a:solidFill>
                <a:latin typeface="Consolas"/>
                <a:ea typeface="Consolas"/>
                <a:cs typeface="Consolas"/>
              </a:rPr>
              <a:t>LLM не добива команда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C1A735-C5FC-46E2-9BD9-2AD3C25D4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0B7F87"/>
                </a:solidFill>
                <a:latin typeface="Consolas"/>
                <a:ea typeface="Consolas"/>
                <a:cs typeface="Consolas"/>
              </a:defRPr>
            </a:pPr>
            <a:r>
              <a:rPr sz="1125" b="1" i="0">
                <a:solidFill>
                  <a:srgbClr val="0B7F87"/>
                </a:solidFill>
                <a:latin typeface="Consolas"/>
                <a:ea typeface="Consolas"/>
                <a:cs typeface="Consolas"/>
              </a:rPr>
              <a:t>ALLOW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F0D4E0-03A2-4C95-A938-71B4720BD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864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Безбедно едукативно прашање стигнува до локалниот LLM и добива одговор.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FE6CB5-7850-4164-BBA8-36012F800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2197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C74762"/>
                </a:solidFill>
                <a:latin typeface="Consolas"/>
                <a:ea typeface="Consolas"/>
                <a:cs typeface="Consolas"/>
              </a:defRPr>
            </a:pPr>
            <a:r>
              <a:rPr sz="1125" b="1" i="0">
                <a:solidFill>
                  <a:srgbClr val="C74762"/>
                </a:solidFill>
                <a:latin typeface="Consolas"/>
                <a:ea typeface="Consolas"/>
                <a:cs typeface="Consolas"/>
              </a:rPr>
              <a:t>BLOCK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85A542-FEF8-479F-B315-C97A27E06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48640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Непознат target или обид за override се блокира пред алатката или моделот.</a:t>
            </a:r>
          </a:p>
        </p:txBody>
      </p:sp>
    </p:spTree>
    <p:extLst>
      <p:ext uri="{BB962C8B-B14F-4D97-AF65-F5344CB8AC3E}">
        <p14:creationId xmlns:p14="http://schemas.microsoft.com/office/powerpoint/2010/main" val="105308651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EAF4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2139E34-F57F-4A9D-ADAC-A3394BAC1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0B7F8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0B7F87"/>
                </a:solidFill>
                <a:latin typeface="Consolas"/>
                <a:ea typeface="Consolas"/>
                <a:cs typeface="Consolas"/>
              </a:rPr>
              <a:t>14  •  КОНТРОЛИРАНА ВАЛИДАЦИЈА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EEB9B8-92AA-4711-9BE5-A2EDF2747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Metasploit каталог без автоматизиран напад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4C08F1-27DD-480F-9F9E-F24007880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0490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AEGIS ги наоѓа соодветните модули за преглед, но автоматското извршување е строго исклучено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5C59C1-8481-4977-8663-990108AEF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478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5F8C"/>
          </a:solidFill>
          <a:ln xmlns:a="http://schemas.openxmlformats.org/drawingml/2006/main" w="9525">
            <a:solidFill>
              <a:srgbClr val="2E5F8C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69D7E8-281F-4770-AD23-99BE432C4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69839C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9839C"/>
                </a:solidFill>
                <a:latin typeface="Arial"/>
                <a:ea typeface="Arial"/>
                <a:cs typeface="Arial"/>
              </a:rPr>
              <a:t>AEGIS  •  локална Purple-Team лабораторија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74F3D5-49DB-4DCF-ABF3-293B6C756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532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69839C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9839C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288239-1AE8-4D16-A1AC-D42005EF5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43100"/>
            <a:ext cx="3333750" cy="3124200"/>
          </a:xfrm>
          <a:prstGeom xmlns:a="http://schemas.openxmlformats.org/drawingml/2006/main" prst="roundRect">
            <a:avLst>
              <a:gd name="adj" fmla="val 2439"/>
            </a:avLst>
          </a:prstGeom>
          <a:solidFill xmlns:a="http://schemas.openxmlformats.org/drawingml/2006/main">
            <a:srgbClr val="FDECEF"/>
          </a:solidFill>
          <a:ln xmlns:a="http://schemas.openxmlformats.org/drawingml/2006/main" w="9525">
            <a:solidFill>
              <a:srgbClr val="E9BAC8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9C8D11-8C9D-4DF1-91A8-3A969C8CE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2885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C74762"/>
                </a:solidFill>
                <a:latin typeface="Consolas"/>
                <a:ea typeface="Consolas"/>
                <a:cs typeface="Consolas"/>
              </a:defRPr>
            </a:pPr>
            <a:r>
              <a:rPr sz="1275" b="1" i="0">
                <a:solidFill>
                  <a:srgbClr val="C74762"/>
                </a:solidFill>
                <a:latin typeface="Consolas"/>
                <a:ea typeface="Consolas"/>
                <a:cs typeface="Consolas"/>
              </a:rPr>
              <a:t>1  •  LIST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D36174-5DC2-4D79-8340-92241F973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670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Локален каталог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FEDB13-C4AD-4FFA-94E5-57EDBFF85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19450"/>
            <a:ext cx="238125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Пребарување преку msfconsole</a:t>
            </a:r>
          </a:p>
          <a:p xmlns:a="http://schemas.openxmlformats.org/drawingml/2006/main">
            <a:pPr>
              <a:defRPr sz="1275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Само auxiliary scanner кандидати</a:t>
            </a:r>
          </a:p>
          <a:p xmlns:a="http://schemas.openxmlformats.org/drawingml/2006/main">
            <a:pPr>
              <a:defRPr sz="1275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Ограничено на одобрената Docker мета</a:t>
            </a:r>
          </a:p>
          <a:p xmlns:a="http://schemas.openxmlformats.org/drawingml/2006/main">
            <a:pPr>
              <a:defRPr sz="1275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Нула payload и нула execution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2D8B6C-8872-4796-9D2D-44AD3FEA9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943100"/>
            <a:ext cx="3333750" cy="3124200"/>
          </a:xfrm>
          <a:prstGeom xmlns:a="http://schemas.openxmlformats.org/drawingml/2006/main" prst="roundRect">
            <a:avLst>
              <a:gd name="adj" fmla="val 2439"/>
            </a:avLst>
          </a:prstGeom>
          <a:solidFill xmlns:a="http://schemas.openxmlformats.org/drawingml/2006/main">
            <a:srgbClr val="EEF4FF"/>
          </a:solidFill>
          <a:ln xmlns:a="http://schemas.openxmlformats.org/drawingml/2006/main" w="9525">
            <a:solidFill>
              <a:srgbClr val="2E5F8C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4BB5ED-613B-43C7-9691-669597572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22885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1E5C9F"/>
                </a:solidFill>
                <a:latin typeface="Consolas"/>
                <a:ea typeface="Consolas"/>
                <a:cs typeface="Consolas"/>
              </a:defRPr>
            </a:pPr>
            <a:r>
              <a:rPr sz="1275" b="1" i="0">
                <a:solidFill>
                  <a:srgbClr val="1E5C9F"/>
                </a:solidFill>
                <a:latin typeface="Consolas"/>
                <a:ea typeface="Consolas"/>
                <a:cs typeface="Consolas"/>
              </a:rPr>
              <a:t>2  •  MATCH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AED242-B25B-4A97-801F-62932D255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6670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AI селекција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5CB166-A4FD-4D54-A7F7-E2D7D8321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219450"/>
            <a:ext cx="238125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llama3.2:3b споредува verified OPEN finding со листата на дозволени имиња. Моделот предлага match само ако каталогот врати кандидат. Параметрите се прикажуваат за едукативен преглед.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BD3440-2EE2-4431-B628-B1F87A3F8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943100"/>
            <a:ext cx="3333750" cy="3124200"/>
          </a:xfrm>
          <a:prstGeom xmlns:a="http://schemas.openxmlformats.org/drawingml/2006/main" prst="roundRect">
            <a:avLst>
              <a:gd name="adj" fmla="val 2439"/>
            </a:avLst>
          </a:prstGeom>
          <a:solidFill xmlns:a="http://schemas.openxmlformats.org/drawingml/2006/main">
            <a:srgbClr val="EAF8F4"/>
          </a:solidFill>
          <a:ln xmlns:a="http://schemas.openxmlformats.org/drawingml/2006/main" w="9525">
            <a:solidFill>
              <a:srgbClr val="0B7F87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E05D04E-107E-452D-AE94-633AD8855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22885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0B7F87"/>
                </a:solidFill>
                <a:latin typeface="Consolas"/>
                <a:ea typeface="Consolas"/>
                <a:cs typeface="Consolas"/>
              </a:defRPr>
            </a:pPr>
            <a:r>
              <a:rPr sz="1275" b="1" i="0">
                <a:solidFill>
                  <a:srgbClr val="0B7F87"/>
                </a:solidFill>
                <a:latin typeface="Consolas"/>
                <a:ea typeface="Consolas"/>
                <a:cs typeface="Consolas"/>
              </a:rPr>
              <a:t>3  •  REVIEW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8267837-D05D-42FC-9341-561E7D2AB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6670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Човечка одлука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CE6DC8F-4FC6-462F-8311-187686A3E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219450"/>
            <a:ext cx="238125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execution: disabled е задолжително. Операторот или професорот ги прегледува доказите, а секоја понатамошна офанзивна активност бара посебна, изолирана и одобрена средина.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4832845-786F-43F9-9A93-C942F9DAA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3371850"/>
            <a:ext cx="4667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C74762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C74762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35ADD57-D2F9-4262-A935-568ED9FE8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3371850"/>
            <a:ext cx="4667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1E5C9F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E5C9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87D3A62-EF28-4586-9FA9-371F0A1E1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5785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A46F18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A46F18"/>
                </a:solidFill>
                <a:latin typeface="Arial"/>
                <a:ea typeface="Arial"/>
                <a:cs typeface="Arial"/>
              </a:rPr>
              <a:t>Забелешка за Windows: каталогот е опционален. Ако локалната Ruby компонента е блокирана од Windows Security, статусот е UNAVAILABLE, а останатите делови на AEGIS продолжуваат нормално.</a:t>
            </a:r>
          </a:p>
        </p:txBody>
      </p:sp>
    </p:spTree>
    <p:extLst>
      <p:ext uri="{BB962C8B-B14F-4D97-AF65-F5344CB8AC3E}">
        <p14:creationId xmlns:p14="http://schemas.microsoft.com/office/powerpoint/2010/main" val="32850549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EAF4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7F1A82-A71D-4E21-8209-242686000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0B7F8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0B7F87"/>
                </a:solidFill>
                <a:latin typeface="Consolas"/>
                <a:ea typeface="Consolas"/>
                <a:cs typeface="Consolas"/>
              </a:rPr>
              <a:t>15  •  ДОКАЗИ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71274E-D291-460D-BA38-3732D3C3A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Извештај, audit trail и репродуктивност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516877-345E-405E-BDF9-ADC3730AD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0490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Секој run остава трага што може да се прегледа и спореди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45E5C0-E952-4CBA-83AE-7DCDADDD4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478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5F8C"/>
          </a:solidFill>
          <a:ln xmlns:a="http://schemas.openxmlformats.org/drawingml/2006/main" w="9525">
            <a:solidFill>
              <a:srgbClr val="2E5F8C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0F13FC-89EC-4727-B0D6-958C3F1E8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69839C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9839C"/>
                </a:solidFill>
                <a:latin typeface="Arial"/>
                <a:ea typeface="Arial"/>
                <a:cs typeface="Arial"/>
              </a:rPr>
              <a:t>AEGIS  •  локална Purple-Team лабораторија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9968FE-6BB5-4CA8-BBE4-5BE7A7C37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532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69839C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9839C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D30231-5179-4FF2-9DC4-28B3130AA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43100"/>
            <a:ext cx="4191000" cy="2781300"/>
          </a:xfrm>
          <a:prstGeom xmlns:a="http://schemas.openxmlformats.org/drawingml/2006/main" prst="roundRect">
            <a:avLst>
              <a:gd name="adj" fmla="val 2740"/>
            </a:avLst>
          </a:prstGeom>
          <a:solidFill xmlns:a="http://schemas.openxmlformats.org/drawingml/2006/main">
            <a:srgbClr val="122B45"/>
          </a:solidFill>
          <a:ln xmlns:a="http://schemas.openxmlformats.org/drawingml/2006/main" w="9525">
            <a:solidFill>
              <a:srgbClr val="36516D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DB21B3-6890-4CBC-AD63-39EBE1B8F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76450"/>
            <a:ext cx="3848100" cy="2514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D8E4F1"/>
                </a:solidFill>
                <a:latin typeface="Consolas"/>
                <a:ea typeface="Consolas"/>
                <a:cs typeface="Consolas"/>
              </a:defRPr>
            </a:pPr>
            <a:r>
              <a:rPr sz="1350" b="0" i="0">
                <a:solidFill>
                  <a:srgbClr val="D8E4F1"/>
                </a:solidFill>
                <a:latin typeface="Consolas"/>
                <a:ea typeface="Consolas"/>
                <a:cs typeface="Consolas"/>
              </a:rPr>
              <a:t>assessment_state: FIXED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350" b="0" i="0">
                <a:solidFill>
                  <a:srgbClr val="D8E4F1"/>
                </a:solidFill>
                <a:latin typeface="Consolas"/>
                <a:ea typeface="Consolas"/>
                <a:cs typeface="Consolas"/>
              </a:defRPr>
            </a:pPr>
            <a:r>
              <a:rPr sz="1350" b="0" i="0">
                <a:solidFill>
                  <a:srgbClr val="D8E4F1"/>
                </a:solidFill>
                <a:latin typeface="Consolas"/>
                <a:ea typeface="Consolas"/>
                <a:cs typeface="Consolas"/>
              </a:rPr>
              <a:t>policy.allowed: true</a:t>
            </a:r>
          </a:p>
          <a:p xmlns:a="http://schemas.openxmlformats.org/drawingml/2006/main">
            <a:pPr>
              <a:defRPr sz="1350" b="0" i="0">
                <a:solidFill>
                  <a:srgbClr val="D8E4F1"/>
                </a:solidFill>
                <a:latin typeface="Consolas"/>
                <a:ea typeface="Consolas"/>
                <a:cs typeface="Consolas"/>
              </a:defRPr>
            </a:pPr>
            <a:r>
              <a:rPr sz="1350" b="0" i="0">
                <a:solidFill>
                  <a:srgbClr val="D8E4F1"/>
                </a:solidFill>
                <a:latin typeface="Consolas"/>
                <a:ea typeface="Consolas"/>
                <a:cs typeface="Consolas"/>
              </a:rPr>
              <a:t>scope.allowed: true</a:t>
            </a:r>
          </a:p>
          <a:p xmlns:a="http://schemas.openxmlformats.org/drawingml/2006/main">
            <a:pPr>
              <a:defRPr sz="1350" b="0" i="0">
                <a:solidFill>
                  <a:srgbClr val="D8E4F1"/>
                </a:solidFill>
                <a:latin typeface="Consolas"/>
                <a:ea typeface="Consolas"/>
                <a:cs typeface="Consolas"/>
              </a:defRPr>
            </a:pPr>
            <a:r>
              <a:rPr sz="1350" b="0" i="0">
                <a:solidFill>
                  <a:srgbClr val="D8E4F1"/>
                </a:solidFill>
                <a:latin typeface="Consolas"/>
                <a:ea typeface="Consolas"/>
                <a:cs typeface="Consolas"/>
              </a:rPr>
              <a:t>nmap.status: completed</a:t>
            </a:r>
          </a:p>
          <a:p xmlns:a="http://schemas.openxmlformats.org/drawingml/2006/main">
            <a:pPr>
              <a:defRPr sz="1350" b="0" i="0">
                <a:solidFill>
                  <a:srgbClr val="D8E4F1"/>
                </a:solidFill>
                <a:latin typeface="Consolas"/>
                <a:ea typeface="Consolas"/>
                <a:cs typeface="Consolas"/>
              </a:defRPr>
            </a:pPr>
            <a:r>
              <a:rPr sz="1350" b="0" i="0">
                <a:solidFill>
                  <a:srgbClr val="D8E4F1"/>
                </a:solidFill>
                <a:latin typeface="Consolas"/>
                <a:ea typeface="Consolas"/>
                <a:cs typeface="Consolas"/>
              </a:rPr>
              <a:t>verification.status: fixed</a:t>
            </a:r>
          </a:p>
          <a:p xmlns:a="http://schemas.openxmlformats.org/drawingml/2006/main">
            <a:pPr>
              <a:defRPr sz="1350" b="0" i="0">
                <a:solidFill>
                  <a:srgbClr val="D8E4F1"/>
                </a:solidFill>
                <a:latin typeface="Consolas"/>
                <a:ea typeface="Consolas"/>
                <a:cs typeface="Consolas"/>
              </a:defRPr>
            </a:pPr>
            <a:r>
              <a:rPr sz="1350" b="0" i="0">
                <a:solidFill>
                  <a:srgbClr val="D8E4F1"/>
                </a:solidFill>
                <a:latin typeface="Consolas"/>
                <a:ea typeface="Consolas"/>
                <a:cs typeface="Consolas"/>
              </a:rPr>
              <a:t>retest.status: FIXED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0B1A9A-8E25-4FC5-AB93-78365F888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1943100"/>
            <a:ext cx="5619750" cy="2781300"/>
          </a:xfrm>
          <a:prstGeom xmlns:a="http://schemas.openxmlformats.org/drawingml/2006/main" prst="roundRect">
            <a:avLst>
              <a:gd name="adj" fmla="val 2740"/>
            </a:avLst>
          </a:prstGeom>
          <a:solidFill xmlns:a="http://schemas.openxmlformats.org/drawingml/2006/main">
            <a:srgbClr val="F8FCFF"/>
          </a:solidFill>
          <a:ln xmlns:a="http://schemas.openxmlformats.org/drawingml/2006/main" w="9525">
            <a:solidFill>
              <a:srgbClr val="D3DEE9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A7A02C-CD68-4CD9-8839-8024AD71B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20980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Што се запишува?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0C4698-0168-40C6-80F0-C15E11D62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724150"/>
            <a:ext cx="4667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• target и scope одлука</a:t>
            </a:r>
          </a:p>
          <a:p xmlns:a="http://schemas.openxmlformats.org/drawingml/2006/main">
            <a:pPr>
              <a:defRPr sz="1425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• точната алатка и нејзиниот резултат</a:t>
            </a:r>
          </a:p>
          <a:p xmlns:a="http://schemas.openxmlformats.org/drawingml/2006/main">
            <a:pPr>
              <a:defRPr sz="1425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• моделот што ја направил triage анализата</a:t>
            </a:r>
          </a:p>
          <a:p xmlns:a="http://schemas.openxmlformats.org/drawingml/2006/main">
            <a:pPr>
              <a:defRPr sz="1425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• verified finding и препорака</a:t>
            </a:r>
          </a:p>
          <a:p xmlns:a="http://schemas.openxmlformats.org/drawingml/2006/main">
            <a:pPr>
              <a:defRPr sz="1425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• report ID и retest споредба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84FA40-478D-48C6-B879-16B586575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24450"/>
            <a:ext cx="10477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5F8C"/>
          </a:solidFill>
          <a:ln xmlns:a="http://schemas.openxmlformats.org/drawingml/2006/main" w="9525">
            <a:solidFill>
              <a:srgbClr val="2E5F8C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C093E0-E944-4551-A06F-ABEBF8D71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4483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A46F18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A46F18"/>
                </a:solidFill>
                <a:latin typeface="Arial"/>
                <a:ea typeface="Arial"/>
                <a:cs typeface="Arial"/>
              </a:rPr>
              <a:t>Audit trail = оперативна трага за демонстрација и debugging. Не го претставуваме како криптографски immutable ledger.</a:t>
            </a:r>
          </a:p>
        </p:txBody>
      </p:sp>
    </p:spTree>
    <p:extLst>
      <p:ext uri="{BB962C8B-B14F-4D97-AF65-F5344CB8AC3E}">
        <p14:creationId xmlns:p14="http://schemas.microsoft.com/office/powerpoint/2010/main" val="43942411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EAF4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AF05723-4C57-499C-9ECD-604B0BC23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0B7F8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0B7F87"/>
                </a:solidFill>
                <a:latin typeface="Consolas"/>
                <a:ea typeface="Consolas"/>
                <a:cs typeface="Consolas"/>
              </a:rPr>
              <a:t>16  •  ПОКРИЕНОСТ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177786-F16A-45EA-883A-B5B480ADE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Што е имплементирано и кои се границите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219980-B12A-4F01-9205-D056B0A36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0490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Транспарентната проценка е дел од етичкиот дизајн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DBB967-93FE-4B34-806B-135E854B5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478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5F8C"/>
          </a:solidFill>
          <a:ln xmlns:a="http://schemas.openxmlformats.org/drawingml/2006/main" w="9525">
            <a:solidFill>
              <a:srgbClr val="2E5F8C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1CA78F-8F26-4B52-8556-6BA8CDB90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69839C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9839C"/>
                </a:solidFill>
                <a:latin typeface="Arial"/>
                <a:ea typeface="Arial"/>
                <a:cs typeface="Arial"/>
              </a:rPr>
              <a:t>AEGIS  •  локална Purple-Team лабораторија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2C847A-5005-4439-8036-43E988792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532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69839C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9839C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B5C117-1732-4F99-9A5B-B718D488B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47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69839C"/>
                </a:solidFill>
                <a:latin typeface="Consolas"/>
                <a:ea typeface="Consolas"/>
                <a:cs typeface="Consolas"/>
              </a:defRPr>
            </a:pPr>
            <a:r>
              <a:rPr sz="1125" b="1" i="0">
                <a:solidFill>
                  <a:srgbClr val="69839C"/>
                </a:solidFill>
                <a:latin typeface="Consolas"/>
                <a:ea typeface="Consolas"/>
                <a:cs typeface="Consolas"/>
              </a:rPr>
              <a:t>Барање / способност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C014A8-AA53-4638-ADDB-579C970A5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8478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69839C"/>
                </a:solidFill>
                <a:latin typeface="Consolas"/>
                <a:ea typeface="Consolas"/>
                <a:cs typeface="Consolas"/>
              </a:defRPr>
            </a:pPr>
            <a:r>
              <a:rPr sz="1125" b="1" i="0">
                <a:solidFill>
                  <a:srgbClr val="69839C"/>
                </a:solidFill>
                <a:latin typeface="Consolas"/>
                <a:ea typeface="Consolas"/>
                <a:cs typeface="Consolas"/>
              </a:rPr>
              <a:t>Статус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19C565-5114-49B6-81E1-59AC74917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104775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8FCFF"/>
          </a:solidFill>
          <a:ln xmlns:a="http://schemas.openxmlformats.org/drawingml/2006/main" w="9525">
            <a:solidFill>
              <a:srgbClr val="D3DEE9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9D94D8-4957-4177-9BC4-8A56FAC39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050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Nmap повик + agent triage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831968-C0B7-4DCD-9B18-83C2F315E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30505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0B7F87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B7F87"/>
                </a:solidFill>
                <a:latin typeface="Arial"/>
                <a:ea typeface="Arial"/>
                <a:cs typeface="Arial"/>
              </a:rPr>
              <a:t>Има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467DC4-527F-474B-9A80-94F2DFCAD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104775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8FCFF"/>
          </a:solidFill>
          <a:ln xmlns:a="http://schemas.openxmlformats.org/drawingml/2006/main" w="9525">
            <a:solidFill>
              <a:srgbClr val="D3DEE9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C924BF-BF01-47E9-9C9F-5DD300900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8130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Проверка на ранливост + report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62BCD3-962E-4D4F-B7D1-FC953611E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78130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0B7F87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B7F87"/>
                </a:solidFill>
                <a:latin typeface="Arial"/>
                <a:ea typeface="Arial"/>
                <a:cs typeface="Arial"/>
              </a:rPr>
              <a:t>Има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5985E2-CAE3-4EFD-A00F-8B03F1E7D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62300"/>
            <a:ext cx="104775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8FCFF"/>
          </a:solidFill>
          <a:ln xmlns:a="http://schemas.openxmlformats.org/drawingml/2006/main" w="9525">
            <a:solidFill>
              <a:srgbClr val="D3DEE9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51A4A3-A7A8-420B-AB37-C6361D2B4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575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Patch → policy/retest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B530AB4-588A-46B7-BB62-7AB5A6D81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25755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0B7F87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B7F87"/>
                </a:solidFill>
                <a:latin typeface="Arial"/>
                <a:ea typeface="Arial"/>
                <a:cs typeface="Arial"/>
              </a:rPr>
              <a:t>Има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6A5467D-1832-4C2F-A00C-B3E2FC100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38550"/>
            <a:ext cx="104775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8FCFF"/>
          </a:solidFill>
          <a:ln xmlns:a="http://schemas.openxmlformats.org/drawingml/2006/main" w="9525">
            <a:solidFill>
              <a:srgbClr val="D3DEE9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F2C61AA-92A2-4B72-9A3C-F7A307D7D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3380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Повеќе локални модели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ABA2527-CDB6-4C74-B246-3A42CC379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73380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0B7F87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B7F87"/>
                </a:solidFill>
                <a:latin typeface="Arial"/>
                <a:ea typeface="Arial"/>
                <a:cs typeface="Arial"/>
              </a:rPr>
              <a:t>Има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445DDDE-1689-49FE-901D-A3DA2A100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14800"/>
            <a:ext cx="104775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8FCFF"/>
          </a:solidFill>
          <a:ln xmlns:a="http://schemas.openxmlformats.org/drawingml/2006/main" w="9525">
            <a:solidFill>
              <a:srgbClr val="D3DEE9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14D80CF-C39C-4122-BE1C-740E2DB71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100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Ethical scope и prompt блокирање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098CD6B-4D24-4410-80DA-D99B705DD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21005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0B7F87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B7F87"/>
                </a:solidFill>
                <a:latin typeface="Arial"/>
                <a:ea typeface="Arial"/>
                <a:cs typeface="Arial"/>
              </a:rPr>
              <a:t>Има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45869DF-CCFE-4F79-B8AE-BBE8C83D6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91050"/>
            <a:ext cx="104775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8FCFF"/>
          </a:solidFill>
          <a:ln xmlns:a="http://schemas.openxmlformats.org/drawingml/2006/main" w="9525">
            <a:solidFill>
              <a:srgbClr val="D3DEE9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596747F-1037-4511-9EA4-53947CAA4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8630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Metasploit listing / match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3E20299-5AC5-41BA-9902-D961B8788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68630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A46F18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A46F18"/>
                </a:solidFill>
                <a:latin typeface="Arial"/>
                <a:ea typeface="Arial"/>
                <a:cs typeface="Arial"/>
              </a:rPr>
              <a:t>Делумно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AE47BE8-2453-4EBF-AECE-20B4C3E41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67300"/>
            <a:ext cx="104775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8FCFF"/>
          </a:solidFill>
          <a:ln xmlns:a="http://schemas.openxmlformats.org/drawingml/2006/main" w="9525">
            <a:solidFill>
              <a:srgbClr val="D3DEE9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2220C36-77E8-485E-B1D5-DAD63DD40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625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Автоматски exploit / ексфилтрација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17CC989-EEA4-490A-9519-5156E3499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16255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C74762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C74762"/>
                </a:solidFill>
                <a:latin typeface="Arial"/>
                <a:ea typeface="Arial"/>
                <a:cs typeface="Arial"/>
              </a:rPr>
              <a:t>Исклучено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003553E-5C0B-43E3-8AD5-81913A2D0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43550"/>
            <a:ext cx="104775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8FCFF"/>
          </a:solidFill>
          <a:ln xmlns:a="http://schemas.openxmlformats.org/drawingml/2006/main" w="9525">
            <a:solidFill>
              <a:srgbClr val="D3DEE9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1C8EC60-65D7-4179-8D1B-BC3631358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63880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OpenRouter cloud модел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7F8C661-DFF4-4684-BF64-D0B61182D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63880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A46F18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A46F18"/>
                </a:solidFill>
                <a:latin typeface="Arial"/>
                <a:ea typeface="Arial"/>
                <a:cs typeface="Arial"/>
              </a:rPr>
              <a:t>Опционално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060690A-B349-4CBF-B419-2C0286199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Оваа листа ја кажува реалната состојба: AEGIS демонстрира безбедна проценка, а не неконтролиран офанзивен автомат.</a:t>
            </a:r>
          </a:p>
        </p:txBody>
      </p:sp>
    </p:spTree>
    <p:extLst>
      <p:ext uri="{BB962C8B-B14F-4D97-AF65-F5344CB8AC3E}">
        <p14:creationId xmlns:p14="http://schemas.microsoft.com/office/powerpoint/2010/main" val="1475111338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EAF4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6AEC4DF-0934-4A81-BC72-A8EDE7A6E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0B7F8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0B7F87"/>
                </a:solidFill>
                <a:latin typeface="Consolas"/>
                <a:ea typeface="Consolas"/>
                <a:cs typeface="Consolas"/>
              </a:rPr>
              <a:t>17  •  ЗАКЛУЧОК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988B45-A7E4-4374-A113-E47FEECDD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Што демонстрира AEGIS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17B014-2841-450A-99CF-746D2E885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0490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Безбедна и детерминистичка оркестрација на алатки и модели во локална лабораторија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088B77-2746-48A7-8CC1-A68037A5B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478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5F8C"/>
          </a:solidFill>
          <a:ln xmlns:a="http://schemas.openxmlformats.org/drawingml/2006/main" w="9525">
            <a:solidFill>
              <a:srgbClr val="2E5F8C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6C51B0-7C33-4C69-8E7F-257F264FE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69839C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9839C"/>
                </a:solidFill>
                <a:latin typeface="Arial"/>
                <a:ea typeface="Arial"/>
                <a:cs typeface="Arial"/>
              </a:rPr>
              <a:t>AEGIS  •  локална Purple-Team лабораторија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55F9FA-623F-462F-A9AD-67290CAB8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532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69839C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9839C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8A97F0-A2F8-4B5D-86AB-868F3AAB0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33600"/>
            <a:ext cx="47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0B7F87"/>
                </a:solidFill>
                <a:latin typeface="Consolas"/>
                <a:ea typeface="Consolas"/>
                <a:cs typeface="Consolas"/>
              </a:defRPr>
            </a:pPr>
            <a:r>
              <a:rPr sz="2550" b="1" i="0">
                <a:solidFill>
                  <a:srgbClr val="0B7F87"/>
                </a:solidFill>
                <a:latin typeface="Consolas"/>
                <a:ea typeface="Consolas"/>
                <a:cs typeface="Consolas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15B1CB-B4A1-4979-8FCE-DAE62EE9A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114550"/>
            <a:ext cx="428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Реален алат, а не симулација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D57821-9124-47FD-B851-4B9A0B06B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495550"/>
            <a:ext cx="447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Nmap и Metasploit се повикуваат како системски процеси, а структурираниот резултат се предава на Triage агентот за анализа и контекст.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FE52B2-BD8A-4BE6-9F00-986190A7F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09950"/>
            <a:ext cx="47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1E5C9F"/>
                </a:solidFill>
                <a:latin typeface="Consolas"/>
                <a:ea typeface="Consolas"/>
                <a:cs typeface="Consolas"/>
              </a:defRPr>
            </a:pPr>
            <a:r>
              <a:rPr sz="2550" b="1" i="0">
                <a:solidFill>
                  <a:srgbClr val="1E5C9F"/>
                </a:solidFill>
                <a:latin typeface="Consolas"/>
                <a:ea typeface="Consolas"/>
                <a:cs typeface="Consolas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0EF093-982D-4042-BC75-0AD7475BC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390900"/>
            <a:ext cx="381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Проверлив и точен наод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82998F-5E5D-4928-AD96-C365A0BEF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771900"/>
            <a:ext cx="4476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Verifier модулите детерминистички одлучуваат OPEN, FIXED или NO_FINDING. LLM помага за контекст, објаснување и препорака, но не ја прогласува ранливоста.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7BD9A8-EA65-4338-8B04-8205877B2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86300"/>
            <a:ext cx="47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C74762"/>
                </a:solidFill>
                <a:latin typeface="Consolas"/>
                <a:ea typeface="Consolas"/>
                <a:cs typeface="Consolas"/>
              </a:defRPr>
            </a:pPr>
            <a:r>
              <a:rPr sz="2550" b="1" i="0">
                <a:solidFill>
                  <a:srgbClr val="C74762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06C326-1817-4CD0-9BDD-82755C260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667250"/>
            <a:ext cx="447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Строги етички граници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816AF3-50DC-454B-9886-C65801641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048250"/>
            <a:ext cx="4476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Scope, Prompt и Transfer заштитниците спречуваат надворешни мети, измамнички команди и истекување податоци. Офанзивното извршување останува исклучено.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41455FE-BE6E-46D5-BEE9-985F053D9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038350"/>
            <a:ext cx="4286250" cy="3276600"/>
          </a:xfrm>
          <a:prstGeom xmlns:a="http://schemas.openxmlformats.org/drawingml/2006/main" prst="roundRect">
            <a:avLst>
              <a:gd name="adj" fmla="val 2326"/>
            </a:avLst>
          </a:prstGeom>
          <a:solidFill xmlns:a="http://schemas.openxmlformats.org/drawingml/2006/main">
            <a:srgbClr val="F8FCFF"/>
          </a:solidFill>
          <a:ln xmlns:a="http://schemas.openxmlformats.org/drawingml/2006/main" w="9525">
            <a:solidFill>
              <a:srgbClr val="D3DEE9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9AA177-3766-4E2C-8398-3655A4466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362200"/>
            <a:ext cx="352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Демо редослед за одбрана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7F66091-0E88-4984-B519-19ADAA34D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952750"/>
            <a:ext cx="3238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3F5970"/>
                </a:solidFill>
                <a:latin typeface="Consolas"/>
                <a:ea typeface="Consolas"/>
                <a:cs typeface="Consolas"/>
              </a:defRPr>
            </a:pPr>
            <a:r>
              <a:rPr sz="1500" b="0" i="0">
                <a:solidFill>
                  <a:srgbClr val="3F5970"/>
                </a:solidFill>
                <a:latin typeface="Consolas"/>
                <a:ea typeface="Consolas"/>
                <a:cs typeface="Consolas"/>
              </a:rPr>
              <a:t>1  Discover + approve</a:t>
            </a:r>
          </a:p>
          <a:p xmlns:a="http://schemas.openxmlformats.org/drawingml/2006/main">
            <a:pPr>
              <a:defRPr sz="1500" b="0" i="0">
                <a:solidFill>
                  <a:srgbClr val="3F5970"/>
                </a:solidFill>
                <a:latin typeface="Consolas"/>
                <a:ea typeface="Consolas"/>
                <a:cs typeface="Consolas"/>
              </a:defRPr>
            </a:pPr>
            <a:r>
              <a:rPr sz="1500" b="0" i="0">
                <a:solidFill>
                  <a:srgbClr val="3F5970"/>
                </a:solidFill>
                <a:latin typeface="Consolas"/>
                <a:ea typeface="Consolas"/>
                <a:cs typeface="Consolas"/>
              </a:rPr>
              <a:t>2  Run web-lab → NO_FINDING</a:t>
            </a:r>
          </a:p>
          <a:p xmlns:a="http://schemas.openxmlformats.org/drawingml/2006/main">
            <a:pPr>
              <a:defRPr sz="1500" b="0" i="0">
                <a:solidFill>
                  <a:srgbClr val="3F5970"/>
                </a:solidFill>
                <a:latin typeface="Consolas"/>
                <a:ea typeface="Consolas"/>
                <a:cs typeface="Consolas"/>
              </a:defRPr>
            </a:pPr>
            <a:r>
              <a:rPr sz="1500" b="0" i="0">
                <a:solidFill>
                  <a:srgbClr val="3F5970"/>
                </a:solidFill>
                <a:latin typeface="Consolas"/>
                <a:ea typeface="Consolas"/>
                <a:cs typeface="Consolas"/>
              </a:rPr>
              <a:t>3  Run redis-lab → OPEN</a:t>
            </a:r>
          </a:p>
          <a:p xmlns:a="http://schemas.openxmlformats.org/drawingml/2006/main">
            <a:pPr>
              <a:defRPr sz="1500" b="0" i="0">
                <a:solidFill>
                  <a:srgbClr val="3F5970"/>
                </a:solidFill>
                <a:latin typeface="Consolas"/>
                <a:ea typeface="Consolas"/>
                <a:cs typeface="Consolas"/>
              </a:defRPr>
            </a:pPr>
            <a:r>
              <a:rPr sz="1500" b="0" i="0">
                <a:solidFill>
                  <a:srgbClr val="3F5970"/>
                </a:solidFill>
                <a:latin typeface="Consolas"/>
                <a:ea typeface="Consolas"/>
                <a:cs typeface="Consolas"/>
              </a:rPr>
              <a:t>4  Patch Redis</a:t>
            </a:r>
          </a:p>
          <a:p xmlns:a="http://schemas.openxmlformats.org/drawingml/2006/main">
            <a:pPr>
              <a:defRPr sz="1500" b="0" i="0">
                <a:solidFill>
                  <a:srgbClr val="3F5970"/>
                </a:solidFill>
                <a:latin typeface="Consolas"/>
                <a:ea typeface="Consolas"/>
                <a:cs typeface="Consolas"/>
              </a:defRPr>
            </a:pPr>
            <a:r>
              <a:rPr sz="1500" b="0" i="0">
                <a:solidFill>
                  <a:srgbClr val="3F5970"/>
                </a:solidFill>
                <a:latin typeface="Consolas"/>
                <a:ea typeface="Consolas"/>
                <a:cs typeface="Consolas"/>
              </a:rPr>
              <a:t>5  Retest → FIXED</a:t>
            </a:r>
          </a:p>
          <a:p xmlns:a="http://schemas.openxmlformats.org/drawingml/2006/main">
            <a:pPr>
              <a:defRPr sz="1500" b="0" i="0">
                <a:solidFill>
                  <a:srgbClr val="3F5970"/>
                </a:solidFill>
                <a:latin typeface="Consolas"/>
                <a:ea typeface="Consolas"/>
                <a:cs typeface="Consolas"/>
              </a:defRPr>
            </a:pPr>
            <a:r>
              <a:rPr sz="1500" b="0" i="0">
                <a:solidFill>
                  <a:srgbClr val="3F5970"/>
                </a:solidFill>
                <a:latin typeface="Consolas"/>
                <a:ea typeface="Consolas"/>
                <a:cs typeface="Consolas"/>
              </a:rPr>
              <a:t>6  Prompt BLOCK + transfer BLOCK</a:t>
            </a:r>
          </a:p>
        </p:txBody>
      </p:sp>
    </p:spTree>
    <p:extLst>
      <p:ext uri="{BB962C8B-B14F-4D97-AF65-F5344CB8AC3E}">
        <p14:creationId xmlns:p14="http://schemas.microsoft.com/office/powerpoint/2010/main" val="168851361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2026-09-22T15:03:00.8370000Z</dcterms:created>
  <dcterms:modified xsi:type="dcterms:W3CDTF">2026-09-22T15:03:00.8380000Z</dcterms:modified>
</coreProperties>
</file>