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17f1a978f04aab" /><Relationship Type="http://schemas.openxmlformats.org/officeDocument/2006/relationships/extended-properties" Target="/docProps/app.xml" Id="Rcdb54e359fd24869" /><Relationship Type="http://schemas.openxmlformats.org/officeDocument/2006/relationships/officeDocument" Target="/ppt/presentation.xml" Id="R20cb04adc3f24d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5f0416a4b74e68"/>
  </p:sldMasterIdLst>
  <p:notesMasterIdLst>
    <p:notesMasterId xmlns:r="http://schemas.openxmlformats.org/officeDocument/2006/relationships" r:id="R72a0f4da4dde4b10"/>
  </p:notesMasterIdLst>
  <p:sldIdLst>
    <p:sldId xmlns:r="http://schemas.openxmlformats.org/officeDocument/2006/relationships" id="256" r:id="Ra30e68b555124803"/>
    <p:sldId xmlns:r="http://schemas.openxmlformats.org/officeDocument/2006/relationships" id="257" r:id="R7d82ebe9a6af41eb"/>
    <p:sldId xmlns:r="http://schemas.openxmlformats.org/officeDocument/2006/relationships" id="258" r:id="R6bbb2154651444b6"/>
    <p:sldId xmlns:r="http://schemas.openxmlformats.org/officeDocument/2006/relationships" id="259" r:id="R91cfb38658144f76"/>
    <p:sldId xmlns:r="http://schemas.openxmlformats.org/officeDocument/2006/relationships" id="260" r:id="Re02b23a5d9de411b"/>
    <p:sldId xmlns:r="http://schemas.openxmlformats.org/officeDocument/2006/relationships" id="261" r:id="Raf80947bef654df6"/>
    <p:sldId xmlns:r="http://schemas.openxmlformats.org/officeDocument/2006/relationships" id="262" r:id="R0c22b5f2df0e48fd"/>
    <p:sldId xmlns:r="http://schemas.openxmlformats.org/officeDocument/2006/relationships" id="263" r:id="R01ed198961e0461e"/>
    <p:sldId xmlns:r="http://schemas.openxmlformats.org/officeDocument/2006/relationships" id="264" r:id="Rd89c83f931044b6e"/>
    <p:sldId xmlns:r="http://schemas.openxmlformats.org/officeDocument/2006/relationships" id="265" r:id="R66b248ba27f04ab6"/>
    <p:sldId xmlns:r="http://schemas.openxmlformats.org/officeDocument/2006/relationships" id="266" r:id="Rde0c03d88ab1448a"/>
    <p:sldId xmlns:r="http://schemas.openxmlformats.org/officeDocument/2006/relationships" id="267" r:id="R6909f5aa744949fb"/>
    <p:sldId xmlns:r="http://schemas.openxmlformats.org/officeDocument/2006/relationships" id="268" r:id="Rec9b1b402fa745b2"/>
    <p:sldId xmlns:r="http://schemas.openxmlformats.org/officeDocument/2006/relationships" id="269" r:id="R0ac1658d8cde41af"/>
    <p:sldId xmlns:r="http://schemas.openxmlformats.org/officeDocument/2006/relationships" id="270" r:id="R837ae2bef8264ac5"/>
    <p:sldId xmlns:r="http://schemas.openxmlformats.org/officeDocument/2006/relationships" id="271" r:id="R297f66af948e45ad"/>
    <p:sldId xmlns:r="http://schemas.openxmlformats.org/officeDocument/2006/relationships" id="272" r:id="R56ddb9d6f3a14a63"/>
    <p:sldId xmlns:r="http://schemas.openxmlformats.org/officeDocument/2006/relationships" id="273" r:id="Rcdde23b6a14748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abcbce56dd4008" /><Relationship Type="http://schemas.openxmlformats.org/officeDocument/2006/relationships/slideMaster" Target="/ppt/slideMasters/slideMaster1.xml" Id="Rfd5f0416a4b74e68" /><Relationship Type="http://schemas.openxmlformats.org/officeDocument/2006/relationships/notesMaster" Target="/ppt/notesMasters/notesMaster1.xml" Id="R72a0f4da4dde4b10" /><Relationship Type="http://schemas.openxmlformats.org/officeDocument/2006/relationships/presProps" Target="/ppt/presProps.xml" Id="R7398197b0f09477f" /><Relationship Type="http://schemas.openxmlformats.org/officeDocument/2006/relationships/tableStyles" Target="/ppt/tableStyles.xml" Id="R9d749969c5654e00" /><Relationship Type="http://schemas.openxmlformats.org/officeDocument/2006/relationships/slide" Target="/ppt/slides/slide1.xml" Id="Ra30e68b555124803" /><Relationship Type="http://schemas.openxmlformats.org/officeDocument/2006/relationships/slide" Target="/ppt/slides/slide2.xml" Id="R7d82ebe9a6af41eb" /><Relationship Type="http://schemas.openxmlformats.org/officeDocument/2006/relationships/slide" Target="/ppt/slides/slide3.xml" Id="R6bbb2154651444b6" /><Relationship Type="http://schemas.openxmlformats.org/officeDocument/2006/relationships/slide" Target="/ppt/slides/slide4.xml" Id="R91cfb38658144f76" /><Relationship Type="http://schemas.openxmlformats.org/officeDocument/2006/relationships/slide" Target="/ppt/slides/slide5.xml" Id="Re02b23a5d9de411b" /><Relationship Type="http://schemas.openxmlformats.org/officeDocument/2006/relationships/slide" Target="/ppt/slides/slide6.xml" Id="Raf80947bef654df6" /><Relationship Type="http://schemas.openxmlformats.org/officeDocument/2006/relationships/slide" Target="/ppt/slides/slide7.xml" Id="R0c22b5f2df0e48fd" /><Relationship Type="http://schemas.openxmlformats.org/officeDocument/2006/relationships/slide" Target="/ppt/slides/slide8.xml" Id="R01ed198961e0461e" /><Relationship Type="http://schemas.openxmlformats.org/officeDocument/2006/relationships/slide" Target="/ppt/slides/slide9.xml" Id="Rd89c83f931044b6e" /><Relationship Type="http://schemas.openxmlformats.org/officeDocument/2006/relationships/slide" Target="/ppt/slides/slide10.xml" Id="R66b248ba27f04ab6" /><Relationship Type="http://schemas.openxmlformats.org/officeDocument/2006/relationships/slide" Target="/ppt/slides/slide11.xml" Id="Rde0c03d88ab1448a" /><Relationship Type="http://schemas.openxmlformats.org/officeDocument/2006/relationships/slide" Target="/ppt/slides/slide12.xml" Id="R6909f5aa744949fb" /><Relationship Type="http://schemas.openxmlformats.org/officeDocument/2006/relationships/slide" Target="/ppt/slides/slide13.xml" Id="Rec9b1b402fa745b2" /><Relationship Type="http://schemas.openxmlformats.org/officeDocument/2006/relationships/slide" Target="/ppt/slides/slide14.xml" Id="R0ac1658d8cde41af" /><Relationship Type="http://schemas.openxmlformats.org/officeDocument/2006/relationships/slide" Target="/ppt/slides/slide15.xml" Id="R837ae2bef8264ac5" /><Relationship Type="http://schemas.openxmlformats.org/officeDocument/2006/relationships/slide" Target="/ppt/slides/slide16.xml" Id="R297f66af948e45ad" /><Relationship Type="http://schemas.openxmlformats.org/officeDocument/2006/relationships/slide" Target="/ppt/slides/slide17.xml" Id="R56ddb9d6f3a14a63" /><Relationship Type="http://schemas.openxmlformats.org/officeDocument/2006/relationships/slide" Target="/ppt/slides/slide18.xml" Id="Rcdde23b6a14748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fe9b9bd87440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639f278cd8439b" /><Relationship Type="http://schemas.openxmlformats.org/officeDocument/2006/relationships/notesMaster" Target="/ppt/notesMasters/notesMaster1.xml" Id="R09bc7e16605b49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cc1e60f8774d0a" /><Relationship Type="http://schemas.openxmlformats.org/officeDocument/2006/relationships/notesMaster" Target="/ppt/notesMasters/notesMaster1.xml" Id="R6c73d59da7c040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55b7f0092b49dc" /><Relationship Type="http://schemas.openxmlformats.org/officeDocument/2006/relationships/notesMaster" Target="/ppt/notesMasters/notesMaster1.xml" Id="Rb2aa06bfe61e46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a0c5a655144132" /><Relationship Type="http://schemas.openxmlformats.org/officeDocument/2006/relationships/notesMaster" Target="/ppt/notesMasters/notesMaster1.xml" Id="R4cb0acd0c1f84a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0dd6fa08d243c0" /><Relationship Type="http://schemas.openxmlformats.org/officeDocument/2006/relationships/notesMaster" Target="/ppt/notesMasters/notesMaster1.xml" Id="Rbacacbc396684d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53f6ffb01c41d3" /><Relationship Type="http://schemas.openxmlformats.org/officeDocument/2006/relationships/notesMaster" Target="/ppt/notesMasters/notesMaster1.xml" Id="R936af8d00c5649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93ee38be4246ea" /><Relationship Type="http://schemas.openxmlformats.org/officeDocument/2006/relationships/notesMaster" Target="/ppt/notesMasters/notesMaster1.xml" Id="Rb46794705c504c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4325daaa244b22" /><Relationship Type="http://schemas.openxmlformats.org/officeDocument/2006/relationships/notesMaster" Target="/ppt/notesMasters/notesMaster1.xml" Id="Rb1edafc17f8441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c820ea9a3e44e8" /><Relationship Type="http://schemas.openxmlformats.org/officeDocument/2006/relationships/notesMaster" Target="/ppt/notesMasters/notesMaster1.xml" Id="R6661d340782f49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f62eda6a8a4a47" /><Relationship Type="http://schemas.openxmlformats.org/officeDocument/2006/relationships/notesMaster" Target="/ppt/notesMasters/notesMaster1.xml" Id="R48ade5ba0f2b41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948804451a43cb" /><Relationship Type="http://schemas.openxmlformats.org/officeDocument/2006/relationships/notesMaster" Target="/ppt/notesMasters/notesMaster1.xml" Id="Rb46b2b5e763644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77d4df330e24912" /><Relationship Type="http://schemas.openxmlformats.org/officeDocument/2006/relationships/notesMaster" Target="/ppt/notesMasters/notesMaster1.xml" Id="R87236e47554a4bc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b6a51c8fb0401b" /><Relationship Type="http://schemas.openxmlformats.org/officeDocument/2006/relationships/notesMaster" Target="/ppt/notesMasters/notesMaster1.xml" Id="Rd599ad61c12143a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df7405bb17a4df2" /><Relationship Type="http://schemas.openxmlformats.org/officeDocument/2006/relationships/notesMaster" Target="/ppt/notesMasters/notesMaster1.xml" Id="Rf8133a8ce15448c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4a62035175e4dc9" /><Relationship Type="http://schemas.openxmlformats.org/officeDocument/2006/relationships/notesMaster" Target="/ppt/notesMasters/notesMaster1.xml" Id="Re6afaf5512df48d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d7d397ff8124efa" /><Relationship Type="http://schemas.openxmlformats.org/officeDocument/2006/relationships/notesMaster" Target="/ppt/notesMasters/notesMaster1.xml" Id="R25a90f6eaff842c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ab16bc82c054521" /><Relationship Type="http://schemas.openxmlformats.org/officeDocument/2006/relationships/notesMaster" Target="/ppt/notesMasters/notesMaster1.xml" Id="Rab30965dcc8c4ce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f8cd10d05104b49" /><Relationship Type="http://schemas.openxmlformats.org/officeDocument/2006/relationships/notesMaster" Target="/ppt/notesMasters/notesMaster1.xml" Id="R56533978718c4a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овој слајд го претставувам AEGIS како локална, контролирана Purple-Team платформа. Главната идеја е да го спојам реалното скенирање со Nmap и проверката на сервисот со локални јазични модели, но моделот никогаш сам не прогласува ранливост.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Воведот треба да ја постави разликата меѓу откривање и докажување. Nmap може да каже дека сервисот слуша на порта, но AEGIS користи специјализиран верификатор: за Redis проверува дали бара автентикација, а за веб сервисот само потврдува дека сервисот одговара.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Овој слајд ја користи аналогијата со куќа. Red Team гледа дали портата е отворена и дали Redis прифаќа PING без клуч. Blue Team применува политика, ја блокира ексфилтрацијата и додава requirepass. Purple Team ја споредува состојбата OPEN со состојбата после закрпата и бара FIXED.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Архитектурата е поделена во слоеви. FastAPI не се поврзува директно со произволен интернет домаќин. Target registry прво открива Docker лаборатории со AEGIS labels, а корисникот мора рачно да одобри една. Дури потоа се повикуваат Nmap и верификаторот.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Ова е првиот вистински чекор во интерфејсот. Discover не скенира мрежа, туку ги бара активните Docker контејнери со AEGIS labels. Тие почнуваат како PENDING. Корисникот мора да избере и да одобри. Без тоа, Policy и Ethical Scope Guard го стопираат assessment-от пред Nmap.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Web и Redis се две различни лаборатории. Web сервисот е за service discovery и намерно нема verified finding. Redis е сценариото со наод: прво OPEN кога PING поминува без лозинка, а потоа FIXED кога PING враќа NOAUTH. Ако target не е approved, резултатот е BLOCKED пред алатките.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Моделот за Nmap triage не одлучува дали постои ранливост. Тој само го класифицира сервисот и дава контекст. Semantic Prompt Guard е посилен локален модел кој ги проверува prompt-ите. Финалната анализа може да користи друг модел, но препораката секогаш доаѓа после детерминистичкиот verifier.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Каталогот е посебен чекор помеѓу Report и Retest. Тој не стартува exploit, туку само овозможува listing и controlled match за верификуван OPEN finding. После тоа операторот внесува закрпа, а Retest ја проверува состојбата повторно.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 демонстрацијата се нагласува дека околината е лабораторија, а не production мрежа. Docker Compose ги подига двата сервиси. Target registry не чита произволни адреси, туку бара локални Docker labels и 127.0.0.1 port binding.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Во првото Redis сценарио target registry го открива redis-lab и корисникот го одобрува. Nmap гледа дека портата е отворена, но RedisAccessVerifier прави вистинска проверка: PING враќа +PONG и Redis прифаќа команда без authentication. Тоа е моментот кога системот создава проверен OPEN наод.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После remediation во compose е додаден Redis requirepass. Retest повторно го повикува Nmap и Redis verifier. Port 6380 останува open, но директниот PING без лозинка враќа -NOAUTH. Затоа AEGIS ја означува состојбата како FIXED, а не затоа што портата исчезнала.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Ова сценарио покажува важна граница. Отворената веб порта и HTTP одговорот се service discovery, не доказ за exploitability. AEGIS го задржува NO_FINDING за да избегне претерано тврдење.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овој слајд покажувам дека multi-model не значи дека моделите се случајно сменети. Секој има улога. Во UI може да се постави модел за Nmap triage и друг за финална анализа. Semantic guard останува посебен и fail-closed. OpenRouter е подготвен како опционален provider, но локалниот режим е основниот демонстрациски режим.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Овде ја покажувам разликата меѓу Policy/Ethical Scope Guard и Semantic Prompt Guard. Првиот контролира каде смее да се работи, вториот контролира што смее да стигне до LLM. Ако target не е одобрен, Nmap воопшто не се повикува. Ако prompt се обидува да ги заобиколи правилата, моделот не добива input.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Ова е намерно ограничен дел. Кодот го поддржува listing и match, но AEGIS не извршува Metasploit exploit. Тоа е коректно за етичка лабораторија. Во моменталната конфигурација native Ruby делот може да биде блокиран од Windows Security, па не треба да тврдиме дека имаме демонстриран exploit.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Извештајот е Markdown и се зачувува во reports директориумот. Audit trail е append-only JSONL на апликациско ниво. Тоа е доволно за лабораториска демонстрација и за да се види кој агент што направил, но не го нарекувам криптографски immutable систем.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Овој слајд е корисен ако професорот праша што точно е завршено. Не тврдам дека има активен exploit. Има локален Nmap, агенти, verifier, multi-model, reports и retest. Metasploit делот е listing/match со execution disabled, а OpenRouter е само опционален provider.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 крајот го поврзувам целиот проект со кратка демонстрација: прво web NO_FINDING, потоа Redis OPEN, рачна закрпа, Redis FIXED retest, а на крај prompt и transfer BLOCK. Така професорот гледа и реален алат, и LLM, и заштитни механизми.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726a06d23749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e8ddfbf7e44f94" /><Relationship Type="http://schemas.openxmlformats.org/officeDocument/2006/relationships/slideLayout" Target="/ppt/slideLayouts/slideLayout1.xml" Id="R61b0f354239445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b0f354239445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a84d368144763" /><Relationship Type="http://schemas.openxmlformats.org/officeDocument/2006/relationships/image" Target="/ppt/media/image.png" Id="R241e832cbe634d9e" /><Relationship Type="http://schemas.openxmlformats.org/officeDocument/2006/relationships/notesSlide" Target="/ppt/notesSlides/notesSlide1.xml" Id="Rf8b82f64dfb24a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0fde3620548f7" /><Relationship Type="http://schemas.openxmlformats.org/officeDocument/2006/relationships/notesSlide" Target="/ppt/notesSlides/notesSlide2.xml" Id="R09c28881e1ba49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ecf582acc461d" /><Relationship Type="http://schemas.openxmlformats.org/officeDocument/2006/relationships/notesSlide" Target="/ppt/notesSlides/notesSlide3.xml" Id="Rc75122e72f6b45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b7c8167114f81" /><Relationship Type="http://schemas.openxmlformats.org/officeDocument/2006/relationships/notesSlide" Target="/ppt/notesSlides/notesSlide4.xml" Id="R0ad3053f2b854d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dc4f6df6d436e" /><Relationship Type="http://schemas.openxmlformats.org/officeDocument/2006/relationships/image" Target="/ppt/media/image2.png" Id="Rd095ef5663134bae" /><Relationship Type="http://schemas.openxmlformats.org/officeDocument/2006/relationships/notesSlide" Target="/ppt/notesSlides/notesSlide5.xml" Id="Rfb0cd8c4b0e1404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a335536dd4d7b" /><Relationship Type="http://schemas.openxmlformats.org/officeDocument/2006/relationships/image" Target="/ppt/media/image3.png" Id="Rcb3c8775d9664be2" /><Relationship Type="http://schemas.openxmlformats.org/officeDocument/2006/relationships/notesSlide" Target="/ppt/notesSlides/notesSlide6.xml" Id="R13128e2dbec741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3edcebb864bfd" /><Relationship Type="http://schemas.openxmlformats.org/officeDocument/2006/relationships/notesSlide" Target="/ppt/notesSlides/notesSlide7.xml" Id="Ra5453928979d42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dbfadc8ed4dcb" /><Relationship Type="http://schemas.openxmlformats.org/officeDocument/2006/relationships/notesSlide" Target="/ppt/notesSlides/notesSlide8.xml" Id="R8c1557f502ab42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8ceea89484395" /><Relationship Type="http://schemas.openxmlformats.org/officeDocument/2006/relationships/notesSlide" Target="/ppt/notesSlides/notesSlide9.xml" Id="R43296b9d644045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6fad87f1324b42" /><Relationship Type="http://schemas.openxmlformats.org/officeDocument/2006/relationships/image" Target="/ppt/media/image4.png" Id="R173c1c45ba204464" /><Relationship Type="http://schemas.openxmlformats.org/officeDocument/2006/relationships/notesSlide" Target="/ppt/notesSlides/notesSlide10.xml" Id="R304304b57b3e4b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ecb5f4bbe482c" /><Relationship Type="http://schemas.openxmlformats.org/officeDocument/2006/relationships/image" Target="/ppt/media/image5.png" Id="Re827b0a14b654223" /><Relationship Type="http://schemas.openxmlformats.org/officeDocument/2006/relationships/notesSlide" Target="/ppt/notesSlides/notesSlide11.xml" Id="R75e9b897f2cb437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5cb2e23b34104" /><Relationship Type="http://schemas.openxmlformats.org/officeDocument/2006/relationships/image" Target="/ppt/media/image6.png" Id="R8969e7debcb349d3" /><Relationship Type="http://schemas.openxmlformats.org/officeDocument/2006/relationships/notesSlide" Target="/ppt/notesSlides/notesSlide12.xml" Id="R8e153879b33c4ce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88b8a1a3847c6" /><Relationship Type="http://schemas.openxmlformats.org/officeDocument/2006/relationships/notesSlide" Target="/ppt/notesSlides/notesSlide13.xml" Id="R3350bd9dd1a04f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0df03ae364a4f" /><Relationship Type="http://schemas.openxmlformats.org/officeDocument/2006/relationships/image" Target="/ppt/media/image7.png" Id="R705c4b21a1fa4464" /><Relationship Type="http://schemas.openxmlformats.org/officeDocument/2006/relationships/image" Target="/ppt/media/image8.png" Id="R3e92d16ea8c04720" /><Relationship Type="http://schemas.openxmlformats.org/officeDocument/2006/relationships/notesSlide" Target="/ppt/notesSlides/notesSlide14.xml" Id="R69e8d2cd3b25453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1e6b0aa6f4a1f" /><Relationship Type="http://schemas.openxmlformats.org/officeDocument/2006/relationships/notesSlide" Target="/ppt/notesSlides/notesSlide15.xml" Id="R917ca523f33f4d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fec69c15c40f6" /><Relationship Type="http://schemas.openxmlformats.org/officeDocument/2006/relationships/image" Target="/ppt/media/image9.png" Id="Rd33094ace7d444dd" /><Relationship Type="http://schemas.openxmlformats.org/officeDocument/2006/relationships/notesSlide" Target="/ppt/notesSlides/notesSlide16.xml" Id="R9954719766e6494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3dfdfa3194f12" /><Relationship Type="http://schemas.openxmlformats.org/officeDocument/2006/relationships/notesSlide" Target="/ppt/notesSlides/notesSlide17.xml" Id="R43650839a2484d5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7ae4185364b48" /><Relationship Type="http://schemas.openxmlformats.org/officeDocument/2006/relationships/notesSlide" Target="/ppt/notesSlides/notesSlide18.xml" Id="R5edfbe3cfac742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4EF50-59D5-44F8-BF9E-5742CC11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EAF4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36C9B-277B-4E36-836F-AA92E8A3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e832cbe634d9e"/>
          <a:stretch xmlns:a="http://schemas.openxmlformats.org/drawingml/2006/main"/>
        </p:blipFill>
        <p:spPr>
          <a:xfrm xmlns:a="http://schemas.openxmlformats.org/drawingml/2006/main">
            <a:off x="7905750" y="904875"/>
            <a:ext cx="314325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20D70-2D3C-433F-9A88-0A742A0C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ПРОЕКТНА ПРЕЗЕНТАЦИЈА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25D7B-1F69-4ACD-A458-BCD5C12E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619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5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AEGIS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A8D4E-751A-4738-8E22-C02B15AA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666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Агентно базирано етичко хакирање со LLM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FAD3F-DB9F-4C24-BDE6-17278355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Локална Purple-Team платформа за проценка, верификација и ретестирање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20A80-C792-4840-AF45-90FB40F0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4895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D597A-DE75-4D82-99A7-C5A567AC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Docker лабораторија  •  Nmap  •  Ollama  •  Policy &amp; Ethical Guards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42C58-F9F6-4E01-A283-86817A4F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Изработила: Марија Ѓорѓиева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343DFB-2F73-4EB5-B32C-08CBF24B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8483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0719537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EC55FA-1FB2-4B48-B528-8B0A235C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01  •  ВОВЕД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26BFD-FEC4-432F-884A-ADD385E3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Зошто AEGIS?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0ACFAA-CB30-4F7C-BEA7-3C5B2785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LLM може да помогне во анализа, но без контрола може да донесе погрешна или ризична одлука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5C11B0-82D7-4056-AB7B-E185B4D8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42DA6-C381-4170-B3C4-6DD22509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F498DE-B586-481E-A0B3-27DAD7AF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D9861-BA47-4B9E-BE9A-77FE2C2C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C47C74-140C-4580-84B7-BD08B7D1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2908C6-7659-41E0-9652-DEA2E130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Проблем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89CF86-6E87-4019-9386-1E8B9428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2990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Обично скенирање покажува дека портата е отворена. Тоа само по себе не докажува ранливост и не кажува дали проблемот е поправен.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DE8F55-F957-47C0-A483-44DAF7A1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859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C629A-1DF4-4E6B-AD68-67112F02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859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7A8BA1-1096-4D2D-BED2-034A69E8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38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FD1E4E-FDEB-493C-B578-FF2B02D0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400300"/>
            <a:ext cx="2990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AEGIS комбинира Nmap, детерминистички верификатор, повеќе локални LLM улоги и policy проверки во еден повторлив процес.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C0657-53F0-4AF9-BD2E-9D833381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3333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C302F3-DB82-444B-AFC5-CDFCB75A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85950"/>
            <a:ext cx="57150" cy="2095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6F18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EAEFC2-DD0F-4455-B5BA-B5223CA6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383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Цел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75C344-2705-4159-8EC9-CC0C33B0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0300"/>
            <a:ext cx="29908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Да добиеме проверлив резултат: OPEN, FIXED или NO_FINDING, придружен со извештај и audit trail.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9491DE-BF45-4F25-A34B-D9F97A50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Клучен принцип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259F3D-E728-4659-A485-A3268141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LLM објаснува и сумира. Верификаторот одлучува дали наодот навистина постои.</a:t>
            </a:r>
          </a:p>
        </p:txBody>
      </p:sp>
    </p:spTree>
    <p:extLst>
      <p:ext uri="{BB962C8B-B14F-4D97-AF65-F5344CB8AC3E}">
        <p14:creationId xmlns:p14="http://schemas.microsoft.com/office/powerpoint/2010/main" val="9831520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1EA260-2608-4E67-8188-FCD976F8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02  •  МЕТОДОЛОГИЈА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1DBAD-F8A5-4587-8678-BA8F2A69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Red, Blue и Purple улогите во AEGIS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77AA7-4345-4891-A08E-3CBE97EE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Куќата е локалниот компјутер и Docker лабораторијата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768E4-B18E-4EEB-B1CC-E98C2EC2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6FB82-FD13-44F8-A08B-A826689E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0C309-D787-40AD-906E-AF9C78C7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09F336-56E0-48FE-8266-FF549E3D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AFBE69-3CF7-411F-BDE3-89BD9471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76425"/>
            <a:ext cx="1038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КУЌАТА = локален компјутер + Docker lab     |     ВРАТИ = порти 6380 / 8082     |     КАТАНЕЦ = authentication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6BA27-D9D9-43C8-A87D-C73398E0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E9BA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BCB13-51EE-41A2-9D17-D97BF813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RED TEAM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6E706-6CB7-49F2-BDF8-57C4BEC8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765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ПРОБЛЕМ / ПРОВЕРКА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706406-2F1A-48F5-81B6-E58B2991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Проверува дали вратата е отклучена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C1FFFB-4472-43E9-A03A-238C0C73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ги наоѓа портите.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 / HTTP verifier потврдува.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Metasploit catalog само прегледува.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5FAFA2-D9E9-4C81-B4A6-F7799DAC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574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15A970-FF56-4A65-81E1-1579D21D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86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BLUE TEAM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AB169-509B-4333-AE82-D738EFF1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765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РЕШЕНИЕ / ЗАШТИТА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AEE68E-5558-4D44-BD47-D0623EFD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290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Го ограничува и го поправа проблемот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872775-0217-429F-B08B-F9AB97D9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0957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Policy + Ethical Scope Guard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Prompt / Transfer Guard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 закрпа + Retest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864D18-9103-49D5-8FB5-CBBF9496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57450"/>
            <a:ext cx="333375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BBE151-7376-4275-9C86-B4AECBB7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860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PURPLE TEAM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4FA0D1-85EB-4609-AE84-DC1FD0FE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76575"/>
            <a:ext cx="271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КРАЈНА ЦЕЛ / ПОВРАТНА ВРСКА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49B82E-83D9-4821-9A0E-51BE846E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290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800" b="1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OPEN → PATCH → FIXED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AD85F9-B46D-49E1-AFDB-6F7D42AB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9575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Истата проверка се повторува после поправката и остава audit trail.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5DDF1E-409A-4928-9B24-FD6F5EF4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007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AEGIS = инспектор кој проверува само сопствена куќа, запишува доказ и не ја обива вратата автоматски.</a:t>
            </a:r>
          </a:p>
        </p:txBody>
      </p:sp>
    </p:spTree>
    <p:extLst>
      <p:ext uri="{BB962C8B-B14F-4D97-AF65-F5344CB8AC3E}">
        <p14:creationId xmlns:p14="http://schemas.microsoft.com/office/powerpoint/2010/main" val="4107300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106F2C-B517-428A-8418-831B3D01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03  •  АРХИТЕКТУРА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A6C42-6EBB-4F09-BD09-F71CC473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Како е составен системот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3A8BD-F815-427C-BE62-C1CE3716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Кориснички интерфејс, оркестратор, алатки, модели и докази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63924-35E3-4298-B5F4-4EA85692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68DEF-980F-4A73-A64C-6123BF0B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F9DB8-8948-4066-839D-F19CE0B2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8F0E1-BD33-496E-A6F0-76F59D75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2476500" cy="39052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A75187-8321-45DC-B879-0A78FD58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574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КОРИСНИК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1717E3-809F-4EF0-B36D-D0AB0E4D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AEGIS dashboard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CE95F2-BD86-40EF-9BCA-AFDC9604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71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Target registry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Mission controls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Prompt console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Reports &amp; audit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01E2B1-56A5-43BD-BBE5-13EE184C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http://127.0.0.1:8000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8DD0F-68A8-4E50-B32F-8945ABC1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478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62EDB-72EE-406C-8E6F-A2050965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9621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FastAPI оркестратор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24E5C-8E11-4B5A-AADD-F11A27CF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25742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Policy gate • scope gate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route /run-assessment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401F63-9825-451A-BEF5-AEC4DB59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3850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D17DB-7D4A-4D7B-864A-1EB55755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35280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Tool agents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6CEDEE-24C8-4685-8734-9AFD7DA7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64807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• HTTP verifier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 verifier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60E183-CD08-472C-A7C2-0989DA25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29150"/>
            <a:ext cx="247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A1214A-0A28-4755-A088-467F33A5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7434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Evidence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C3FC6C-5044-4C47-9D26-E05AA05E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03872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Reports • audit JSONL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OPEN / FIXED / NO_FINDING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E3970B-1023-458E-B50F-0AB5C789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478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E0E838-C57A-48C0-B842-61D0457C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9621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Docker labs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ACF45F-DCFB-4FDE-BFA4-7CBBAFAB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57425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web-lab :8082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redis-lab :6380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0E3165-E67E-4648-8AF9-823921E2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5C8C93-A7EB-4306-969D-5C8F26AD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Ollama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71BB50-A9D1-44BC-90B7-D6FB76FF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48075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llama3.2:1b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llama3.2:3b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CC37B7-3C5E-4BF9-A954-3CDF34FD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291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943A57-3CFE-4570-BD63-C3E57A6B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743450"/>
            <a:ext cx="1828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Metasploit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6F2394-BE34-4CDB-8345-4121DAA3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38725"/>
            <a:ext cx="1828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Каталог само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execution disabled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737A6B-E0A2-417C-9278-41FB1294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43150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C9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7CD0C1-08C2-4BE8-A0B8-2A81F0C4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43150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C9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F1DB50-5A6D-4EAD-939C-5E8F8915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52850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183AB9-23A2-4FD1-A4CC-F300D06D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52850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376BA9-F834-4A4C-A9BA-281CC821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143500"/>
            <a:ext cx="6381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6F18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BD328C-8973-409E-A127-25A15C71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143500"/>
            <a:ext cx="714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76FFB9-5B65-4CC8-BB51-7F7E12C9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0"/>
            <a:ext cx="1057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Секој чекор се запишува како evidence: кој агент работел, што видел и зошто донел одлука.</a:t>
            </a:r>
          </a:p>
        </p:txBody>
      </p:sp>
    </p:spTree>
    <p:extLst>
      <p:ext uri="{BB962C8B-B14F-4D97-AF65-F5344CB8AC3E}">
        <p14:creationId xmlns:p14="http://schemas.microsoft.com/office/powerpoint/2010/main" val="16392728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6B0EFF-00DF-4A82-8C03-1D0B54A1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04  •  ПОДГОТОВКА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E6593-0B32-42D6-9A01-856DA61E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Discover и Approve пред скенирање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664CD-5D1C-4F57-84BD-B633400D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Корисникот прво ги открива локалните Docker лаборатории, па рачно одобрува една мета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AC90C-9744-4F47-9A99-36611341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5604B-C562-4BDF-AE55-CCC737F8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DFBB0-BA73-4300-82DA-1E3CB7ED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95ef5663134bae"/>
          <a:stretch xmlns:a="http://schemas.openxmlformats.org/drawingml/2006/main"/>
        </p:blipFill>
        <p:spPr>
          <a:xfrm xmlns:a="http://schemas.openxmlformats.org/drawingml/2006/main">
            <a:off x="767395" y="1828800"/>
            <a:ext cx="4256410" cy="3143250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E7427-D657-4A71-9676-CCC9210C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28800"/>
            <a:ext cx="533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903BC8-1A5D-44AC-A24B-DF1F1AD5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002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  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1F8A4-D523-4BCB-9AFA-3F3DAED5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241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Docker labels → PENDING local labs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A348B6-F53E-42EE-B958-0BD39914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90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Docker labels + 127.0.0.1 binding → PENDING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D77F73-9148-4954-AAAD-FB5BA318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956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FAC39-FD32-4C35-9BE3-3353E32F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05150"/>
            <a:ext cx="533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714CDA-7DB1-410C-AB5E-604AC067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766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2  APPROVE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DE5D10-C25B-4406-B843-EA94EDF6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004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Human-in-the-loop одлука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1D4FEC-5D66-4517-8D19-6A9ACEB4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671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Корисникот избира target од dropdown и клика Approve.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A60F1-B44E-456E-B18E-2F540E8C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4815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B20588-1074-43BF-9BD0-DB761F8F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95800"/>
            <a:ext cx="5334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087B6B-008D-4599-9188-EC4D63DE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672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3  ETHICAL 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A64D95-99A1-4B57-B6BC-2B930551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911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APPROVED само ако е 127.0.0.1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8119CC-226D-48C3-A5E2-C9D79E40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9590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Без approval / надвор од loopback → BLOCKED; tools_called = [].</a:t>
            </a:r>
          </a:p>
        </p:txBody>
      </p:sp>
    </p:spTree>
    <p:extLst>
      <p:ext uri="{BB962C8B-B14F-4D97-AF65-F5344CB8AC3E}">
        <p14:creationId xmlns:p14="http://schemas.microsoft.com/office/powerpoint/2010/main" val="497246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A5A9A5-F5C5-42C2-9A66-8EA02DFA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05  •  ИЗБОР НА ЛАБОРАТОРИЈА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53AE6-AFC6-4650-AF55-B31FED25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Web или Redis: што значи секоја мета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8AE0E-9123-4EF6-AD5D-6A75C747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Истиот интерфејс води кон различен verifier и различен очекуван исход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4A2BC-7848-4570-9B2D-06C03031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67F58-ECC2-42CD-87AB-DCD505E3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D94ED-D6FD-4083-92B9-8C5DE2F5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c8775d9664be2"/>
          <a:stretch xmlns:a="http://schemas.openxmlformats.org/drawingml/2006/main"/>
        </p:blipFill>
        <p:spPr>
          <a:xfrm xmlns:a="http://schemas.openxmlformats.org/drawingml/2006/main">
            <a:off x="600097" y="1866900"/>
            <a:ext cx="4305255" cy="3238500"/>
          </a:xfrm>
          <a:prstGeom xmlns:a="http://schemas.openxmlformats.org/drawingml/2006/main" prst="roundRect">
            <a:avLst>
              <a:gd name="adj" fmla="val 352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F7BEB-9196-4660-948B-15ADE6BB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47850"/>
            <a:ext cx="5619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0E66B-B0E0-4881-8B0A-7043DC25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47850"/>
            <a:ext cx="5715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5ECF92-79FC-4683-AA2C-0DB8DFB0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000250"/>
            <a:ext cx="527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web-lab  •  127.0.0.1:8082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8304D-7752-49AC-973E-6FF83013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62200"/>
            <a:ext cx="527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FastAPI / Uvicorn сервис. AEGIS проверува дали сервисот одговара и очекува NO_FINDING кога нема потврден наод.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52283-13D5-49D4-BC54-3D59F11A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29000"/>
            <a:ext cx="5619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2BF0AD-0647-4CEA-879E-98C4B639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29000"/>
            <a:ext cx="57150" cy="1333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080F6F-911F-4A55-A57D-DDF8342A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81400"/>
            <a:ext cx="527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redis-lab  •  127.0.0.1:6380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AD5D6F-B13B-4B30-9E14-8832A75E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943350"/>
            <a:ext cx="527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Redis база за демонстрација на CWE-306. Без лозинка дава OPEN, со --requirepass и retest дава FIXED.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C2AEDC-EB47-46C0-9B37-42AB7F2C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10610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1045A7-8652-44A1-AF3D-4B00FE38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02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МОЖНИ СОСТОЈБИ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F5A5BE-6168-4A17-B740-37ACB7C1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9597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200" b="0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NOT APPROVED → BLOCKED   |   APPROVED + web → NO_FINDING   |   Redis без auth → OPEN   |   Redis по patch → FIXED</a:t>
            </a:r>
          </a:p>
        </p:txBody>
      </p:sp>
    </p:spTree>
    <p:extLst>
      <p:ext uri="{BB962C8B-B14F-4D97-AF65-F5344CB8AC3E}">
        <p14:creationId xmlns:p14="http://schemas.microsoft.com/office/powerpoint/2010/main" val="4780431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2FED55-317D-4396-9A8B-D56B67BE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06  •  LLM ОРКЕСТРАЦИЈА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39DEA2-AD80-41A5-BC8B-778F53B9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Кој модел за која задача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00ABC-E26D-4332-8A7C-A2A8A38E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Моделите не се случајно менувани: секој има јасна улога во pipeline-от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B7A41-86FD-4243-ABF8-BF5F6DC3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F2CD5-7520-4448-9D71-8CAEF268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FBF6C8-8203-4484-9672-02BA93BF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203829-9A0A-474F-AB15-74A9F105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C20E1-EDAE-4786-B98C-81DC56B5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llama3.2:1b или 3b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646EB4-FE6D-4702-A202-C1F4A225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62225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triage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Избраниот модел чита structured scan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Класификација: web / database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D07C2-61ED-49B2-812E-CA51936F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52650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DE58A2-1E27-44F3-881D-AF1D25E6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669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llama3.2:3b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4B1DF-ABFC-4364-87E0-3F350255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62225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Semantic Prompt Guard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Проверува injection и override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Fail-closed одлука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4BB89-6A7C-4874-895A-5A2D697E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52650"/>
            <a:ext cx="3143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5F8B86-211B-481B-820E-378423E3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287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llama3.2:3b или 1b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922A34-C7FA-41FC-9CE6-ED95C7AA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62225"/>
            <a:ext cx="28765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Final analysis / recommendations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Може да се смени од UI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Секогаш после verifier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C8308D-3319-4BCC-AA7C-830CC47E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Nmap XML / 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8F563E-6DF1-467D-BED8-FA0562D1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291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Prompt input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F5E2FD-A8B0-4238-B944-A73C7FBF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291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Verified finding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4A0EF8-1734-47DC-9B4B-8B05F8D0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17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4715E0-E53D-402C-8C3D-CC75F4D1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719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C0960C-AEEB-474C-A9EF-7CBA43DE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47195D-DFAD-4539-817E-22FD19ED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Опционално: OpenRouter може да се активира само со сопствен API key. Во основната демонстрација сите модели се локални преку Ollama.</a:t>
            </a:r>
          </a:p>
        </p:txBody>
      </p:sp>
    </p:spTree>
    <p:extLst>
      <p:ext uri="{BB962C8B-B14F-4D97-AF65-F5344CB8AC3E}">
        <p14:creationId xmlns:p14="http://schemas.microsoft.com/office/powerpoint/2010/main" val="6335757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8D2C669-405F-4C7F-A227-2C8BE185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07  • 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140B1-AFA7-4843-8D59-0102D39C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Од Docker target до проверен извештај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98296-B0CB-4FD0-BB23-86D60B7D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Целиот pipeline во редоследот што го извршува апликацијата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8043F-9675-4E4D-BF8D-F081DF38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E670DA-386A-48CE-B140-0B8E4038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680E4-4E39-4BE8-BAFD-2C0DDE23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D2A34-D734-477B-AD92-306E52EB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2E4F2-BF91-4E03-BCCD-B4CC2125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911AAC-E028-45AF-867D-ACEA5426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00566-4095-4BF1-BD5C-F8DCC32D2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Docker labels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707FF4-F7A6-4976-B01F-0BE74B2F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64F12-2463-4C69-BFCA-84E44ED6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9DE57-6FC4-4F57-A635-8AB884F1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8B031-6FF8-4CF8-879F-0F1C1234E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A30062-9D9F-4DAB-9B33-0B0B3440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loopback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C56096-68F6-45EF-A4D7-E945D5A6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A8929D-8932-40D5-BE6E-75111818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EDDDE6-EBEE-444C-B400-90DAED5E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FD0558-2EC6-4A15-8DD5-2750A723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DD20BD-EE09-4FCB-BA6C-3C524B9A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scope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168E7F-5246-4DCE-BFB4-F7936A98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3E6E5B-90F5-48D7-A51D-574D15AC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ED23DE-30ED-4BD8-99AB-8A5EE3A7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947547-8773-428A-A618-B988DF4C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Nmap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A4EA07-50F4-4658-8E1F-6A3B34FF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real tool call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8F9DB0-0842-4F54-B46D-2215C280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F5884B-343C-4847-9D5D-C818BBCE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D03C57-939F-4A41-8C9A-477227CF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E1CDF2-948A-46AB-B1FE-DC44FC3A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Triage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915027-CED8-4B26-9E68-93B491BA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local LLM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B9AB1D-E19E-421A-831C-C56F833B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57296D-B1AE-4335-A8D5-358DC24E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4EF230-43C1-445A-A3E6-C0AF40BC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A46F18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A46F18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67924B-8119-4329-A2B1-EC839731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0DB7D7-D30E-4BAE-BB6B-BA166044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socket / HTTP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637893-CA6E-412B-B434-739FE509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778C6E-C021-4705-AAFA-862A1A6B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4C1D4D-28C9-4D8D-8D12-E3C00513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A46F18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A46F18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420248-9438-4C9F-93A7-6C1A8E74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5E02D0-3A77-40BF-8B60-64320903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OPEN evidence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98E1F5-4106-422C-97DC-CE6AA8C5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1F2A90-0C3A-4344-8207-D3D4E561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5622D0-6FE9-420B-99F0-D7F21783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86AB80D-31AB-45A3-A8A9-DBDE147B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Catalog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3A5031-ACFC-47CE-A253-18EA2026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msfconsole review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59654B5-735B-4638-8E34-64C5510B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7813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2E5F8C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E5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BA06B02-AD07-499A-A1A5-A63789C9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247900"/>
            <a:ext cx="1104900" cy="13716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EA8911-ACEF-477C-9A94-210D9647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371725"/>
            <a:ext cx="266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61CF951-1380-4C43-B78F-0DA0220B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7241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Retest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BEFD113-6C57-4926-A3B1-357FE00D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14325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938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FIXED after patch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83C0E9-1A4B-4CAD-B677-08E1011D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382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A19307-8EC7-4731-95D7-23DDD5A4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Позитивен пример  •  redis-lab:6380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959EE45-B1EE-42E6-933F-E5695B28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Nmap детектира open 6380, но Redis verifier преку PING детерминистички произведува CWE-306 (OPEN). LLM не измислува наод.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F106BFB-FDA2-4CEF-A6B7-92B9FD0B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382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1ED574B-FDC6-4374-B101-B760EE93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48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Затворање на циклусот  •  Retest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5D5A871-1720-4FCA-B33A-F7530027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962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По --requirepass во docker-compose.yml, Retest повторува socket тест, добива -NOAUTH и ја менува состојбата од OPEN во FIXED.</a:t>
            </a:r>
          </a:p>
        </p:txBody>
      </p:sp>
    </p:spTree>
    <p:extLst>
      <p:ext uri="{BB962C8B-B14F-4D97-AF65-F5344CB8AC3E}">
        <p14:creationId xmlns:p14="http://schemas.microsoft.com/office/powerpoint/2010/main" val="17139990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298149-CE56-45B2-975E-E0931DD5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08  •  ЛАБОРАТОРИСКА ОКОЛИНА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2FB65-98D2-49A4-B3F8-B035898D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Изолација и потребни ресурси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B9304-8683-4AE2-8C0D-C5BC9841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Сè работи локално, на loopback адреси, во Docker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63050-3BAC-41CF-BBBE-8B338F05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017FB-4CC7-471A-B651-5AA14FF1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B90F2-1C53-4A6D-9C71-26696453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BDA05-0763-4D28-BE73-E55705AB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8B2A7-AB33-48DA-9BC1-82A4DE53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571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E0782-552B-41FD-B2A7-D94B0265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Хардвер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1C4229-7DEB-40A6-9EAB-DB3D7FF0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Windows 11 машина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Минимум 8 GB RAM за удобно работење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Слободен простор за Docker images и модели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6B4970-ED26-4DD7-B193-AF15120D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66900"/>
            <a:ext cx="31432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ECFE9-A735-43C6-83A3-D14061FB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866900"/>
            <a:ext cx="571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5C9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23FC1-C88F-462F-8FD4-8B41EC8F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193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Софтвер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BA50E0-C784-4425-906F-F6DDC786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81250"/>
            <a:ext cx="2800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Docker Desktop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Python + FastAPI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CLI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Ollama + llama3.2:1b / 3b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Metasploit Framework (msfconsole)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6DB93E-D227-4294-BBBF-EE3AE168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4095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EF2702-276A-4476-9963-CDBCF18D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571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4762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92B024-141F-45AF-87F8-563B320E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19300"/>
            <a:ext cx="3752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Изолација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76B38E-F7F6-491E-BD88-2B667753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37528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Docker ports се врзани само на 127.0.0.1. Data Exfiltration Guard / TransferGuardian спречува испраќање извештаи кон надворешен домен. Нема автоматски payload.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03BA27-99DC-470C-9DF0-843849C1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10050"/>
            <a:ext cx="61912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122B45"/>
          </a:solidFill>
          <a:ln xmlns:a="http://schemas.openxmlformats.org/drawingml/2006/main" w="9525">
            <a:solidFill>
              <a:srgbClr val="36516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66B10C-8C58-4663-927F-9B74CF9E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5848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web-lab    127.0.0.1:8082 → 8081</a:t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redis-lab  127.0.0.1:6380 → 6379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Target Registry Guard = Docker label + explicit human approval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343256-F1E9-47DE-9903-5299B7F0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C7476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C74762"/>
                </a:solidFill>
                <a:latin typeface="Arial"/>
                <a:ea typeface="Arial"/>
                <a:cs typeface="Arial"/>
              </a:rPr>
              <a:t>Безбедносно предупредување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8994A0-B374-4B56-A18C-BC9A0015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Операциите се наменети само за сопствената лабораторија. Не додавај надворешен target без експлицитна дозвола и одделена, изолирана средина.</a:t>
            </a:r>
          </a:p>
        </p:txBody>
      </p:sp>
    </p:spTree>
    <p:extLst>
      <p:ext uri="{BB962C8B-B14F-4D97-AF65-F5344CB8AC3E}">
        <p14:creationId xmlns:p14="http://schemas.microsoft.com/office/powerpoint/2010/main" val="13694359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0A1218-AE5F-439E-85D9-4857CD31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09  •  СЦЕНАРИО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99880-C0B3-48E2-873E-5130B9DE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Redis наод: OPEN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7AAEE5-ACD0-4433-922A-13C577A8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Отворена порта не е доволна. Наодот се потврдува со директен, не-деструктивен probe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D9FC6-1C2D-4BB4-9937-3AACEE13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34A51-81E8-4FDD-A300-7162E91A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92913-A797-47B4-B9EB-D76013AB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3c1c45ba204464"/>
          <a:stretch xmlns:a="http://schemas.openxmlformats.org/drawingml/2006/main"/>
        </p:blipFill>
        <p:spPr>
          <a:xfrm xmlns:a="http://schemas.openxmlformats.org/drawingml/2006/main">
            <a:off x="514350" y="2224889"/>
            <a:ext cx="4857750" cy="2646347"/>
          </a:xfrm>
          <a:prstGeom xmlns:a="http://schemas.openxmlformats.org/drawingml/2006/main" prst="roundRect">
            <a:avLst>
              <a:gd name="adj" fmla="val 328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EB5A5-AC68-4399-BA0A-AFB1CB8F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47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Редослед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D92A4-BF1F-4A61-AB72-C2EC3F56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288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D86D3-C11F-4FFC-96CC-D63C895F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Nmap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6F09AD-3E7F-4421-AB5B-370593A0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95550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6380/tcp е open на 127.0.0.1.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099492-13D6-4AAE-B4BF-929FB763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99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D3966-563C-40F5-BBDB-853FFB58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9085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Redis verifier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8B1A4A-1B83-4EB7-832F-6E2C0CE5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76600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Испраќа PING преку socket.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37898D-80F3-4A4E-B038-06DE0E1CE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909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7724D3-4AB5-454C-8B86-085C0366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71900"/>
            <a:ext cx="432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Доказ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593B16-8E5F-42F5-958C-2BA598AD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57650"/>
            <a:ext cx="432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+PONG без лозинка → CWE-306.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367349-97E7-41B6-968D-4E5B4541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91050"/>
            <a:ext cx="4762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22B45"/>
          </a:solidFill>
          <a:ln xmlns:a="http://schemas.openxmlformats.org/drawingml/2006/main" w="9525">
            <a:solidFill>
              <a:srgbClr val="36516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FFC7EF-6BBE-4258-AAE0-2F6EE6E5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24400"/>
            <a:ext cx="4419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verification.status = "open"</a:t>
            </a:r>
          </a:p>
          <a:p xmlns:a="http://schemas.openxmlformats.org/drawingml/2006/main">
            <a:pPr>
              <a:def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finding = "CWE-306"</a:t>
            </a:r>
          </a:p>
          <a:p xmlns:a="http://schemas.openxmlformats.org/drawingml/2006/main">
            <a:pPr>
              <a:def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D8E4F1"/>
                </a:solidFill>
                <a:latin typeface="Consolas"/>
                <a:ea typeface="Consolas"/>
                <a:cs typeface="Consolas"/>
              </a:rPr>
              <a:t>severity = "high"</a:t>
            </a:r>
          </a:p>
        </p:txBody>
      </p:sp>
    </p:spTree>
    <p:extLst>
      <p:ext uri="{BB962C8B-B14F-4D97-AF65-F5344CB8AC3E}">
        <p14:creationId xmlns:p14="http://schemas.microsoft.com/office/powerpoint/2010/main" val="2078457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D99D01-A55C-438E-AA4A-272C6B31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10  •  СЦЕНАРИО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E176A-4AF7-46B8-BF71-CC20736D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Закрпа и retest: FIXED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359AB-3E93-4353-85DD-FC02CF19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Истата проверка потврдува дека authentication сега е задолжителна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8ACFB-5AFB-4512-92ED-5C54E2A0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13FE5-9641-42EF-B144-71175901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A62B2-F196-4304-A9CF-7147FD4A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27b0a14b654223"/>
          <a:stretch xmlns:a="http://schemas.openxmlformats.org/drawingml/2006/main"/>
        </p:blipFill>
        <p:spPr>
          <a:xfrm xmlns:a="http://schemas.openxmlformats.org/drawingml/2006/main">
            <a:off x="514350" y="1900121"/>
            <a:ext cx="4953000" cy="3534008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B6D9F-C548-4323-A1FC-CE409E34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43100"/>
            <a:ext cx="5048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7F1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3B203-AF19-48B1-937A-D24526A5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336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PATCH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B1AB3-E416-4113-A4EE-B2D1A187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76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650" b="1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redis-server --requirepass 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903370-D033-4056-9774-92B3742F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5048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BEAEE"/>
          </a:solidFill>
          <a:ln xmlns:a="http://schemas.openxmlformats.org/drawingml/2006/main" w="9525">
            <a:solidFill>
              <a:srgbClr val="C7476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D0BAF9-CE58-4D69-BF3B-9118CC6A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RETEST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CA58BB-1FBC-4142-A55D-92A27BD5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6715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-NOAUTH → finding no longer verified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38186B-6BF2-4A4D-B243-69C634FE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196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Статусот FIXED доаѓа од новиот verifier резултат и од споредбата со претходниот OPEN report. Nmap сè уште може да гледа open port, затоа што достапноста не значи и неавтентициран пристап.</a:t>
            </a:r>
          </a:p>
        </p:txBody>
      </p:sp>
    </p:spTree>
    <p:extLst>
      <p:ext uri="{BB962C8B-B14F-4D97-AF65-F5344CB8AC3E}">
        <p14:creationId xmlns:p14="http://schemas.microsoft.com/office/powerpoint/2010/main" val="12808699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978927-ADCE-421E-B055-D866BB32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11  •  СЦЕНАРИО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3C05F-024E-47EE-B8F2-8EF8B8D0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Web сервис: NO_FINDING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17594-D867-4B44-AD83-0309D6E0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Сервисот е достапен, но проценката нема доказ за ранливост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9255D-6354-4B6D-8F2B-C05ED8C8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DC8BC-7AA1-4FD7-BB30-4CE31794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5CDA3-8273-424A-B7B6-03886217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69e7debcb349d3"/>
          <a:stretch xmlns:a="http://schemas.openxmlformats.org/drawingml/2006/main"/>
        </p:blipFill>
        <p:spPr>
          <a:xfrm xmlns:a="http://schemas.openxmlformats.org/drawingml/2006/main">
            <a:off x="835211" y="1943100"/>
            <a:ext cx="4196979" cy="2971800"/>
          </a:xfrm>
          <a:prstGeom xmlns:a="http://schemas.openxmlformats.org/drawingml/2006/main" prst="roundRect">
            <a:avLst>
              <a:gd name="adj" fmla="val 3846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54F22-B991-44B7-A544-27CAC249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43100"/>
            <a:ext cx="4857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FE3E1-E775-48D0-9AFC-4319AC09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43100"/>
            <a:ext cx="57150" cy="1295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46F18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20A542-7F8E-4463-9785-E2E3251A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9550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Што значи NO_FINDING?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6F750C-C628-4BBA-8378-1C8B51B5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57450"/>
            <a:ext cx="4514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Системот потврдил дека сервисот одговара, но не потврдил конкретна ранливост. Овој резултат е различен од FIXED.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82D70-FA22-414E-BD5B-253D891C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24250"/>
            <a:ext cx="4857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179127-B26F-4CC4-945E-FD545DD9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24250"/>
            <a:ext cx="5715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BB8D73-822C-4A0E-A0CB-C2A88269E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7665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Зошто LLM не одлучува?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3DBE20-A18F-4B61-B1AB-CD42C9B4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38600"/>
            <a:ext cx="4514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LLM triage моделот само го класифицира набљудувањето и предлага следен безбеден чекор. HTTP verifier ја одредува состојбата.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9FD689-B2A3-4029-8064-13E22F97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7687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Извештајот останува корисен: покажува што е измерено и што не е докажано.</a:t>
            </a:r>
          </a:p>
        </p:txBody>
      </p:sp>
    </p:spTree>
    <p:extLst>
      <p:ext uri="{BB962C8B-B14F-4D97-AF65-F5344CB8AC3E}">
        <p14:creationId xmlns:p14="http://schemas.microsoft.com/office/powerpoint/2010/main" val="4573774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B2ACF0-68A9-4E61-91C1-7CD850E1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12  •  MULTI-MODEL КОНФИГУРАЦИЈА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CE397A-08D2-4E93-94BC-5653724F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Избор на модел од интерфејсот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A5FB4-9BA4-4E79-AD6D-E7E215DA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Моделите имаат одделни улоги, а операторот може да избере друга локална комбинација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64273-A20A-4DF1-8CB7-429698A8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EC21A-2110-4685-8BA9-51793B50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04B5E8-40BD-4BC2-91A7-0949DDE8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BD30F-D189-4F6E-81D6-33DB7DDA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03E37-AD3E-4D8E-B083-2853F4F5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llama3.2:1b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D27BBF-764F-4F46-A340-F9319A27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5747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triage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брза класификација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мал footprint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329C4-C848-4207-AFA1-D8187EAC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790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B11C1-033C-4364-B31B-1EBEACC8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622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llama3.2:3b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3F7E05-21CF-457A-AC3D-7783D592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5747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Semantic Prompt Guard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финална анализа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локално и fail-closed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82487-65F1-4D38-976D-87183470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4790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9525">
            <a:solidFill>
              <a:srgbClr val="A46F1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5ACCA0-A5EC-494C-AEED-273416C4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6220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Оpcionално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0E897F-54DE-4B3B-BC07-C0009103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57475"/>
            <a:ext cx="24003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OpenRouter provider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само со сопствен API key</a:t>
            </a:r>
          </a:p>
          <a:p xmlns:a="http://schemas.openxmlformats.org/drawingml/2006/main">
            <a:pPr>
              <a:defRPr sz="10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не е активен по default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6A28BD-DE47-4D7B-92BE-37E18669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099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C9F"/>
          </a:solidFill>
          <a:ln xmlns:a="http://schemas.openxmlformats.org/drawingml/2006/main" w="9525">
            <a:solidFill>
              <a:srgbClr val="1E5C9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16B009-6A29-4452-901A-FC68A835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09900"/>
            <a:ext cx="1409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F87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65E854-0F27-4F12-A25A-3233E580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Nmap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5D4464-6489-45B3-9744-D049EA2C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0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Guard + recommendations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39011E-17C5-433B-9739-F5517356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1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Provider swap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414DFD-B651-413C-B781-97ECF062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689FCE-D80A-4DDC-82AF-BA63F2D0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482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Пример од демонстрацијата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18F793-4763-474F-AA4D-542C69EF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15324B"/>
                </a:solidFill>
                <a:latin typeface="Consolas"/>
                <a:ea typeface="Consolas"/>
                <a:cs typeface="Consolas"/>
              </a:rPr>
              <a:t>triage = llama3.2:3b   •   final analysis = llama3.2:1b   •   guard = llama3.2:3b</a:t>
            </a:r>
          </a:p>
        </p:txBody>
      </p:sp>
    </p:spTree>
    <p:extLst>
      <p:ext uri="{BB962C8B-B14F-4D97-AF65-F5344CB8AC3E}">
        <p14:creationId xmlns:p14="http://schemas.microsoft.com/office/powerpoint/2010/main" val="14161948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1BEB9B-249E-4065-A1A5-DA5D66CA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13  •  ЗАШТИТНИ МЕХАНИЗМИ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FAC08C-C3EC-455A-B268-403EB7A9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Ethical guard пред секоја ризична акција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D5510-BC64-4D65-9AFC-218F7D7F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AEGIS блокира prompt injection, непотребна ексфилтрација и target надвор од дозволениот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DDF0A-AC3E-425E-9391-02B923C0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16AC8-AB34-48C7-A562-88860FE0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BD331-6FE6-4B3F-8067-9BA5D5FB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5c4b21a1fa4464"/>
          <a:stretch xmlns:a="http://schemas.openxmlformats.org/drawingml/2006/main"/>
        </p:blipFill>
        <p:spPr>
          <a:xfrm xmlns:a="http://schemas.openxmlformats.org/drawingml/2006/main">
            <a:off x="981740" y="1866900"/>
            <a:ext cx="3256221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92d16ea8c04720"/>
          <a:stretch xmlns:a="http://schemas.openxmlformats.org/drawingml/2006/main"/>
        </p:blipFill>
        <p:spPr>
          <a:xfrm xmlns:a="http://schemas.openxmlformats.org/drawingml/2006/main">
            <a:off x="4953000" y="2244686"/>
            <a:ext cx="4191000" cy="2101928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5BDC05-ECDA-4AD2-9AF5-26F5A330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66900"/>
            <a:ext cx="2190750" cy="285750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E9BAC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BC263-51FE-4F10-A693-FAD028C1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09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80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BLOCK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0FED7-8C2B-4ACC-8135-0A6FE955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24150"/>
            <a:ext cx="1619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tools_called = []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policy.allowed = false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scope.allowed = false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LLM не добива команда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700F27-0FF8-4646-9CAD-AD563DA4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ALLOW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9CB81-6268-4ABD-B031-8989989B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Безбедно едукативно прашање стигнува до локалниот LLM и добива одговор.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FA923F-685A-4BBF-9AEB-693B71EC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BLOCK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2ADB8B-CB2C-4048-A312-E98CA036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4864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Непознат target или обид за override се блокира пред алатката или моделот.</a:t>
            </a:r>
          </a:p>
        </p:txBody>
      </p:sp>
    </p:spTree>
    <p:extLst>
      <p:ext uri="{BB962C8B-B14F-4D97-AF65-F5344CB8AC3E}">
        <p14:creationId xmlns:p14="http://schemas.microsoft.com/office/powerpoint/2010/main" val="4093508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6F2632-AB26-4195-A8DA-09087FEE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14  •  КОНТРОЛИРАНА ВАЛИДАЦИЈА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9D5A18-EA34-49D1-BD1F-6260577C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Metasploit каталог без автоматизиран напад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31A17-6109-418D-9C18-451E20A1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AEGIS ги наоѓа соодветните модули за преглед, но автоматското извршување е строго исклучено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C6FC5-B29B-4A2E-B469-F77ACABA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B4F92-A886-46FE-B0C7-9786A3DB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30224-0CD6-466E-8AFC-9384E335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E34A9-E40E-4D9F-8D40-710DC4FE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33337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DECEF"/>
          </a:solidFill>
          <a:ln xmlns:a="http://schemas.openxmlformats.org/drawingml/2006/main" w="9525">
            <a:solidFill>
              <a:srgbClr val="E9BAC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949C4-2089-4FE5-BB37-254D8E9E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1  •  LIST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D775D-F5D1-4804-BC80-F8C6C897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Локален каталог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7687E3-D6E6-4596-9EAB-2175CC79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238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Пребарување преку msfconsole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Само auxiliary scanner кандидати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Ограничено на одобрената Docker мета</a:t>
            </a:r>
          </a:p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Нула payload и нула execution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7A2DBE-86CA-49D1-BB33-DB08095D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43100"/>
            <a:ext cx="33337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BA238-063F-45BE-8D2D-E96D068D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28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2  •  MATCH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E00DA6-D9D6-4B12-9EA3-DDECEC21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AI селекција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34816D-530E-4CAA-9034-F3830649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19450"/>
            <a:ext cx="238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llama3.2:3b споредува verified OPEN finding со листата на дозволени имиња. Моделот предлага match само ако каталогот врати кандидат. Параметрите се прикажуваат за едукативен преглед.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0FDB0D-2A19-4020-BABE-D9A47816F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3375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0B7F8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E4C95F-36CA-4BB3-8D44-6CA7597C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28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275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3  • 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1B2879-72CD-4951-A7B2-EFA67321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67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Човечка одлука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A15EBA-AE8C-48D7-A776-BEBFC6E8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19450"/>
            <a:ext cx="238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execution: disabled е задолжително. Операторот или професорот ги прегледува доказите, а секоја понатамошна офанзивна активност бара посебна, изолирана и одобрена средина.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0BE1F8-9839-43DC-946C-FF1907E1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71850"/>
            <a:ext cx="466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C7476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7476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FFF55C-B3F2-465A-B9FB-FC71F0EE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371850"/>
            <a:ext cx="466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E5C9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E5C9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3F536C-C577-49B5-AA38-C5296580F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578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A46F1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A46F18"/>
                </a:solidFill>
                <a:latin typeface="Arial"/>
                <a:ea typeface="Arial"/>
                <a:cs typeface="Arial"/>
              </a:rPr>
              <a:t>Забелешка за Windows: каталогот е опционален. Ако локалната Ruby компонента е блокирана од Windows Security, статусот е UNAVAILABLE, а останатите делови на AEGIS продолжуваат нормално.</a:t>
            </a:r>
          </a:p>
        </p:txBody>
      </p:sp>
    </p:spTree>
    <p:extLst>
      <p:ext uri="{BB962C8B-B14F-4D97-AF65-F5344CB8AC3E}">
        <p14:creationId xmlns:p14="http://schemas.microsoft.com/office/powerpoint/2010/main" val="124328628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35FC81-59B5-4625-A8EF-13A4789B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15  •  ДОКАЗИ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45AC45-917E-4B78-A8F3-91E1366D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Извештај, audit trail и репродуктивност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53436-F619-4956-A0C8-E02DA355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Секој run остава трага што може да се прегледа и спореди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5D344-E3E9-414B-A054-57E9CB50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80573-651E-4FE9-9A69-08A21074B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86364-E69D-412E-B9D1-9B1D40F9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094ace7d444dd"/>
          <a:stretch xmlns:a="http://schemas.openxmlformats.org/drawingml/2006/main"/>
        </p:blipFill>
        <p:spPr>
          <a:xfrm xmlns:a="http://schemas.openxmlformats.org/drawingml/2006/main">
            <a:off x="590550" y="2259545"/>
            <a:ext cx="4191000" cy="2148410"/>
          </a:xfrm>
          <a:prstGeom xmlns:a="http://schemas.openxmlformats.org/drawingml/2006/main" prst="roundRect">
            <a:avLst>
              <a:gd name="adj" fmla="val 411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FD2B7-55B9-443F-B342-18D017F9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43100"/>
            <a:ext cx="56197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75F95-26CA-4EB4-921D-D6737E24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09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Што се запишува?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8DEF34-5B4F-4AF6-9D5B-B4BC78B3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24150"/>
            <a:ext cx="466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target и scope одлука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точната алатка и нејзиниот резултат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моделот што ја направил triage анализата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verified finding и препорака</a:t>
            </a:r>
          </a:p>
          <a:p xmlns:a="http://schemas.openxmlformats.org/drawingml/2006/main">
            <a:pPr>
              <a:defRPr sz="1425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• report ID и retest споредба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719ADD-93E0-4DD8-AFB2-5E7C5530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9D2233-38BA-402A-B248-07851EC7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48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A46F1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46F18"/>
                </a:solidFill>
                <a:latin typeface="Arial"/>
                <a:ea typeface="Arial"/>
                <a:cs typeface="Arial"/>
              </a:rPr>
              <a:t>Audit trail = оперативна трага за демонстрација и debugging. Не го претставуваме како криптографски immutable ledger.</a:t>
            </a:r>
          </a:p>
        </p:txBody>
      </p:sp>
    </p:spTree>
    <p:extLst>
      <p:ext uri="{BB962C8B-B14F-4D97-AF65-F5344CB8AC3E}">
        <p14:creationId xmlns:p14="http://schemas.microsoft.com/office/powerpoint/2010/main" val="17311244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D66E72-2CB4-4550-A9CC-50DEA3E3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16  •  ПОКРИЕНОСТ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E0296-2E6A-45E4-ACC6-AA8F2F43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Што е имплементирано и кои се границите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2D4A8-7D85-4B7F-8ABB-6E793AAF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Транспарентната проценка е дел од етичкиот дизајн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C823A-4063-447A-930F-BAE86D80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61CCC-359F-43FB-BC2E-4EE9142E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8ACAD-A490-4356-95FE-71A059CE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F9B46-7554-441C-A9F8-CACD8EFD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Барање / способност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84B92-09BB-4F09-BDA2-CAEB329D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478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69839C"/>
                </a:solidFill>
                <a:latin typeface="Consolas"/>
                <a:ea typeface="Consolas"/>
                <a:cs typeface="Consolas"/>
              </a:defRPr>
            </a:pPr>
            <a:r>
              <a:rPr sz="1125" b="1" i="0">
                <a:solidFill>
                  <a:srgbClr val="69839C"/>
                </a:solidFill>
                <a:latin typeface="Consolas"/>
                <a:ea typeface="Consolas"/>
                <a:cs typeface="Consolas"/>
              </a:rPr>
              <a:t>Статус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B029BC-77E5-4B4B-B9C3-FC97E7B5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A729D-9D0B-4938-B977-FB4EA4F7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Nmap повик + agent triage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9E112-FDC2-4E52-A344-598368B3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05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207ED5-999A-4748-9BE9-42CB8C52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24F713-8AD6-45DE-84AA-D8FDD92E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Проверка на ранливост + report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37B94-BFD2-4C6D-B9C7-B2D0A023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81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25F430-D5F3-4EAB-B80A-3F9F3660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FBA1F-742C-479F-827C-C98F40D7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Patch → policy/retest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C60537-F1FF-43D2-B615-C2E0EF69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57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0A8314-F2A6-4D02-8D76-2E7FCDAB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1B8733-50BE-4A83-AB96-184DFD4D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Повеќе локални модели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9CF8FA-BF95-4461-9BA0-3E969BF8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33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CCE6D3-F463-4B32-8E8B-1F8F8D4B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27C78B-D1EC-4EF6-ACBC-8B6FCB89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Ethical scope и prompt блокирање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4053F8-059D-4CB8-BF00-BD14DC78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100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B7F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7F87"/>
                </a:solidFill>
                <a:latin typeface="Arial"/>
                <a:ea typeface="Arial"/>
                <a:cs typeface="Arial"/>
              </a:rPr>
              <a:t>Има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790EE3-76E9-4F0F-8B8D-1EC26229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9E4851-0ADF-4374-8BAB-93EA74D7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Metasploit listing / match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FDCA97-8168-4D55-8AD2-E282BB04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863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A46F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46F18"/>
                </a:solidFill>
                <a:latin typeface="Arial"/>
                <a:ea typeface="Arial"/>
                <a:cs typeface="Arial"/>
              </a:rPr>
              <a:t>Делумно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B57D3A-F69B-40D4-91AD-E8A7FD5B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49CCCC-6739-4884-8A1B-408844D6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Автоматски exploit / ексфилтрација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3A8480-2597-4A5C-8BA2-B306C521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162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C7476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74762"/>
                </a:solidFill>
                <a:latin typeface="Arial"/>
                <a:ea typeface="Arial"/>
                <a:cs typeface="Arial"/>
              </a:rPr>
              <a:t>Исклучено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4B0FD9-498B-43B3-9319-076BA473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477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DEF9AE-9B81-4CD1-8E11-E8846961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OpenRouter cloud модел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BB5D59-675E-4A92-BE33-257D5EB0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638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A46F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46F18"/>
                </a:solidFill>
                <a:latin typeface="Arial"/>
                <a:ea typeface="Arial"/>
                <a:cs typeface="Arial"/>
              </a:rPr>
              <a:t>Опционално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B58CE0-8A8E-4A1C-9635-E1F8D0B8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Оваа листа ја кажува реалната состојба: AEGIS демонстрира безбедна проценка, а не неконтролиран офанзивен автомат.</a:t>
            </a:r>
          </a:p>
        </p:txBody>
      </p:sp>
    </p:spTree>
    <p:extLst>
      <p:ext uri="{BB962C8B-B14F-4D97-AF65-F5344CB8AC3E}">
        <p14:creationId xmlns:p14="http://schemas.microsoft.com/office/powerpoint/2010/main" val="6817645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AF4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F3084D-2783-4D51-8AD9-DE4F43D7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10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17  •  ЗАКЛУЧОК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CE978-6B8E-4DEF-B3C7-C24837E2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Што демонстрира AEGIS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143F2-0D6C-4434-BAF4-A042B75F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Безбедна и детерминистичка оркестрација на алатки и модели во локална лабораторија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D3782-6355-443E-91AF-BDB8CB03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F8C"/>
          </a:solidFill>
          <a:ln xmlns:a="http://schemas.openxmlformats.org/drawingml/2006/main" w="9525">
            <a:solidFill>
              <a:srgbClr val="2E5F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E17D94-BAF8-4181-8459-34D19461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AEGIS  •  локална Purple-Team лабораторија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85CB04-E422-41CD-8F03-5390C882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9839C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9839C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FDD51-07FF-476F-AB2D-8535B5EE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B7F87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0B7F8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329DB-DCEE-4639-AB8D-9FB639E5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145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Реален алат, а не симулација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857139-8821-4144-90EB-74F36A73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955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Nmap и Metasploit се повикуваат како системски процеси, а структурираниот резултат се предава на Triage агентот за анализа и контекст.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4B897C-F74D-4370-BB91-C0342352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E5C9F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1E5C9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5E16E-CE40-4BDD-9966-3F25CF92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909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Проверлив и точен наод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0D77D-90FA-4AF8-BD68-7659189F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719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Verifier модулите детерминистички одлучуваат OPEN, FIXED или NO_FINDING. LLM помага за контекст, објаснување и препорака, но не ја прогласува ранливоста.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CE223A-7C0A-470A-B71E-9EC344CB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C74762"/>
                </a:solidFill>
                <a:latin typeface="Consolas"/>
                <a:ea typeface="Consolas"/>
                <a:cs typeface="Consolas"/>
              </a:defRPr>
            </a:pPr>
            <a:r>
              <a:rPr sz="2550" b="1" i="0">
                <a:solidFill>
                  <a:srgbClr val="C74762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23F98A-1712-4B17-BFE7-20D532ED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Строги етички граници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A546A-4900-4B21-BF83-2339C563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48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3F59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F5970"/>
                </a:solidFill>
                <a:latin typeface="Arial"/>
                <a:ea typeface="Arial"/>
                <a:cs typeface="Arial"/>
              </a:rPr>
              <a:t>Scope, Prompt и Transfer заштитниците спречуваат надворешни мети, измамнички команди и истекување податоци. Офанзивното извршување останува исклучено.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E215B8-8125-4DD0-8BEE-B5A631C50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428625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9525">
            <a:solidFill>
              <a:srgbClr val="D3DEE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4CCD9F-769E-4994-A69E-0CAEFFA2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3622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15324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324B"/>
                </a:solidFill>
                <a:latin typeface="Arial"/>
                <a:ea typeface="Arial"/>
                <a:cs typeface="Arial"/>
              </a:rPr>
              <a:t>Демо редослед за одбрана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35AB01-D4EB-4406-9CA8-DE7DC323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52750"/>
            <a:ext cx="323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1  Discover + approve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2  Run web-lab → NO_FINDING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3  Run redis-lab → OPEN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4  Patch Redis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5  Retest → FIXED</a:t>
            </a:r>
          </a:p>
          <a:p xmlns:a="http://schemas.openxmlformats.org/drawingml/2006/main">
            <a:pPr>
              <a:def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3F5970"/>
                </a:solidFill>
                <a:latin typeface="Consolas"/>
                <a:ea typeface="Consolas"/>
                <a:cs typeface="Consolas"/>
              </a:rPr>
              <a:t>6  Prompt BLOCK + transfer BLOCK</a:t>
            </a:r>
          </a:p>
        </p:txBody>
      </p:sp>
    </p:spTree>
    <p:extLst>
      <p:ext uri="{BB962C8B-B14F-4D97-AF65-F5344CB8AC3E}">
        <p14:creationId xmlns:p14="http://schemas.microsoft.com/office/powerpoint/2010/main" val="18698552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2026-09-22T15:06:41.5680000Z</dcterms:created>
  <dcterms:modified xsi:type="dcterms:W3CDTF">2026-09-22T15:06:41.5680000Z</dcterms:modified>
</coreProperties>
</file>