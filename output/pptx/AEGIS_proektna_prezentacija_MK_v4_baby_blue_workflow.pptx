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e284b37e564b32" /><Relationship Type="http://schemas.openxmlformats.org/officeDocument/2006/relationships/extended-properties" Target="/docProps/app.xml" Id="R0ba9684f93fc4dfb" /><Relationship Type="http://schemas.openxmlformats.org/officeDocument/2006/relationships/officeDocument" Target="/ppt/presentation.xml" Id="Red94e7dfaf9b4e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e10d1ff134422f"/>
  </p:sldMasterIdLst>
  <p:notesMasterIdLst>
    <p:notesMasterId xmlns:r="http://schemas.openxmlformats.org/officeDocument/2006/relationships" r:id="R66d39a14f0064ef7"/>
  </p:notesMasterIdLst>
  <p:sldIdLst>
    <p:sldId xmlns:r="http://schemas.openxmlformats.org/officeDocument/2006/relationships" id="256" r:id="Rf7bdf3790c154118"/>
    <p:sldId xmlns:r="http://schemas.openxmlformats.org/officeDocument/2006/relationships" id="257" r:id="R173d9f979e4c4e76"/>
    <p:sldId xmlns:r="http://schemas.openxmlformats.org/officeDocument/2006/relationships" id="258" r:id="R5be562a9c63a4d2a"/>
    <p:sldId xmlns:r="http://schemas.openxmlformats.org/officeDocument/2006/relationships" id="259" r:id="R060418c33ac34985"/>
    <p:sldId xmlns:r="http://schemas.openxmlformats.org/officeDocument/2006/relationships" id="260" r:id="Rc35de1fd8b9447e3"/>
    <p:sldId xmlns:r="http://schemas.openxmlformats.org/officeDocument/2006/relationships" id="261" r:id="Rfc4a558d89404d61"/>
    <p:sldId xmlns:r="http://schemas.openxmlformats.org/officeDocument/2006/relationships" id="262" r:id="R297a2f87701a44b7"/>
    <p:sldId xmlns:r="http://schemas.openxmlformats.org/officeDocument/2006/relationships" id="263" r:id="R45703ff4721a4ccd"/>
    <p:sldId xmlns:r="http://schemas.openxmlformats.org/officeDocument/2006/relationships" id="264" r:id="Rf061ba26a89c4ed0"/>
    <p:sldId xmlns:r="http://schemas.openxmlformats.org/officeDocument/2006/relationships" id="265" r:id="R2dc145cf844d4946"/>
    <p:sldId xmlns:r="http://schemas.openxmlformats.org/officeDocument/2006/relationships" id="266" r:id="R6b077e7279a748f4"/>
    <p:sldId xmlns:r="http://schemas.openxmlformats.org/officeDocument/2006/relationships" id="267" r:id="R2357e27f0a364d0c"/>
    <p:sldId xmlns:r="http://schemas.openxmlformats.org/officeDocument/2006/relationships" id="268" r:id="Rfb59e818469e4622"/>
    <p:sldId xmlns:r="http://schemas.openxmlformats.org/officeDocument/2006/relationships" id="269" r:id="R3a8dc9736dee4801"/>
    <p:sldId xmlns:r="http://schemas.openxmlformats.org/officeDocument/2006/relationships" id="270" r:id="Re43472f493a34f6a"/>
    <p:sldId xmlns:r="http://schemas.openxmlformats.org/officeDocument/2006/relationships" id="271" r:id="R4e932defd4114185"/>
    <p:sldId xmlns:r="http://schemas.openxmlformats.org/officeDocument/2006/relationships" id="272" r:id="R444c85128f984a92"/>
    <p:sldId xmlns:r="http://schemas.openxmlformats.org/officeDocument/2006/relationships" id="273" r:id="R73282c28b04344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a0a016607c4e61" /><Relationship Type="http://schemas.openxmlformats.org/officeDocument/2006/relationships/slideMaster" Target="/ppt/slideMasters/slideMaster1.xml" Id="R9ce10d1ff134422f" /><Relationship Type="http://schemas.openxmlformats.org/officeDocument/2006/relationships/notesMaster" Target="/ppt/notesMasters/notesMaster1.xml" Id="R66d39a14f0064ef7" /><Relationship Type="http://schemas.openxmlformats.org/officeDocument/2006/relationships/presProps" Target="/ppt/presProps.xml" Id="R6bf9ddad625e4630" /><Relationship Type="http://schemas.openxmlformats.org/officeDocument/2006/relationships/tableStyles" Target="/ppt/tableStyles.xml" Id="Rb3b88530dd2b4a01" /><Relationship Type="http://schemas.openxmlformats.org/officeDocument/2006/relationships/slide" Target="/ppt/slides/slide1.xml" Id="Rf7bdf3790c154118" /><Relationship Type="http://schemas.openxmlformats.org/officeDocument/2006/relationships/slide" Target="/ppt/slides/slide2.xml" Id="R173d9f979e4c4e76" /><Relationship Type="http://schemas.openxmlformats.org/officeDocument/2006/relationships/slide" Target="/ppt/slides/slide3.xml" Id="R5be562a9c63a4d2a" /><Relationship Type="http://schemas.openxmlformats.org/officeDocument/2006/relationships/slide" Target="/ppt/slides/slide4.xml" Id="R060418c33ac34985" /><Relationship Type="http://schemas.openxmlformats.org/officeDocument/2006/relationships/slide" Target="/ppt/slides/slide5.xml" Id="Rc35de1fd8b9447e3" /><Relationship Type="http://schemas.openxmlformats.org/officeDocument/2006/relationships/slide" Target="/ppt/slides/slide6.xml" Id="Rfc4a558d89404d61" /><Relationship Type="http://schemas.openxmlformats.org/officeDocument/2006/relationships/slide" Target="/ppt/slides/slide7.xml" Id="R297a2f87701a44b7" /><Relationship Type="http://schemas.openxmlformats.org/officeDocument/2006/relationships/slide" Target="/ppt/slides/slide8.xml" Id="R45703ff4721a4ccd" /><Relationship Type="http://schemas.openxmlformats.org/officeDocument/2006/relationships/slide" Target="/ppt/slides/slide9.xml" Id="Rf061ba26a89c4ed0" /><Relationship Type="http://schemas.openxmlformats.org/officeDocument/2006/relationships/slide" Target="/ppt/slides/slide10.xml" Id="R2dc145cf844d4946" /><Relationship Type="http://schemas.openxmlformats.org/officeDocument/2006/relationships/slide" Target="/ppt/slides/slide11.xml" Id="R6b077e7279a748f4" /><Relationship Type="http://schemas.openxmlformats.org/officeDocument/2006/relationships/slide" Target="/ppt/slides/slide12.xml" Id="R2357e27f0a364d0c" /><Relationship Type="http://schemas.openxmlformats.org/officeDocument/2006/relationships/slide" Target="/ppt/slides/slide13.xml" Id="Rfb59e818469e4622" /><Relationship Type="http://schemas.openxmlformats.org/officeDocument/2006/relationships/slide" Target="/ppt/slides/slide14.xml" Id="R3a8dc9736dee4801" /><Relationship Type="http://schemas.openxmlformats.org/officeDocument/2006/relationships/slide" Target="/ppt/slides/slide15.xml" Id="Re43472f493a34f6a" /><Relationship Type="http://schemas.openxmlformats.org/officeDocument/2006/relationships/slide" Target="/ppt/slides/slide16.xml" Id="R4e932defd4114185" /><Relationship Type="http://schemas.openxmlformats.org/officeDocument/2006/relationships/slide" Target="/ppt/slides/slide17.xml" Id="R444c85128f984a92" /><Relationship Type="http://schemas.openxmlformats.org/officeDocument/2006/relationships/slide" Target="/ppt/slides/slide18.xml" Id="R73282c28b04344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1d73fb4a324d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634155f9824200" /><Relationship Type="http://schemas.openxmlformats.org/officeDocument/2006/relationships/notesMaster" Target="/ppt/notesMasters/notesMaster1.xml" Id="Rfb4f14451b304b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2a0d68048d472d" /><Relationship Type="http://schemas.openxmlformats.org/officeDocument/2006/relationships/notesMaster" Target="/ppt/notesMasters/notesMaster1.xml" Id="R0660a142c6c34c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ada65e83a24191" /><Relationship Type="http://schemas.openxmlformats.org/officeDocument/2006/relationships/notesMaster" Target="/ppt/notesMasters/notesMaster1.xml" Id="R33747d69d64b4c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228f21ebfc4be5" /><Relationship Type="http://schemas.openxmlformats.org/officeDocument/2006/relationships/notesMaster" Target="/ppt/notesMasters/notesMaster1.xml" Id="R1d10a30dc0254a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3fd6af65d34cb1" /><Relationship Type="http://schemas.openxmlformats.org/officeDocument/2006/relationships/notesMaster" Target="/ppt/notesMasters/notesMaster1.xml" Id="R2eca56854c794b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99b165587c4ada" /><Relationship Type="http://schemas.openxmlformats.org/officeDocument/2006/relationships/notesMaster" Target="/ppt/notesMasters/notesMaster1.xml" Id="Rdcf4477cc42c49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76d9840e3e4ee2" /><Relationship Type="http://schemas.openxmlformats.org/officeDocument/2006/relationships/notesMaster" Target="/ppt/notesMasters/notesMaster1.xml" Id="R889e86ff223a45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73ebb481ac4567" /><Relationship Type="http://schemas.openxmlformats.org/officeDocument/2006/relationships/notesMaster" Target="/ppt/notesMasters/notesMaster1.xml" Id="Ra710981a344a47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afba5757ad48a5" /><Relationship Type="http://schemas.openxmlformats.org/officeDocument/2006/relationships/notesMaster" Target="/ppt/notesMasters/notesMaster1.xml" Id="Ra1e35dc3a6014f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3a0b6b49374f84" /><Relationship Type="http://schemas.openxmlformats.org/officeDocument/2006/relationships/notesMaster" Target="/ppt/notesMasters/notesMaster1.xml" Id="R16f8757424a449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4a50a4756b4fa8" /><Relationship Type="http://schemas.openxmlformats.org/officeDocument/2006/relationships/notesMaster" Target="/ppt/notesMasters/notesMaster1.xml" Id="R4c804adebb8743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fc1d2887194b7d" /><Relationship Type="http://schemas.openxmlformats.org/officeDocument/2006/relationships/notesMaster" Target="/ppt/notesMasters/notesMaster1.xml" Id="R351754885b0e42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9470bd95b34b1d" /><Relationship Type="http://schemas.openxmlformats.org/officeDocument/2006/relationships/notesMaster" Target="/ppt/notesMasters/notesMaster1.xml" Id="Re67c0decb7a049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e1786d8552048a4" /><Relationship Type="http://schemas.openxmlformats.org/officeDocument/2006/relationships/notesMaster" Target="/ppt/notesMasters/notesMaster1.xml" Id="Re595e249e44641e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1b8f67c82b3467a" /><Relationship Type="http://schemas.openxmlformats.org/officeDocument/2006/relationships/notesMaster" Target="/ppt/notesMasters/notesMaster1.xml" Id="Rd0b5a325a6b24e0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0628d146c614735" /><Relationship Type="http://schemas.openxmlformats.org/officeDocument/2006/relationships/notesMaster" Target="/ppt/notesMasters/notesMaster1.xml" Id="R88c4f1cc8f5c465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2e1b6475e364f7f" /><Relationship Type="http://schemas.openxmlformats.org/officeDocument/2006/relationships/notesMaster" Target="/ppt/notesMasters/notesMaster1.xml" Id="R233c84a5111f4ba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c3100ca01694cde" /><Relationship Type="http://schemas.openxmlformats.org/officeDocument/2006/relationships/notesMaster" Target="/ppt/notesMasters/notesMaster1.xml" Id="Rd546c31bdac34d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овој слајд го претставувам AEGIS како локална, контролирана Purple-Team платформа. Главната идеја е да го спојам реалното скенирање со Nmap и проверката на сервисот со локални јазични модели, но моделот никогаш сам не прогласува ранливост.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Воведот треба да ја постави разликата меѓу откривање и докажување. Nmap може да каже дека сервисот слуша на порта, но AEGIS користи специјализиран верификатор: за Redis проверува дали бара автентикација, а за веб сервисот само потврдува дека сервисот одговара.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Овој слајд ја користи аналогијата со куќа. Red Team гледа дали портата е отворена и дали Redis прифаќа PING без клуч. Blue Team применува политика, ја блокира ексфилтрацијата и додава requirepass. Purple Team ја споредува состојбата OPEN со состојбата после закрпата и бара FIXED.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Архитектурата е поделена во слоеви. FastAPI не се поврзува директно со произволен интернет домаќин. Target registry прво открива Docker лаборатории со AEGIS labels, а корисникот мора рачно да одобри една. Дури потоа се повикуваат Nmap и верификаторот.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Ова е првиот вистински чекор во интерфејсот. Discover не скенира мрежа, туку ги бара активните Docker контејнери со AEGIS labels. Тие почнуваат како PENDING. Корисникот мора да избере и да одобри. Без тоа, Policy и Ethical Scope Guard го стопираат assessment-от пред Nmap.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 и Redis се две различни лаборатории. Web сервисот е за service discovery и намерно нема verified finding. Redis е сценариото со наод: прво OPEN кога PING поминува без лозинка, а потоа FIXED кога PING враќа NOAUTH. Ако target не е approved, резултатот е BLOCKED пред алатките.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Моделот за Nmap triage не одлучува дали постои ранливост. Тој само го класифицира сервисот и дава контекст. Semantic Prompt Guard е посилен локален модел кој ги проверува prompt-ите. Финалната анализа може да користи друг модел, но препораката секогаш доаѓа после детерминистичкиот verifier.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Каталогот е посебен чекор помеѓу Report и Retest. Тој не стартува exploit, туку само овозможува listing и controlled match за верификуван OPEN finding. После тоа операторот внесува закрпа, а Retest ја проверува состојбата повторно.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 демонстрацијата се нагласува дека околината е лабораторија, а не production мрежа. Docker Compose ги подига двата сервиси. Target registry не чита произволни адреси, туку бара локални Docker labels и 127.0.0.1 port binding.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 првото Redis сценарио target registry го открива redis-lab и корисникот го одобрува. Nmap гледа дека портата е отворена, но RedisAccessVerifier прави вистинска проверка: PING враќа +PONG и Redis прифаќа команда без authentication. Тоа е моментот кога системот создава проверен OPEN наод.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remediation во compose е додаден Redis requirepass. Retest повторно го повикува Nmap и Redis verifier. Port 6380 останува open, но директниот PING без лозинка враќа -NOAUTH. Затоа AEGIS ја означува состојбата како FIXED, а не затоа што портата исчезнала.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Ова сценарио покажува важна граница. Отворената веб порта и HTTP одговорот се service discovery, не доказ за exploitability. AEGIS го задржува NO_FINDING за да избегне претерано тврдење.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овој слајд покажувам дека multi-model не значи дека моделите се случајно сменети. Секој има улога. Во UI може да се постави модел за Nmap triage и друг за финална анализа. Semantic guard останува посебен и fail-closed. OpenRouter е подготвен како опционален provider, но локалниот режим е основниот демонстрациски режим.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Овде ја покажувам разликата меѓу Policy/Ethical Scope Guard и Semantic Prompt Guard. Првиот контролира каде смее да се работи, вториот контролира што смее да стигне до LLM. Ако target не е одобрен, Nmap воопшто не се повикува. Ако prompt се обидува да ги заобиколи правилата, моделот не добива input.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Ова е намерно ограничен дел. Кодот го поддржува listing и match, но AEGIS не извршува Metasploit exploit. Тоа е коректно за етичка лабораторија. Во моменталната конфигурација native Ruby делот може да биде блокиран од Windows Security, па не треба да тврдиме дека имаме демонстриран exploit.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Извештајот е Markdown и се зачувува во reports директориумот. Audit trail е append-only JSONL на апликациско ниво. Тоа е доволно за лабораториска демонстрација и за да се види кој агент што направил, но не го нарекувам криптографски immutable систем.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Овој слајд е корисен ако професорот праша што точно е завршено. Не тврдам дека има активен exploit. Има локален Nmap, агенти, verifier, multi-model, reports и retest. Metasploit делот е listing/match со execution disabled, а OpenRouter е само опционален provider.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крајот го поврзувам целиот проект со кратка демонстрација: прво web NO_FINDING, потоа Redis OPEN, рачна закрпа, Redis FIXED retest, а на крај prompt и transfer BLOCK. Така професорот гледа и реален алат, и LLM, и заштитни механизми.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68d4b68c5345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0a0407c9c34040" /><Relationship Type="http://schemas.openxmlformats.org/officeDocument/2006/relationships/slideLayout" Target="/ppt/slideLayouts/slideLayout1.xml" Id="R5887c935a29649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87c935a29649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3d0a65d8e244f2" /><Relationship Type="http://schemas.openxmlformats.org/officeDocument/2006/relationships/image" Target="/ppt/media/image.png" Id="Rd33507b686914066" /><Relationship Type="http://schemas.openxmlformats.org/officeDocument/2006/relationships/notesSlide" Target="/ppt/notesSlides/notesSlide1.xml" Id="Ra06c5fb4baf84a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35f60a3be46bd" /><Relationship Type="http://schemas.openxmlformats.org/officeDocument/2006/relationships/notesSlide" Target="/ppt/notesSlides/notesSlide2.xml" Id="Rf569be8c14e342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ee1fb9a4f433b" /><Relationship Type="http://schemas.openxmlformats.org/officeDocument/2006/relationships/notesSlide" Target="/ppt/notesSlides/notesSlide3.xml" Id="R36ba6f3ae72d49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644511b2a4376" /><Relationship Type="http://schemas.openxmlformats.org/officeDocument/2006/relationships/notesSlide" Target="/ppt/notesSlides/notesSlide4.xml" Id="R3b030d05a77a4b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bc0789cbf4288" /><Relationship Type="http://schemas.openxmlformats.org/officeDocument/2006/relationships/image" Target="/ppt/media/image2.png" Id="R967c991a334f4130" /><Relationship Type="http://schemas.openxmlformats.org/officeDocument/2006/relationships/notesSlide" Target="/ppt/notesSlides/notesSlide5.xml" Id="R4ffdc32565ac47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41e8fbfb54eff" /><Relationship Type="http://schemas.openxmlformats.org/officeDocument/2006/relationships/image" Target="/ppt/media/image3.png" Id="R86a99974fdd94374" /><Relationship Type="http://schemas.openxmlformats.org/officeDocument/2006/relationships/notesSlide" Target="/ppt/notesSlides/notesSlide6.xml" Id="R7161709f0c8846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bf715ee814119" /><Relationship Type="http://schemas.openxmlformats.org/officeDocument/2006/relationships/notesSlide" Target="/ppt/notesSlides/notesSlide7.xml" Id="R3c2bb3c59e2e42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93c23cbe24424" /><Relationship Type="http://schemas.openxmlformats.org/officeDocument/2006/relationships/notesSlide" Target="/ppt/notesSlides/notesSlide8.xml" Id="R8eb339c7d24542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27df8a80b4f05" /><Relationship Type="http://schemas.openxmlformats.org/officeDocument/2006/relationships/notesSlide" Target="/ppt/notesSlides/notesSlide9.xml" Id="R29a8277b0a2d4a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2f8003e674fa2" /><Relationship Type="http://schemas.openxmlformats.org/officeDocument/2006/relationships/image" Target="/ppt/media/image4.png" Id="Rab19ff1be4c843f6" /><Relationship Type="http://schemas.openxmlformats.org/officeDocument/2006/relationships/notesSlide" Target="/ppt/notesSlides/notesSlide10.xml" Id="R292370e1ac844a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00715cbe64547" /><Relationship Type="http://schemas.openxmlformats.org/officeDocument/2006/relationships/image" Target="/ppt/media/image5.png" Id="Rb0a6dd02b60b4ffe" /><Relationship Type="http://schemas.openxmlformats.org/officeDocument/2006/relationships/notesSlide" Target="/ppt/notesSlides/notesSlide11.xml" Id="R01a45d9768a042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9a8992aaf4c42" /><Relationship Type="http://schemas.openxmlformats.org/officeDocument/2006/relationships/notesSlide" Target="/ppt/notesSlides/notesSlide12.xml" Id="R61f08adcc27b4d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5f1446f014847" /><Relationship Type="http://schemas.openxmlformats.org/officeDocument/2006/relationships/notesSlide" Target="/ppt/notesSlides/notesSlide13.xml" Id="R571367f8da40427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84ec161f54f18" /><Relationship Type="http://schemas.openxmlformats.org/officeDocument/2006/relationships/image" Target="/ppt/media/image6.png" Id="R8a532dc681a84a55" /><Relationship Type="http://schemas.openxmlformats.org/officeDocument/2006/relationships/image" Target="/ppt/media/image7.png" Id="R5b4fe3794e604bd7" /><Relationship Type="http://schemas.openxmlformats.org/officeDocument/2006/relationships/notesSlide" Target="/ppt/notesSlides/notesSlide14.xml" Id="R04badc6745334d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25eea2f1e410e" /><Relationship Type="http://schemas.openxmlformats.org/officeDocument/2006/relationships/notesSlide" Target="/ppt/notesSlides/notesSlide15.xml" Id="Rd54e4a1210c14ae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3e6181ca3481a" /><Relationship Type="http://schemas.openxmlformats.org/officeDocument/2006/relationships/notesSlide" Target="/ppt/notesSlides/notesSlide16.xml" Id="Ra8946e980d9e460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c68278f2d4320" /><Relationship Type="http://schemas.openxmlformats.org/officeDocument/2006/relationships/notesSlide" Target="/ppt/notesSlides/notesSlide17.xml" Id="R1d38327191f041c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de12d409d4a23" /><Relationship Type="http://schemas.openxmlformats.org/officeDocument/2006/relationships/notesSlide" Target="/ppt/notesSlides/notesSlide18.xml" Id="R9776021ec67e4c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894E7-7DAD-471D-9CF5-9A892ABD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AF4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35C22-FEAE-4BEA-BF33-DBFF2E1D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507b686914066"/>
          <a:stretch xmlns:a="http://schemas.openxmlformats.org/drawingml/2006/main"/>
        </p:blipFill>
        <p:spPr>
          <a:xfrm xmlns:a="http://schemas.openxmlformats.org/drawingml/2006/main">
            <a:off x="7905750" y="904875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35C30-792E-4B4D-AABD-B3165A36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ПРОЕКТНА ПРЕЗЕНТАЦИЈА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66DFD-A55A-46FE-95F8-DA380945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5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AEGIS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CFE35-4D07-4D61-9228-BEAF32E6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Агентно базирано етичко хакирање со LLM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544715-C466-4CB5-BEB0-04F0A180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Локална Purple-Team платформа за проценка, верификација и ретестирање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F26B3-C41B-4465-93A4-F8CEAE49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0A78D-5648-4590-B13E-0CB0078B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лабораторија  •  Nmap  •  Ollama  •  Policy &amp; Ethical Guards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3D737-3E44-445E-96B9-306CDAA7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Изработила: Марија Ѓорѓиева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F88F9-A63F-4A3E-AC39-45C0DE24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848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4602295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64C7A6-D923-42F4-9703-4AA73291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01  •  ВОВЕД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969A4-37BE-45A0-BE46-E8670058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Зошто AEGIS?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0F7DB-D678-4447-83B7-9FDAA9D7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LLM може да помогне во анализа, но без контрола може да донесе погрешна или ризична одлука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E01D3-539E-43FB-9F03-A44E7389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4AED7-741F-4A0F-8734-E4764780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980DE-48AF-449E-940C-CCF76A13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94F53-8659-458D-9477-EECCC71F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2A623-A19A-45BA-8D28-349C71E5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F7009-385F-4692-8C6A-CE1AE987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Проблем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CA823-4833-475F-AF17-52A40264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Обично скенирање покажува дека портата е отворена. Тоа само по себе не докажува ранливост и не кажува дали проблемот е поправен.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DBD146-DE93-4BF4-BE4C-11FC6245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59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E65583-37E0-428D-8C82-D16CE927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59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502369-AFE0-400F-A65F-26CF7C08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38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307EFC-9775-49F5-B161-211B4F13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0030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AEGIS комбинира Nmap, детерминистички верификатор, повеќе локални LLM улоги и policy проверки во еден повторлив процес.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F2500-A36A-431C-9775-F6B642E8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A3813B-D012-4793-861E-F64BC104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6F18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73803C-71D8-48D3-8CE2-8EF77012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38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Цел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17D0E1-7C0A-4A5B-A660-5DD676E5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Да добиеме проверлив резултат: OPEN, FIXED или NO_FINDING, придружен со извештај и audit trail.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690301-A60A-4DB7-8B3F-B89E3CD8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Клучен принцип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DA1060-9D72-4237-9B8F-D95DBA86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LLM објаснува и сумира. Верификаторот одлучува дали наодот навистина постои.</a:t>
            </a:r>
          </a:p>
        </p:txBody>
      </p:sp>
    </p:spTree>
    <p:extLst>
      <p:ext uri="{BB962C8B-B14F-4D97-AF65-F5344CB8AC3E}">
        <p14:creationId xmlns:p14="http://schemas.microsoft.com/office/powerpoint/2010/main" val="8297961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F0BB2D-40CD-4141-A89E-C5AEB8E8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02  •  МЕТОДОЛОГИЈА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B4AC0-E387-4065-AF70-8B9FAD86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Red, Blue и Purple улогите во AEGIS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EE4CB-12D6-42A6-A0C2-6029E446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Куќата е локалниот компјутер и Docker лабораторијата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D4BF3-139E-4E2C-9CFC-703F5835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13745-8DF2-430E-ABB8-3D47A168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474C4-AA3C-4214-A857-FF3C18E8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E23081-C4BE-4484-9520-234A9835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6B2F1-56C9-4D95-89C5-7736DF90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76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КУЌАТА = локален компјутер + Docker lab     |     ВРАТИ = порти 6380 / 8082     |     КАТАНЕЦ = authentication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CB036-506F-49CA-AC4B-6A5AEA67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E9BA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12A65-7EC9-42B5-A7CD-9B16BF3D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RED TEAM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5FC411-771A-4BF9-B174-A7708DEC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765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ПРОБЛЕМ / ПРОВЕРКА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73E4BF-8AEE-46B8-A6AF-BE821819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Проверува дали вратата е отклучена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043C7-06CD-49F3-A9DC-B84E5F06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ги наоѓа портите.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 / HTTP verifier потврдува.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Metasploit catalog само прегледува.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6C1D9C-93A4-4D5F-87AD-DBB43400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574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10707-2DDC-4D37-8051-99339438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BLUE TEAM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FC30B9-AF2A-47AD-BF9D-3A8BB4B1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765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РЕШЕНИЕ / ЗАШТИТА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B3AB61-199C-4004-A9FC-F5A1ECD4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29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Го ограничува и го поправа проблемот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1ED187-46D4-407C-BD18-EB437C01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957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Policy + Ethical Scope Guard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Prompt / Transfer Guard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 закрпа + Retest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CDBA25-8E55-4F1A-9E69-3D990CD8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D216B0-88FC-4A38-8723-A5EA32A3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PURPLE TEAM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DC52E1-681D-4344-8CD9-E4174AEA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7657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КРАЈНА ЦЕЛ / ПОВРАТНА ВРСКА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0D6AF8-3F4D-47A0-ACD3-AAA5ABA9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800" b="1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OPEN → PATCH → FIXED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86AEF6-9E97-46D8-80B9-282EF9EA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957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Истата проверка се повторува после поправката и остава audit trail.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E0DE27-E6A5-4BCA-B7FB-39C47526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007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AEGIS = инспектор кој проверува само сопствена куќа, запишува доказ и не ја обива вратата автоматски.</a:t>
            </a:r>
          </a:p>
        </p:txBody>
      </p:sp>
    </p:spTree>
    <p:extLst>
      <p:ext uri="{BB962C8B-B14F-4D97-AF65-F5344CB8AC3E}">
        <p14:creationId xmlns:p14="http://schemas.microsoft.com/office/powerpoint/2010/main" val="21397457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D6F66F-4C17-44A5-B198-F821B24F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03  •  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164D5-E0D9-4A07-8AB2-FED7E9E9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Како е составен системот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142DB-6734-45ED-860B-BF13DBB8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Кориснички интерфејс, оркестратор, алатки, модели и докази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BE7C9-26B3-41E5-8474-167089D5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D1B42-27F7-45B7-ABA4-2770BCEB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4E6CA-1FA6-472C-AF52-3A67A001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5E5B9-BBFE-4B81-87B4-03E525D3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476500" cy="3905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0A6FF-86F0-4CDD-B67F-095FC5F3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КОРИСНИК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ECF3E-23F4-4BF2-91B6-82E67BC1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AEGIS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6E6AF-9CB3-47A4-BE05-D612BF63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71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Target registry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Mission controls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Prompt console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Reports &amp; audit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169A2-C12E-4D31-B989-44E539A3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http://127.0.0.1:8000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4618D1-B428-48D0-867D-0AD4DB61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478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A6F4B1-7006-41F8-A2BF-07C4D827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9621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FastAPI оркестратор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B1A5D8-0A7D-46EB-A9D1-A6E576AC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25742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Policy gate • scope gate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route /run-assessment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6B34B7-3FDD-4264-BACD-DEA70AAE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3850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BF60F3-FF04-4982-BA10-A7118630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35280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Tool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1437A7-2C97-4560-A698-C18E0A01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64807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• HTTP verifier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 verifier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B6CF39-1148-4D72-A835-05C754D6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291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D61C4D-91AD-4F53-B1ED-BA757C73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7434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Evidence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858A00-FCE6-44F4-9CD8-ECB7ACEA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03872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Reports • audit JSONL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OPEN / FIXED / NO_FINDING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16CAF4-C03C-4071-BC1F-266BF323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478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DBD5A2-FDD7-4847-821F-CC0BFA5E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621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Docker labs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498116-72C3-432A-91C7-012B4A61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57425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web-lab :8082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redis-lab :6380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025575-AE6C-4E9B-A063-8E303A1C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536BBD-E3EF-4D36-A553-5AD7129B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Ollama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E5FE1B-16DC-457F-9ED7-E9F1A5A4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48075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llama3.2:1b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llama3.2:3b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6897BC-6B8A-449F-9E29-F85E0099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291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E26957-4F44-4AEF-8265-EC6555ED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434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Metasploit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32A727-C45C-415B-A71A-1CF59B7E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38725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Каталог само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execution disabled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96B2AC-1439-42C1-A67F-7002F1E7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4315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C9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DF821B-DDE5-4065-97C7-830B9107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43150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C9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C099D8-D781-4D84-925C-F81BB3D4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5285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B566D7-8CEC-4651-A4ED-03207DB3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52850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5E2358-B90A-48F6-8C0D-A4A16744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4350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F18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9D3B07-D8A6-40FE-88A5-F3124FD4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143500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5A5E36-8E01-43A9-BFB6-88DA3040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Секој чекор се запишува како evidence: кој агент работел, што видел и зошто донел одлука.</a:t>
            </a:r>
          </a:p>
        </p:txBody>
      </p:sp>
    </p:spTree>
    <p:extLst>
      <p:ext uri="{BB962C8B-B14F-4D97-AF65-F5344CB8AC3E}">
        <p14:creationId xmlns:p14="http://schemas.microsoft.com/office/powerpoint/2010/main" val="2211559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F55F7F-8AF6-463F-9AEC-F6DA88A9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04  •  ПОДГОТОВКА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0C0F0-56BE-437F-AD2F-29A869BE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Discover и Approve пред скенирање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D08BC-4B92-4557-9130-3A5186CD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Корисникот прво ги открива локалните Docker лаборатории, па рачно одобрува една мета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1CD9D-25BA-4A67-A89A-39BE606F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D6ECA-D5AC-48E5-8BCE-7B85DBF9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57297-2695-45AD-92F7-0D8FE85A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c991a334f4130"/>
          <a:stretch xmlns:a="http://schemas.openxmlformats.org/drawingml/2006/main"/>
        </p:blipFill>
        <p:spPr>
          <a:xfrm xmlns:a="http://schemas.openxmlformats.org/drawingml/2006/main">
            <a:off x="1896345" y="1828800"/>
            <a:ext cx="199851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FE1ED-52E9-48E5-BD45-FB30AEA0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28800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F4E929-F1F5-414F-B15A-1CA159DF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  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C7DDD-9B73-4DF5-BD7B-9796C5E1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241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Docker labels → PENDING local labs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2ADC6-1EE5-49C1-8E30-0FACD559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289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AEGIS ги чита само контејнерите со aegis.lab=true и loopback binding.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A44B5-3500-4C45-9EBF-33C161E3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446DD0-2BC0-445C-AD19-436064D7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5334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CE49FE-B0D1-470D-9ADE-EDAC0D5C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14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2  APPROVE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671AB0-7E5E-44C6-8833-AC9AB939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38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Human-in-the-loop одлука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07F55-E9E6-48B7-8A8D-951E6231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433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Корисникот избира target од dropdown и клика Approve.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EDA278-1725-4CDE-AC99-A896177D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100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788048-EEDF-4194-9C15-72DDD83F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91050"/>
            <a:ext cx="5334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BBAFE7-B505-4598-B840-CF8BF32A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62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3  ETHICAL 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72933F-438D-4A01-A99B-37AE80F2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863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APPROVED само ако е 127.0.0.1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5EF806-C01B-4FCE-8989-F90BB5B8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3911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Без approval или надвор од loopback: status BLOCKED и tools_called = [].</a:t>
            </a:r>
          </a:p>
        </p:txBody>
      </p:sp>
    </p:spTree>
    <p:extLst>
      <p:ext uri="{BB962C8B-B14F-4D97-AF65-F5344CB8AC3E}">
        <p14:creationId xmlns:p14="http://schemas.microsoft.com/office/powerpoint/2010/main" val="14375404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02F5EF-D751-4B9B-8ADE-62CAFA8C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05  •  ИЗБОР НА ЛАБОРАТОРИЈА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EBF45-7E41-4C34-8D03-C5EAC92C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Web или Redis: што значи секоја мета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085A2-128A-4B47-A4CF-CA85F9B3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Истиот интерфејс води кон различен verifier и различен очекуван исход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2FD8C-23F7-4362-8000-700EFCDB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82912-1584-4A04-9B61-E918A1BA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43C7F-D0CB-4F96-8C0A-EF1436EF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99974fdd94374"/>
          <a:stretch xmlns:a="http://schemas.openxmlformats.org/drawingml/2006/main"/>
        </p:blipFill>
        <p:spPr>
          <a:xfrm xmlns:a="http://schemas.openxmlformats.org/drawingml/2006/main">
            <a:off x="514350" y="2266755"/>
            <a:ext cx="4476750" cy="2438790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A9C66-3CB5-4ADC-AC27-B1D96536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47850"/>
            <a:ext cx="5619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6F303-494F-4585-B73A-226C00BD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47850"/>
            <a:ext cx="5715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04541-5AF6-48A2-A710-F07A5E0C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00250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web-lab  •  127.0.0.1:8082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84AA7-8113-402C-98FF-2A8A800E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62200"/>
            <a:ext cx="527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FastAPI / Uvicorn сервис. AEGIS проверува дали сервисот одговара и очекува NO_FINDING кога нема потврден наод.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5CB70-DAFD-44FC-B6B2-52D8B1F9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29000"/>
            <a:ext cx="5619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754E8D-F972-4E2A-A04F-54135956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29000"/>
            <a:ext cx="5715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2C4D62-1115-4C5F-AA24-FABE1643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81400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redis-lab  •  127.0.0.1:6380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450D0-A47F-472B-968E-D9A5B7D3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943350"/>
            <a:ext cx="527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 база за демонстрација на CWE-306. Без лозинка дава OPEN, со --requirepass и retest дава FIXED.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E0B8E9-A75D-4C0A-848A-D2C7D079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10610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FFF424-3DF5-4FE7-B0DA-413C8FB2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02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МОЖНИ СОСТОЈБИ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59DC5C-2AB4-46CB-9277-724E8644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NOT APPROVED → BLOCKED   |   APPROVED + web → NO_FINDING   |   Redis без auth → OPEN   |   Redis по patch → FIXED</a:t>
            </a:r>
          </a:p>
        </p:txBody>
      </p:sp>
    </p:spTree>
    <p:extLst>
      <p:ext uri="{BB962C8B-B14F-4D97-AF65-F5344CB8AC3E}">
        <p14:creationId xmlns:p14="http://schemas.microsoft.com/office/powerpoint/2010/main" val="5368988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D5361B-F3BA-4EC2-9FF8-1E6D82BD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06  •  LLM ОРКЕСТРАЦИЈА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7F43B-637F-4FFC-9CCE-DFD861F9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Кој модел за која задача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07E1B-82C7-45EC-A2AE-83B20AEE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Моделите не се случајно менувани: секој има јасна улога во pipeline-от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A1E60-6CA6-4577-B4CB-89C700E9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FF5B5-F54C-4E6D-BC8D-997F684E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30AFB-8D73-44EB-8C68-DBBBCD86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D414E-837B-4A80-8C95-832FB6A8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6C646-CC79-4062-809F-1AA801F8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llama3.2:1b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BCCD7C-C88E-4755-BE2B-8F9172DD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62225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triage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Брзо читање на structured scan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Класификација: web / database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0F634-0F65-448A-ABB9-B8C31833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5265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91F32A-6CDF-4ED1-95BE-0BA884E1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669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llama3.2:3b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5EE9A-B970-4593-B645-5816FADC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62225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Semantic Prompt Guard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Проверува injection и override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Fail-closed одлука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010F19-7610-4B06-86C0-907E9291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5265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4E6521-BC05-48E2-BB97-7A03E2CC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llama3.2:3b или 1b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9457F8-C102-46EB-94EE-4702DD89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62225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Final analysis / recommendations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Може да се смени од UI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Секогаш после verifier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16929-77A7-442E-9CBE-5BE86CB1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Nmap XML / 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BBAF29-05E9-4530-A638-3C3F5F4F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291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Prompt input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5048D-8951-4BD1-890B-183C2DA0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291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Verified finding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434FE-4A11-427E-8983-CF054040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17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8E917D-AA9D-487F-B974-DC1AD970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7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2E89E6-6A5D-4B29-A7E2-2727FC66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9F3B02-C510-4BC4-BA2B-33C5B536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Опционално: OpenRouter може да се активира само со сопствен API key. Во основната демонстрација сите модели се локални преку Ollama.</a:t>
            </a:r>
          </a:p>
        </p:txBody>
      </p:sp>
    </p:spTree>
    <p:extLst>
      <p:ext uri="{BB962C8B-B14F-4D97-AF65-F5344CB8AC3E}">
        <p14:creationId xmlns:p14="http://schemas.microsoft.com/office/powerpoint/2010/main" val="8114727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5F27105-78C8-46A8-9C39-F82A72F3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07  • 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4488F-C8F3-49B9-8434-57FC4179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Од Docker target до проверен извештај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7FE174-792E-4D36-B44E-CC68EBA4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Целиот pipeline во редоследот што го извршува апликацијата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1B940-0EF8-4D58-B721-90035243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94501-F1E6-41B0-94A5-F71C64A6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5FCC8-3FA8-45E5-92AB-CB3BE7C1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F2242-2293-444C-9CFD-CC05FCCC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31B4C-3822-412A-9CAA-132A8F33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76886-EE33-4BD8-97F1-BFF07CA7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0A43C4-9AB3-4309-AACB-2AD31E73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labels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B0A60-323A-45D3-9F24-1662D3B7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FA31A2-E2CA-44C7-BB06-B062E9BC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15F248-FBDA-4EC8-91BA-5DDB87FB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991470-102B-4C81-9F80-6F765B04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C6549-50AA-4FFE-8AAF-1B842FC6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loopback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8B22BE-90E6-48C5-AFE6-29CF4E64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531F3E-AE89-464E-B50D-A36493FD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C24C4B-3D93-4638-BBE7-D3A93209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431F36-4DAE-41E5-821F-7122A7FC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364CB2-E71D-4EA2-8A6A-E175F9F2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scope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630FD6-9D38-4316-B128-D483F104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9495A4-72D8-4A99-8098-568A0CF5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6B3553-5212-46EE-B993-D21D4ECE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F36B91-9193-44FB-AFAB-0D222F98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Nmap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7C1C32-FA36-424C-A759-BC12E829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real tool call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CB6FBE-1116-4F78-A1B8-9391F650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2BB9F6-858B-4B64-9733-1B89BD38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5141E8-31D6-452F-AD7D-2252AF95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92D916-AB16-4CE9-BFC8-3E81D2A5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Triage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73F5D6-615C-45B4-85C5-C4257668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local LLM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CADBB7-9DDC-45AF-8280-4E1612C5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5A473A-988A-485D-8268-F7E45DC1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82E137-E7BC-40EA-9511-54272851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A46F18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A46F18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504882-5BCB-45C6-AC14-0957B00B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208D54-0BDB-4775-84CF-3AB22EF2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socket / HTTP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5B829B-30CB-4090-857B-20260E87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9957E9-BAFC-4D04-93BF-6DBBA4A6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2E7BCD-F7F2-4C2B-AAE1-83FFEEF5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A46F18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A46F18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B526B1-81AA-49B6-971F-FCC96477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4048F6-EC62-4F1A-B696-CA02ACF3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OPEN evidence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DAE47E-88C7-493C-BFF7-CD3DFE62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2E4166-11B9-4142-A244-BCC95033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C85496-53D7-4313-83F8-11430A44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CE4547-D672-4DD9-90AF-5CB97825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Catalog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3D5976-487A-4C5F-8579-C6C585AD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msfconsole review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B2372B-4B4C-43A5-ACAE-9DB52A7E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33D957-40F9-49DD-A5FD-75CD0D43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09F71A-1C8A-4B1A-8B34-1130E642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BA38C79-5486-47CA-B478-A65FD5A7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Retest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23F38A-2003-4E9A-8D9D-BC4FC4A2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FIXED after patch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A535AF6-D1EC-4DD2-8BA0-BD56BCDD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382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77C086-9A87-46E7-8D3E-C349D6EE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Позитивен пример  •  redis-lab:6380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9E76E9C-DBEB-4ECB-8D30-600CD177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Nmap детектира open 6380, но Redis verifier преку PING детерминистички произведува CWE-306 (OPEN). LLM не измислува наод.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ADF0B34-FB41-4B4F-B5C2-D1C1BAAF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382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BE111D-D739-4B02-ACD9-5EAFFD25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Затворање на циклусот  •  Retest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5152C42-184B-4C71-AF3C-698308C9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По --requirepass во docker-compose.yml, Retest повторува socket тест, добива -NOAUTH и ја менува состојбата од OPEN во FIXED.</a:t>
            </a:r>
          </a:p>
        </p:txBody>
      </p:sp>
    </p:spTree>
    <p:extLst>
      <p:ext uri="{BB962C8B-B14F-4D97-AF65-F5344CB8AC3E}">
        <p14:creationId xmlns:p14="http://schemas.microsoft.com/office/powerpoint/2010/main" val="10534472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9B02F5-FA25-4B29-95E6-EB85F0C2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08  •  ЛАБОРАТОРИСКА ОКОЛИНА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9E317-8A81-481E-B983-03F9229D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Изолација и потребни ресурси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93EE4-2887-4AE6-94D1-88407542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Сè работи локално, на loopback адреси, во Docker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19C7E-8939-438F-9F8F-6B3A2FF2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308A4-9448-440A-B729-E74B3D69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3002F-DA76-4C19-943B-C947FDEC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3EAF5-7F17-4B86-9147-13FC73AE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E3E15-0E18-493C-A851-E5FC5BA6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6C1D3-B71B-452B-B427-D600673A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Хардвер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12CD6-8E5F-45EF-AA0C-9528DEB1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Windows 11 машина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Минимум 8 GB RAM за удобно работење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Слободен простор за Docker images и модели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C88C3D-6DB3-4381-97D3-354C5AA8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669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9782B-9687-4FEB-ADA2-F9F7846F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6690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C9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4AE5E7-E038-4BD3-848A-5B91300D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19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Софтвер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9F015-F4A4-4022-9A4A-055150A4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812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Desktop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Python + FastAPI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CLI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Ollama + llama3.2:1b / 3b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Metasploit Framework (msfconsole)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D40EC-CF73-4BF2-9FD2-A0A56EB9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4095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59F5AB-3157-45A2-9B32-D1742F9F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5BCCF9-8CB0-4BD7-8418-82526894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1930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Изолација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26566E-94CE-4719-A09C-32BF052B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3752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ports се врзани само на 127.0.0.1. Data Exfiltration Guard / TransferGuardian спречува испраќање извештаи кон надворешен домен. Нема автоматски payload.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9CDE9D-A3A3-48E2-8AD3-C6751C88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6191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22B45"/>
          </a:solidFill>
          <a:ln xmlns:a="http://schemas.openxmlformats.org/drawingml/2006/main" w="9525">
            <a:solidFill>
              <a:srgbClr val="36516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1AAC6E-7B56-4F86-B47E-011FA2DC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5848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web-lab    127.0.0.1:8082 → 8081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redis-lab  127.0.0.1:6380 → 6379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Target Registry Guard = Docker label + explicit human approval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D898B5-833B-41E0-8D0F-D137E17B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C7476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C74762"/>
                </a:solidFill>
                <a:latin typeface="Arial"/>
                <a:ea typeface="Arial"/>
                <a:cs typeface="Arial"/>
              </a:rPr>
              <a:t>Безбедносно предупредување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9173CF-296C-413A-8084-858C6DF7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Операциите се наменети само за сопствената лабораторија. Не додавај надворешен target без експлицитна дозвола и одделена, изолирана средина.</a:t>
            </a:r>
          </a:p>
        </p:txBody>
      </p:sp>
    </p:spTree>
    <p:extLst>
      <p:ext uri="{BB962C8B-B14F-4D97-AF65-F5344CB8AC3E}">
        <p14:creationId xmlns:p14="http://schemas.microsoft.com/office/powerpoint/2010/main" val="5111183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481DD8-73C7-4304-85DA-71A50665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09  •  СЦЕНАРИО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F77AD-ED13-4F93-9C8D-7CF71E7F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Redis наод: OPEN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6D0B6-9787-45AF-A254-EEE107CB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Отворена порта не е доволна. Наодот се потврдува со директен, не-деструктивен probe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AD669-2102-4DC0-90BB-D5E01722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C44CA-0DB9-42F0-A1AD-E837D0AF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978FD-7CC8-41BB-8697-61F79D44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19ff1be4c843f6"/>
          <a:stretch xmlns:a="http://schemas.openxmlformats.org/drawingml/2006/main"/>
        </p:blipFill>
        <p:spPr>
          <a:xfrm xmlns:a="http://schemas.openxmlformats.org/drawingml/2006/main">
            <a:off x="514350" y="2224889"/>
            <a:ext cx="4857750" cy="2646347"/>
          </a:xfrm>
          <a:prstGeom xmlns:a="http://schemas.openxmlformats.org/drawingml/2006/main" prst="roundRect">
            <a:avLst>
              <a:gd name="adj" fmla="val 32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F31D80-6949-4164-AA89-47A552A3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47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Редослед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CAF3E-E705-40B5-A96A-9FAC449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28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E21D2F-A67E-4514-8189-CFF58D73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Nmap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BE413-7E8B-4294-BF0C-793217F9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95550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6380/tcp е open на 127.0.0.1.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14FFE-431D-4149-9B45-D67D2781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839AC-C534-401A-8DC5-1EDB3413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9085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Redis verifier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CB768D-8968-456F-B566-364CAF43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Испраќа PING преку socket.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C5D6F2-6D4B-4888-BA9F-C2CB293A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90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B298AF-5E73-41F2-8781-60E0B98C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7190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Доказ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2DBB74-9DB4-4B7A-B26C-0D5684A1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57650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+PONG без лозинка → CWE-306.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41E2EC-5920-4C8C-8E46-826D4EAC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91050"/>
            <a:ext cx="4762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22B45"/>
          </a:solidFill>
          <a:ln xmlns:a="http://schemas.openxmlformats.org/drawingml/2006/main" w="9525">
            <a:solidFill>
              <a:srgbClr val="36516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BB6518-EB8C-4691-AEED-107D4B65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24400"/>
            <a:ext cx="4419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verification.status = "open"</a:t>
            </a:r>
          </a:p>
          <a:p xmlns:a="http://schemas.openxmlformats.org/drawingml/2006/main">
            <a:pPr>
              <a:def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finding = "CWE-306"</a:t>
            </a:r>
          </a:p>
          <a:p xmlns:a="http://schemas.openxmlformats.org/drawingml/2006/main">
            <a:pPr>
              <a:def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severity = "high"</a:t>
            </a:r>
          </a:p>
        </p:txBody>
      </p:sp>
    </p:spTree>
    <p:extLst>
      <p:ext uri="{BB962C8B-B14F-4D97-AF65-F5344CB8AC3E}">
        <p14:creationId xmlns:p14="http://schemas.microsoft.com/office/powerpoint/2010/main" val="2950879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E7AB48-33D5-408A-BC4E-CE9F596F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10  •  СЦЕНАРИО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7148A-923D-48E2-9FEF-EF1E605C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Закрпа и retest: FIXED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04148-D8F2-49C4-B3C4-88EBF9F1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Истата проверка потврдува дека authentication сега е задолжителна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0AB87-138D-4355-A449-0B613E03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5B596-D3FE-49E6-AE19-F87C3762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ACA55-C3CF-4A3E-B716-E34D18F6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6dd02b60b4ffe"/>
          <a:stretch xmlns:a="http://schemas.openxmlformats.org/drawingml/2006/main"/>
        </p:blipFill>
        <p:spPr>
          <a:xfrm xmlns:a="http://schemas.openxmlformats.org/drawingml/2006/main">
            <a:off x="1202752" y="1809750"/>
            <a:ext cx="3576196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ACD6F-3763-46B5-AC39-3C9B197A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43100"/>
            <a:ext cx="5048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7F1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B8C6A9-613A-4A3E-A585-BF7B7017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PATCH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86084-8F46-49F0-A4D2-0EE69FBA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redis-server --requirepass 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A782D1-7396-488F-9A55-8F813691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5048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BEAEE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FE9D91-8E2B-49B8-9D7D-2081F1B6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RETEST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07051-F62C-4EC9-AC99-A725F5CC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6715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-NOAUTH → finding no longer verified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32DC5-3356-4C4F-BC44-F65DB490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196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Статусот FIXED доаѓа од новиот verifier резултат и од споредбата со претходниот OPEN report. Nmap сè уште може да гледа open port, затоа што достапноста не значи и неавтентициран пристап.</a:t>
            </a:r>
          </a:p>
        </p:txBody>
      </p:sp>
    </p:spTree>
    <p:extLst>
      <p:ext uri="{BB962C8B-B14F-4D97-AF65-F5344CB8AC3E}">
        <p14:creationId xmlns:p14="http://schemas.microsoft.com/office/powerpoint/2010/main" val="10074489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880762-D238-40B9-ADD4-6D0C45FB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11  •  СЦЕНАРИО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EC6CE-29C0-434E-8795-DC315F87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Web сервис: NO_FINDING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10330-6068-4362-84EC-E433D713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Сервисот е достапен, но проценката нема доказ за ранливост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C0E89-6A40-4D99-92AE-917CAC9D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1ADF8-5C2A-4F2C-A1A7-B74DB7C1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A2025-FE50-4539-94EC-6FE58277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BCA51-BC5C-4CA3-8BBF-39EC98C1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47625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7C52D-283C-4220-8A3C-F0A24BC2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2025" b="1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127.0.0.1:8082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49042-37EA-40F5-A1C3-2CE40467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Uvicorn / FastAPI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860C8-034E-4B7C-943F-CFAFA453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76047-CA4A-404C-BA6F-401B903C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3810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Nmap: open</a:t>
            </a:r>
          </a:p>
          <a:p xmlns:a="http://schemas.openxmlformats.org/drawingml/2006/main">
            <a:pPr>
              <a:def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HTTP verifier: verified</a:t>
            </a:r>
          </a:p>
          <a:p xmlns:a="http://schemas.openxmlformats.org/drawingml/2006/main">
            <a:pPr>
              <a:def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Finding: null</a:t>
            </a:r>
          </a:p>
          <a:p xmlns:a="http://schemas.openxmlformats.org/drawingml/2006/main">
            <a:pPr>
              <a:def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Assessment: NO_FINDING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76609-6DD4-41CC-81BD-CF41D2F4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43100"/>
            <a:ext cx="4857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4B3BD-39B0-4204-A1C4-85443F74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43100"/>
            <a:ext cx="5715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6F18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B1D310-9C12-4716-B5C8-5C496E5C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Што значи NO_FINDING?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879ACF-001F-4D31-A60F-D608A974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4514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Системот потврдил дека сервисот одговара, но не потврдил конкретна ранливост. Овој резултат е различен од FIXED.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2882BB-D229-40D1-810F-63C38D7F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24250"/>
            <a:ext cx="4857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A21A9-185E-4A79-B180-C3ED7DCD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24250"/>
            <a:ext cx="5715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E46D67-E2F6-45A2-8463-F6921588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7665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Зошто LLM не одлучува?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CB9F31-4888-481B-9C05-26E640A4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4514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LLM triage моделот само го класифицира набљудувањето и предлага следен безбеден чекор. HTTP verifier ја одредува состојбата.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48FC17-1426-4219-9948-C74837E1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Извештајот останува корисен: покажува што е измерено и што не е докажано.</a:t>
            </a:r>
          </a:p>
        </p:txBody>
      </p:sp>
    </p:spTree>
    <p:extLst>
      <p:ext uri="{BB962C8B-B14F-4D97-AF65-F5344CB8AC3E}">
        <p14:creationId xmlns:p14="http://schemas.microsoft.com/office/powerpoint/2010/main" val="13243038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2ABF64-CE9D-4D88-B48B-586A3A87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12  •  MULTI-MODEL КОНФИГУРАЦИЈА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1AAFF-AA5B-4DFD-8FF1-6A9DB269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Избор на модел од интерфејсот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D0DC4-212A-469E-8874-89B7449C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Моделите имаат одделни улоги, а операторот може да избере друга локална комбинација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53E05-17E0-4E7A-B716-B5BC4E66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E0FA1-C196-4236-A855-0A709662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E190F-4818-4890-A0D4-5B36687E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EF90D-2FFC-44D3-AF73-6D5EAF99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3738A-16A8-4CF7-92D1-F1F5D2B4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llama3.2:1b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939AC-6203-47CD-9465-3E45747B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5747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triage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брза класификација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мал footprint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A946B-0FD6-4EEA-A65A-181E924D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D329E9-8EE4-4942-AE1C-636672E5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62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llama3.2:3b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7429A8-A63F-4513-AE20-43123B32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5747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Semantic Prompt Guard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финална анализа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локално и fail-closed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B74859-27FE-4236-9E6A-D6A92C03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4790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BE4B77-6C0C-4820-B608-BA65E5A9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62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Оpcionално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32E2A7-5DB1-42F2-B794-FC16C303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5747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OpenRouter provider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само со сопствен API key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не е активен по default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C8A94C-347F-45AE-A90C-9178D143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099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C9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2B465-93E8-4F50-AF41-D1594892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099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DBA7E1-8782-4A7C-8185-66249561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Nmap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50D46B-EB62-47A0-B47C-67B57657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0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Guard + recommendations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42FF0D-19DF-407C-BAB5-E9DA9819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Provider swap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239D7E-EDD0-4CFE-BFD9-38788140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747416-3367-4053-9817-E089D76A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Пример од демонстрацијата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85C64B-8E00-4F0F-A47C-F5BA63E4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triage = llama3.2:3b   •   final analysis = llama3.2:1b   •   guard = llama3.2:3b</a:t>
            </a:r>
          </a:p>
        </p:txBody>
      </p:sp>
    </p:spTree>
    <p:extLst>
      <p:ext uri="{BB962C8B-B14F-4D97-AF65-F5344CB8AC3E}">
        <p14:creationId xmlns:p14="http://schemas.microsoft.com/office/powerpoint/2010/main" val="11810773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BDEEEE-C14E-42A3-8288-D0435060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13  •  ЗАШТИТНИ МЕХАНИЗМИ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1DAF6-AD11-4AA1-A77C-0A865097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Ethical guard пред секоја ризична акција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0FCB9-588C-47C6-8FE9-7FBE6BD3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AEGIS блокира prompt injection, непотребна ексфилтрација и target надвор од дозволениот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12C0E-0A3D-4026-BCD5-57FAB65F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8D1FA-E36E-4E8A-B88B-5D94D34C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0E70D-5A2D-4AF0-866D-D52A15DB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532dc681a84a55"/>
          <a:stretch xmlns:a="http://schemas.openxmlformats.org/drawingml/2006/main"/>
        </p:blipFill>
        <p:spPr>
          <a:xfrm xmlns:a="http://schemas.openxmlformats.org/drawingml/2006/main">
            <a:off x="981740" y="1866900"/>
            <a:ext cx="3256221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fe3794e604bd7"/>
          <a:stretch xmlns:a="http://schemas.openxmlformats.org/drawingml/2006/main"/>
        </p:blipFill>
        <p:spPr>
          <a:xfrm xmlns:a="http://schemas.openxmlformats.org/drawingml/2006/main">
            <a:off x="4953000" y="2244686"/>
            <a:ext cx="4191000" cy="2101928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93E47-1E0A-46CD-870C-70A7EEFE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66900"/>
            <a:ext cx="2190750" cy="2857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E9BA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97422-FE26-46E9-B264-645589BE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09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8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BLOCK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68A62-20F2-4320-95FC-99DF6416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1619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tools_called = []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policy.allowed = false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scope.allowed = false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LLM не добива команда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3ED91A-6CC2-48ED-8E89-2C7C3530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ALLOW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FBA908-59D0-4C36-81BD-0B624A3B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Безбедно едукативно прашање стигнува до локалниот LLM и добива одговор.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E3748-D939-4068-948F-A6D2CB3A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BLOCK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FCE5EE-ED16-4BD7-92A6-2E1C4BE8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864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Непознат target или обид за override се блокира пред алатката или моделот.</a:t>
            </a:r>
          </a:p>
        </p:txBody>
      </p:sp>
    </p:spTree>
    <p:extLst>
      <p:ext uri="{BB962C8B-B14F-4D97-AF65-F5344CB8AC3E}">
        <p14:creationId xmlns:p14="http://schemas.microsoft.com/office/powerpoint/2010/main" val="8234041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8FD5EE-0DDF-4176-8D3D-7DA8DCC4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14  •  КОНТРОЛИРАНА ВАЛИДАЦИЈА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1F3DA-125E-4A35-85FF-1FDB49C3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Metasploit каталог без автоматизиран напад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EF0DF-5DAC-46B0-AEA3-9F0A17ED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AEGIS ги наоѓа соодветните модули за преглед, но автоматското извршување е строго исклучено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8F740-B026-4953-9B78-7E872EDC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8AB40-63E7-42AA-9A2D-C8034666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279DB-3D9E-4B50-B3BF-9C47EBAF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2B09F-0783-4711-9F95-EE9FDB24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3333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E9BAC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DE184-E742-45CA-B844-F5194034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1  •  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4A40E-A841-4ED8-B08E-D9DD69E0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Локален каталог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6480B-7A74-4DFD-9F7C-1D34921F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238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Пребарување преку msfconsole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Само auxiliary scanner кандидати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Ограничено на одобрената Docker мета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Нула payload и нула 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43D9C-D1E2-4946-ADC2-E34ADEE4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43100"/>
            <a:ext cx="3333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27955-4A30-4013-B5B0-FA872835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2  •  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A1F78-8D0F-41E1-925B-B2C564A1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AI селекција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B891B-E6AB-45F1-A4F4-6FE7DABC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19450"/>
            <a:ext cx="238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llama3.2:3b споредува verified OPEN finding со листата на дозволени имиња. Моделот предлага match само ако каталогот врати кандидат. Параметрите се прикажуваат за едукативен преглед.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10394B-6637-44E6-9DD9-26A24F8D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33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41427D-BD3C-4EDB-9665-ACE27FC9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28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3  • 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1A1897-28B1-4DEE-8BD9-511C08FD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Човечка одлука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D83846-C7C3-4A04-B782-8F3B4E49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38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execution: disabled е задолжително. Операторот или професорот ги прегледува доказите, а секоја понатамошна офанзивна активност бара посебна, изолирана и одобрена средина.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C8E64D-CDCB-462C-94E5-5B3AC677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71850"/>
            <a:ext cx="466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7476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7476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44A27E-522A-4180-B366-280BBF85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71850"/>
            <a:ext cx="466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E5C9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E5C9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F442BB-B907-4762-A998-0D9CE548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46F1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6F18"/>
                </a:solidFill>
                <a:latin typeface="Arial"/>
                <a:ea typeface="Arial"/>
                <a:cs typeface="Arial"/>
              </a:rPr>
              <a:t>Забелешка за Windows: каталогот е опционален. Ако локалната Ruby компонента е блокирана од Windows Security, статусот е UNAVAILABLE, а останатите делови на AEGIS продолжуваат нормално.</a:t>
            </a:r>
          </a:p>
        </p:txBody>
      </p:sp>
    </p:spTree>
    <p:extLst>
      <p:ext uri="{BB962C8B-B14F-4D97-AF65-F5344CB8AC3E}">
        <p14:creationId xmlns:p14="http://schemas.microsoft.com/office/powerpoint/2010/main" val="943692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BD59F-3E84-4C64-9AA8-740D37A9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15  •  ДОКАЗИ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4FF0C-959B-4B1F-99EF-13410253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Извештај, audit trail и репродуктивност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5BAC8-F29C-4D69-B4F6-FC49AADA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Секој run остава трага што може да се прегледа и спореди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4554C-FF16-425C-924A-C4CA14D3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59AE8-5DD5-4E65-AB5F-E50EF3DE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A34B1-9957-42E7-89FC-80C8F621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06A05-3CDC-4AF5-B96F-42F21FC8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41910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22B45"/>
          </a:solidFill>
          <a:ln xmlns:a="http://schemas.openxmlformats.org/drawingml/2006/main" w="9525">
            <a:solidFill>
              <a:srgbClr val="36516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47E86-9BA4-4683-BB44-ED267575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38481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assessment_state: FIXED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policy.allowed: true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scope.allowed: true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nmap.status: completed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verification.status: fixed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retest.status: FIXED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12E09-C4CA-4497-AB97-6A1CBA4E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43100"/>
            <a:ext cx="5619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1411B-3699-4220-AAFB-7046B9E5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9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Што се запишува?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B4FA7-8C53-4BE2-AFB6-2B3EBE27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24150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target и scope одлука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точната алатка и нејзиниот резултат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моделот што ја направил triage анализата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verified finding и препорака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report ID и retest споредба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21455-50A5-41C5-9091-01D4E343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EA3D3-DAF3-4523-8FA1-049C85D8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48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A46F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46F18"/>
                </a:solidFill>
                <a:latin typeface="Arial"/>
                <a:ea typeface="Arial"/>
                <a:cs typeface="Arial"/>
              </a:rPr>
              <a:t>Audit trail = оперативна трага за демонстрација и debugging. Не го претставуваме како криптографски immutable ledger.</a:t>
            </a:r>
          </a:p>
        </p:txBody>
      </p:sp>
    </p:spTree>
    <p:extLst>
      <p:ext uri="{BB962C8B-B14F-4D97-AF65-F5344CB8AC3E}">
        <p14:creationId xmlns:p14="http://schemas.microsoft.com/office/powerpoint/2010/main" val="9660258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4F5C13-6D71-4A07-B3AD-2555C05A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16  •  ПОКРИЕНОСТ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34EDA-E6BA-4CC9-AC13-8C47D634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Што е имплементирано и кои се границите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8DA52-E5AD-4E0E-B316-22FDF4B1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Транспарентната проценка е дел од етичкиот дизајн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3C64A-F095-4D40-BC88-E0B08921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5A6AA-6FB6-4209-802F-C5D2BF24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1F99E-A2A0-4CD1-B2CB-680796BC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A3814-14FA-4D52-A351-11655609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Барање / способност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0C5B3-C82A-47AA-B678-57A58B66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Статус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B74D7-ED40-4E48-BE65-BFB9832D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21395D-2303-459E-ACA7-3F13CE86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Nmap повик + agent triage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2096D-CD3E-41BB-95B7-8E0E4E39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05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FA14E-DA21-429D-819B-B5DABAD1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EB6CC8-0F47-4550-B52A-FD6CB698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Проверка на ранливост + report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22A18-79EB-44CD-885E-8D5DC840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81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4AE59D-042C-495D-86B4-D074F021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3FD000-EFDA-4BC8-91B8-7B28DB46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Patch → policy/retest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7ECE0-28F1-4895-B869-9CB41A56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57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8C505B-B4F1-4CA6-BEB2-6AC10F3E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000373-A4AD-4C54-BDB1-5E6CEF8C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Повеќе локални модели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293B12-8166-4A98-875C-29B929CE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33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7CC650-F973-482A-8D7E-0B67FD1E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3EC486-7F6C-45CB-85B1-CD19ABAA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Ethical scope и prompt блокирање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7227CF-9A72-4B98-9300-F54D93E4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10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5ED0F7-D17A-41B0-8C74-458E0095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9E1073-1CF9-44FA-8792-BE7E9FBF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Metasploit listing / match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14BAFC-FC74-44CD-B0AD-1BEDB4EF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86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A46F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46F18"/>
                </a:solidFill>
                <a:latin typeface="Arial"/>
                <a:ea typeface="Arial"/>
                <a:cs typeface="Arial"/>
              </a:rPr>
              <a:t>Делумно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26CB39-D23C-40B1-9BCD-8C8C2CC5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C8EFF1-850C-47E0-94F4-C74848C9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Автоматски exploit / ексфилтрација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34BE26-527A-4433-9B32-1B60A4C5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62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C7476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74762"/>
                </a:solidFill>
                <a:latin typeface="Arial"/>
                <a:ea typeface="Arial"/>
                <a:cs typeface="Arial"/>
              </a:rPr>
              <a:t>Исклучено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7C74E0-CC5B-4509-8E65-5B56573E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A669A7-2934-4AE3-AF7A-87EC22BD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OpenRouter cloud модел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93DE54-429B-47DE-A3FA-32DD7134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38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A46F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46F18"/>
                </a:solidFill>
                <a:latin typeface="Arial"/>
                <a:ea typeface="Arial"/>
                <a:cs typeface="Arial"/>
              </a:rPr>
              <a:t>Опционално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4AC366-3F9B-4CAE-8780-047776AA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Оваа листа ја кажува реалната состојба: AEGIS демонстрира безбедна проценка, а не неконтролиран офанзивен автомат.</a:t>
            </a:r>
          </a:p>
        </p:txBody>
      </p:sp>
    </p:spTree>
    <p:extLst>
      <p:ext uri="{BB962C8B-B14F-4D97-AF65-F5344CB8AC3E}">
        <p14:creationId xmlns:p14="http://schemas.microsoft.com/office/powerpoint/2010/main" val="18720328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DE0297-13C3-4F9B-8013-8EA0D125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17  •  ЗАКЛУЧОК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BB328-3677-4F0D-AB30-F52AD3D0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Што демонстрира AEGIS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6F7A7-3EEB-4FE5-A8C2-B280B64C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Безбедна и детерминистичка оркестрација на алатки и модели во локална лабораторија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22560-9703-4777-BB68-026BF6F5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91146-3127-4939-9C1E-33897B79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DA972-E965-44FB-B8BA-EB6BBE28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1B2D3-B21C-4457-BE98-1E4F34C3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9FC86-75DA-4D5F-BE48-D6ADDC33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145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Реален алат, а не симулација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F644A-747E-4B06-815B-AA4A8EA3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955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и Metasploit се повикуваат како системски процеси, а структурираниот резултат се предава на Triage агентот за анализа и контекст.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28986-35DD-4D69-BC10-E935EEB3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684643-125E-435C-9D89-C02D8819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909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Проверлив и точен наод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DED612-A0D1-4588-A39F-0D30FAC7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719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Verifier модулите детерминистички одлучуваат OPEN, FIXED или NO_FINDING. LLM помага за контекст, објаснување и препорака, но не ја прогласува ранливоста.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EA63BC-FB94-4706-AA80-B2EA9A45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924FD-0F2A-4F73-9117-D51F9890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Строги етички и безбедносни граници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12BCDC-BF4C-44DA-9623-3B797FDB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48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Scope, Prompt и Transfer заштитниците спречуваат надворешни мети, измамнички команди и истекување податоци. Офанзивното извршување останува исклучено.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41980A-E6E2-4EB3-9DCE-B764958E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42862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516DBA-E6DE-485D-966B-ACEE20BE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622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Демо редослед за одбрана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4B74E4-C35F-4D46-A51C-35EDD982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52750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1  Discover + approve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2  Run web-lab → NO_FINDING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3  Run redis-lab → OPEN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4  Patch Redis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5  Retest → FIXED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6  Prompt BLOCK + transfer BLOCK</a:t>
            </a:r>
          </a:p>
        </p:txBody>
      </p:sp>
    </p:spTree>
    <p:extLst>
      <p:ext uri="{BB962C8B-B14F-4D97-AF65-F5344CB8AC3E}">
        <p14:creationId xmlns:p14="http://schemas.microsoft.com/office/powerpoint/2010/main" val="10632355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2026-09-22T14:56:43.6760000Z</dcterms:created>
  <dcterms:modified xsi:type="dcterms:W3CDTF">2026-09-22T14:56:43.6760000Z</dcterms:modified>
</coreProperties>
</file>